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7"/>
  </p:notes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Garamond Bold" charset="1" panose="02020804030307010803"/>
      <p:regular r:id="rId13"/>
    </p:embeddedFont>
    <p:embeddedFont>
      <p:font typeface="Arial Bold" charset="1" panose="020B0704020202020204"/>
      <p:regular r:id="rId14"/>
    </p:embeddedFont>
    <p:embeddedFont>
      <p:font typeface="Arial" charset="1" panose="020B0604020202020204"/>
      <p:regular r:id="rId15"/>
    </p:embeddedFont>
    <p:embeddedFont>
      <p:font typeface="Calibri (MS) Bold" charset="1" panose="020F0702030404030204"/>
      <p:regular r:id="rId16"/>
    </p:embeddedFont>
    <p:embeddedFont>
      <p:font typeface="Arimo Bold" charset="1" panose="020B0704020202020204"/>
      <p:regular r:id="rId20"/>
    </p:embeddedFont>
    <p:embeddedFont>
      <p:font typeface="Arimo" charset="1" panose="020B0604020202020204"/>
      <p:regular r:id="rId21"/>
    </p:embeddedFont>
    <p:embeddedFont>
      <p:font typeface="Calibri (MS)" charset="1" panose="020F0502020204030204"/>
      <p:regular r:id="rId22"/>
    </p:embeddedFont>
    <p:embeddedFont>
      <p:font typeface="Intro Pro" charset="1" panose="02000000000000000000"/>
      <p:regular r:id="rId23"/>
    </p:embeddedFont>
    <p:embeddedFont>
      <p:font typeface="Aptos Bold" charset="1" panose="020B0004020202020204"/>
      <p:regular r:id="rId24"/>
    </p:embeddedFont>
    <p:embeddedFont>
      <p:font typeface="Times New Roman Bold" charset="1" panose="02020803070505020304"/>
      <p:regular r:id="rId25"/>
    </p:embeddedFont>
    <p:embeddedFont>
      <p:font typeface="Times New Roman" charset="1" panose="02020603050405020304"/>
      <p:regular r:id="rId27"/>
    </p:embeddedFont>
    <p:embeddedFont>
      <p:font typeface="Aptos" charset="1" panose="020B0004020202020204"/>
      <p:regular r:id="rId29"/>
    </p:embeddedFont>
    <p:embeddedFont>
      <p:font typeface="Canva Sans Bold" charset="1" panose="020B0803030501040103"/>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notesMasters/notesMaster1.xml" Type="http://schemas.openxmlformats.org/officeDocument/2006/relationships/notesMaster"/><Relationship Id="rId18" Target="theme/theme2.xml" Type="http://schemas.openxmlformats.org/officeDocument/2006/relationships/theme"/><Relationship Id="rId19" Target="notesSlides/notesSlide1.xml" Type="http://schemas.openxmlformats.org/officeDocument/2006/relationships/note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notesSlides/notesSlide2.xml" Type="http://schemas.openxmlformats.org/officeDocument/2006/relationships/notesSlide"/><Relationship Id="rId27" Target="fonts/font27.fntdata" Type="http://schemas.openxmlformats.org/officeDocument/2006/relationships/font"/><Relationship Id="rId28" Target="notesSlides/notesSlide3.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notesSlides/notesSlide4.xml" Type="http://schemas.openxmlformats.org/officeDocument/2006/relationships/notesSlide"/><Relationship Id="rId31" Target="notesSlides/notesSlide5.xml" Type="http://schemas.openxmlformats.org/officeDocument/2006/relationships/notesSlide"/><Relationship Id="rId32" Target="fonts/font32.fntdata" Type="http://schemas.openxmlformats.org/officeDocument/2006/relationships/font"/><Relationship Id="rId33" Target="notesSlides/notesSlide6.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5.png" Type="http://schemas.openxmlformats.org/officeDocument/2006/relationships/image"/><Relationship Id="rId6"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png" Type="http://schemas.openxmlformats.org/officeDocument/2006/relationships/image"/><Relationship Id="rId12" Target="../media/image14.png" Type="http://schemas.openxmlformats.org/officeDocument/2006/relationships/image"/><Relationship Id="rId13" Target="../media/image15.png" Type="http://schemas.openxmlformats.org/officeDocument/2006/relationships/image"/><Relationship Id="rId14" Target="../media/image16.png" Type="http://schemas.openxmlformats.org/officeDocument/2006/relationships/image"/><Relationship Id="rId2" Target="../notesSlides/notesSlide2.xml" Type="http://schemas.openxmlformats.org/officeDocument/2006/relationships/notesSlide"/><Relationship Id="rId3" Target="../media/image1.jpeg" Type="http://schemas.openxmlformats.org/officeDocument/2006/relationships/image"/><Relationship Id="rId4" Target="../media/image5.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 Id="rId7" Target="../media/image6.png" Type="http://schemas.openxmlformats.org/officeDocument/2006/relationships/image"/><Relationship Id="rId8" Target="../media/image10.png" Type="http://schemas.openxmlformats.org/officeDocument/2006/relationships/image"/><Relationship Id="rId9"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5.png" Type="http://schemas.openxmlformats.org/officeDocument/2006/relationships/image"/><Relationship Id="rId5" Target="../media/image17.png" Type="http://schemas.openxmlformats.org/officeDocument/2006/relationships/image"/><Relationship Id="rId6"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5.pn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https://proceedings.neurips.cc/paper/2017/hash/8a20a8621978632d76c43dfd28b67767-Abstract.html" TargetMode="External" Type="http://schemas.openxmlformats.org/officeDocument/2006/relationships/hyperlink"/><Relationship Id="rId2" Target="../notesSlides/notesSlide6.xml" Type="http://schemas.openxmlformats.org/officeDocument/2006/relationships/notesSlide"/><Relationship Id="rId3" Target="../media/image1.jpeg" Type="http://schemas.openxmlformats.org/officeDocument/2006/relationships/image"/><Relationship Id="rId4" Target="../media/image5.png" Type="http://schemas.openxmlformats.org/officeDocument/2006/relationships/image"/><Relationship Id="rId5" Target="https://firms.modaps.eosdis.nasa.gov/active_fire/" TargetMode="External" Type="http://schemas.openxmlformats.org/officeDocument/2006/relationships/hyperlink"/><Relationship Id="rId6" Target="https://doi.org/10.1016/j.rse.2015.11.030" TargetMode="External" Type="http://schemas.openxmlformats.org/officeDocument/2006/relationships/hyperlink"/><Relationship Id="rId7" Target="https://esa-worldcover.org/en/data-access" TargetMode="External" Type="http://schemas.openxmlformats.org/officeDocument/2006/relationships/hyperlink"/><Relationship Id="rId8" Target="https://dataspace.copernicus.eu/data-collections/copernicus-sentinel-missions/sentinel-2" TargetMode="External" Type="http://schemas.openxmlformats.org/officeDocument/2006/relationships/hyperlink"/><Relationship Id="rId9" Target="https://www.openstreetmap.org/"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1192938"/>
            <a:ext cx="15207891" cy="1800225"/>
          </a:xfrm>
          <a:prstGeom prst="rect">
            <a:avLst/>
          </a:prstGeom>
        </p:spPr>
        <p:txBody>
          <a:bodyPr anchor="t" rtlCol="false" tIns="0" lIns="0" bIns="0" rIns="0">
            <a:spAutoFit/>
          </a:bodyPr>
          <a:lstStyle/>
          <a:p>
            <a:pPr algn="ctr">
              <a:lnSpc>
                <a:spcPts val="4799"/>
              </a:lnSpc>
            </a:pPr>
          </a:p>
          <a:p>
            <a:pPr algn="ctr">
              <a:lnSpc>
                <a:spcPts val="4799"/>
              </a:lnSpc>
            </a:pPr>
            <a:r>
              <a:rPr lang="en-US" sz="3999" b="true">
                <a:solidFill>
                  <a:srgbClr val="1F497D"/>
                </a:solidFill>
                <a:latin typeface="Garamond Bold"/>
                <a:ea typeface="Garamond Bold"/>
                <a:cs typeface="Garamond Bold"/>
                <a:sym typeface="Garamond Bold"/>
              </a:rPr>
              <a:t>THERMALINTEL - AI-Powered Geospatial Intelligence for Industrial Fire &amp; Thermal Anomaly Detection</a:t>
            </a:r>
          </a:p>
        </p:txBody>
      </p:sp>
      <p:grpSp>
        <p:nvGrpSpPr>
          <p:cNvPr name="Group 3" id="3"/>
          <p:cNvGrpSpPr/>
          <p:nvPr/>
        </p:nvGrpSpPr>
        <p:grpSpPr>
          <a:xfrm rot="0">
            <a:off x="1028700" y="-364399"/>
            <a:ext cx="15544800" cy="3114675"/>
            <a:chOff x="0" y="0"/>
            <a:chExt cx="20726400" cy="4152900"/>
          </a:xfrm>
        </p:grpSpPr>
        <p:sp>
          <p:nvSpPr>
            <p:cNvPr name="Freeform 4" id="4"/>
            <p:cNvSpPr/>
            <p:nvPr/>
          </p:nvSpPr>
          <p:spPr>
            <a:xfrm flipH="false" flipV="false" rot="0">
              <a:off x="0" y="0"/>
              <a:ext cx="20726400" cy="4152900"/>
            </a:xfrm>
            <a:custGeom>
              <a:avLst/>
              <a:gdLst/>
              <a:ahLst/>
              <a:cxnLst/>
              <a:rect r="r" b="b" t="t" l="l"/>
              <a:pathLst>
                <a:path h="4152900" w="20726400">
                  <a:moveTo>
                    <a:pt x="0" y="0"/>
                  </a:moveTo>
                  <a:lnTo>
                    <a:pt x="20726400" y="0"/>
                  </a:lnTo>
                  <a:lnTo>
                    <a:pt x="20726400" y="4152900"/>
                  </a:lnTo>
                  <a:lnTo>
                    <a:pt x="0" y="4152900"/>
                  </a:lnTo>
                  <a:close/>
                </a:path>
              </a:pathLst>
            </a:custGeom>
            <a:blipFill>
              <a:blip r:embed="rId2">
                <a:alphaModFix amt="0"/>
              </a:blip>
              <a:stretch>
                <a:fillRect l="0" t="-47246" r="0" b="-47246"/>
              </a:stretch>
            </a:blipFill>
          </p:spPr>
        </p:sp>
        <p:sp>
          <p:nvSpPr>
            <p:cNvPr name="TextBox 5" id="5"/>
            <p:cNvSpPr txBox="true"/>
            <p:nvPr/>
          </p:nvSpPr>
          <p:spPr>
            <a:xfrm>
              <a:off x="0" y="-19050"/>
              <a:ext cx="20726400" cy="4171950"/>
            </a:xfrm>
            <a:prstGeom prst="rect">
              <a:avLst/>
            </a:prstGeom>
          </p:spPr>
          <p:txBody>
            <a:bodyPr anchor="ctr" rtlCol="false" tIns="0" lIns="0" bIns="0" rIns="0"/>
            <a:lstStyle/>
            <a:p>
              <a:pPr algn="ctr">
                <a:lnSpc>
                  <a:spcPts val="7200"/>
                </a:lnSpc>
              </a:pPr>
              <a:r>
                <a:rPr lang="en-US" sz="6000" b="true">
                  <a:solidFill>
                    <a:srgbClr val="1F497D"/>
                  </a:solidFill>
                  <a:latin typeface="Garamond Bold"/>
                  <a:ea typeface="Garamond Bold"/>
                  <a:cs typeface="Garamond Bold"/>
                  <a:sym typeface="Garamond Bold"/>
                </a:rPr>
                <a:t>SMART INDIA HACKATHON 2026</a:t>
              </a:r>
            </a:p>
          </p:txBody>
        </p:sp>
      </p:grpSp>
      <p:sp>
        <p:nvSpPr>
          <p:cNvPr name="TextBox 6" id="6"/>
          <p:cNvSpPr txBox="true"/>
          <p:nvPr/>
        </p:nvSpPr>
        <p:spPr>
          <a:xfrm rot="0">
            <a:off x="408459" y="3149449"/>
            <a:ext cx="12204315" cy="6655142"/>
          </a:xfrm>
          <a:prstGeom prst="rect">
            <a:avLst/>
          </a:prstGeom>
        </p:spPr>
        <p:txBody>
          <a:bodyPr anchor="t" rtlCol="false" tIns="0" lIns="0" bIns="0" rIns="0">
            <a:spAutoFit/>
          </a:bodyPr>
          <a:lstStyle/>
          <a:p>
            <a:pPr algn="l">
              <a:lnSpc>
                <a:spcPts val="4208"/>
              </a:lnSpc>
            </a:pPr>
          </a:p>
          <a:p>
            <a:pPr algn="l" marL="560019" indent="-280009" lvl="1">
              <a:lnSpc>
                <a:spcPts val="6157"/>
              </a:lnSpc>
              <a:buFont typeface="Arial"/>
              <a:buChar char="•"/>
            </a:pPr>
            <a:r>
              <a:rPr lang="en-US" b="true" sz="3094">
                <a:solidFill>
                  <a:srgbClr val="000000"/>
                </a:solidFill>
                <a:latin typeface="Arial Bold"/>
                <a:ea typeface="Arial Bold"/>
                <a:cs typeface="Arial Bold"/>
                <a:sym typeface="Arial Bold"/>
              </a:rPr>
              <a:t>Problem Statement ID -</a:t>
            </a:r>
            <a:r>
              <a:rPr lang="en-US" sz="3094">
                <a:solidFill>
                  <a:srgbClr val="000000"/>
                </a:solidFill>
                <a:latin typeface="Arial"/>
                <a:ea typeface="Arial"/>
                <a:cs typeface="Arial"/>
                <a:sym typeface="Arial"/>
              </a:rPr>
              <a:t> SIH26162</a:t>
            </a:r>
          </a:p>
          <a:p>
            <a:pPr algn="l" marL="560019" indent="-280009" lvl="1">
              <a:lnSpc>
                <a:spcPts val="6157"/>
              </a:lnSpc>
              <a:buFont typeface="Arial"/>
              <a:buChar char="•"/>
            </a:pPr>
            <a:r>
              <a:rPr lang="en-US" b="true" sz="3094">
                <a:solidFill>
                  <a:srgbClr val="000000"/>
                </a:solidFill>
                <a:latin typeface="Arial Bold"/>
                <a:ea typeface="Arial Bold"/>
                <a:cs typeface="Arial Bold"/>
                <a:sym typeface="Arial Bold"/>
              </a:rPr>
              <a:t>Problem Statement Title -  </a:t>
            </a:r>
            <a:r>
              <a:rPr lang="en-US" sz="3094">
                <a:solidFill>
                  <a:srgbClr val="000000"/>
                </a:solidFill>
                <a:latin typeface="Arial"/>
                <a:ea typeface="Arial"/>
                <a:cs typeface="Arial"/>
                <a:sym typeface="Arial"/>
              </a:rPr>
              <a:t>AI-Based Detection and Classification of Industrial Fires and Persistent Thermal Sources Using NASA FIRMS, OSM &amp; Satellite Data</a:t>
            </a:r>
          </a:p>
          <a:p>
            <a:pPr algn="l" marL="560019" indent="-280009" lvl="1">
              <a:lnSpc>
                <a:spcPts val="6157"/>
              </a:lnSpc>
              <a:buFont typeface="Arial"/>
              <a:buChar char="•"/>
            </a:pPr>
            <a:r>
              <a:rPr lang="en-US" b="true" sz="3094">
                <a:solidFill>
                  <a:srgbClr val="000000"/>
                </a:solidFill>
                <a:latin typeface="Arial Bold"/>
                <a:ea typeface="Arial Bold"/>
                <a:cs typeface="Arial Bold"/>
                <a:sym typeface="Arial Bold"/>
              </a:rPr>
              <a:t>Theme - </a:t>
            </a:r>
            <a:r>
              <a:rPr lang="en-US" sz="3094">
                <a:solidFill>
                  <a:srgbClr val="000000"/>
                </a:solidFill>
                <a:latin typeface="Arial"/>
                <a:ea typeface="Arial"/>
                <a:cs typeface="Arial"/>
                <a:sym typeface="Arial"/>
              </a:rPr>
              <a:t>Disaster Management</a:t>
            </a:r>
          </a:p>
          <a:p>
            <a:pPr algn="l" marL="560019" indent="-280009" lvl="1">
              <a:lnSpc>
                <a:spcPts val="6157"/>
              </a:lnSpc>
              <a:buFont typeface="Arial"/>
              <a:buChar char="•"/>
            </a:pPr>
            <a:r>
              <a:rPr lang="en-US" b="true" sz="3094">
                <a:solidFill>
                  <a:srgbClr val="000000"/>
                </a:solidFill>
                <a:latin typeface="Arial Bold"/>
                <a:ea typeface="Arial Bold"/>
                <a:cs typeface="Arial Bold"/>
                <a:sym typeface="Arial Bold"/>
              </a:rPr>
              <a:t>PS Category -</a:t>
            </a:r>
            <a:r>
              <a:rPr lang="en-US" sz="3094">
                <a:solidFill>
                  <a:srgbClr val="000000"/>
                </a:solidFill>
                <a:latin typeface="Arial"/>
                <a:ea typeface="Arial"/>
                <a:cs typeface="Arial"/>
                <a:sym typeface="Arial"/>
              </a:rPr>
              <a:t> Software</a:t>
            </a:r>
          </a:p>
          <a:p>
            <a:pPr algn="l" marL="560019" indent="-280009" lvl="1">
              <a:lnSpc>
                <a:spcPts val="6157"/>
              </a:lnSpc>
              <a:buFont typeface="Arial"/>
              <a:buChar char="•"/>
            </a:pPr>
            <a:r>
              <a:rPr lang="en-US" b="true" sz="3094">
                <a:solidFill>
                  <a:srgbClr val="000000"/>
                </a:solidFill>
                <a:latin typeface="Arial Bold"/>
                <a:ea typeface="Arial Bold"/>
                <a:cs typeface="Arial Bold"/>
                <a:sym typeface="Arial Bold"/>
              </a:rPr>
              <a:t>Team ID -</a:t>
            </a:r>
          </a:p>
          <a:p>
            <a:pPr algn="l" marL="560019" indent="-280009" lvl="1">
              <a:lnSpc>
                <a:spcPts val="6157"/>
              </a:lnSpc>
              <a:buFont typeface="Arial"/>
              <a:buChar char="•"/>
            </a:pPr>
            <a:r>
              <a:rPr lang="en-US" b="true" sz="3094">
                <a:solidFill>
                  <a:srgbClr val="000000"/>
                </a:solidFill>
                <a:latin typeface="Arial Bold"/>
                <a:ea typeface="Arial Bold"/>
                <a:cs typeface="Arial Bold"/>
                <a:sym typeface="Arial Bold"/>
              </a:rPr>
              <a:t>Team Name -</a:t>
            </a:r>
            <a:r>
              <a:rPr lang="en-US" sz="3094">
                <a:solidFill>
                  <a:srgbClr val="000000"/>
                </a:solidFill>
                <a:latin typeface="Arial"/>
                <a:ea typeface="Arial"/>
                <a:cs typeface="Arial"/>
                <a:sym typeface="Arial"/>
              </a:rPr>
              <a:t> Deadlock</a:t>
            </a:r>
          </a:p>
        </p:txBody>
      </p:sp>
      <p:sp>
        <p:nvSpPr>
          <p:cNvPr name="Freeform 7" id="7"/>
          <p:cNvSpPr/>
          <p:nvPr/>
        </p:nvSpPr>
        <p:spPr>
          <a:xfrm flipH="false" flipV="false" rot="0">
            <a:off x="11086995" y="2093051"/>
            <a:ext cx="6957908" cy="7732452"/>
          </a:xfrm>
          <a:custGeom>
            <a:avLst/>
            <a:gdLst/>
            <a:ahLst/>
            <a:cxnLst/>
            <a:rect r="r" b="b" t="t" l="l"/>
            <a:pathLst>
              <a:path h="7732452" w="6957908">
                <a:moveTo>
                  <a:pt x="0" y="0"/>
                </a:moveTo>
                <a:lnTo>
                  <a:pt x="6957908" y="0"/>
                </a:lnTo>
                <a:lnTo>
                  <a:pt x="6957908" y="7732452"/>
                </a:lnTo>
                <a:lnTo>
                  <a:pt x="0" y="77324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12830388" y="4118943"/>
            <a:ext cx="4805267" cy="5139357"/>
            <a:chOff x="0" y="0"/>
            <a:chExt cx="6407023" cy="6852476"/>
          </a:xfrm>
        </p:grpSpPr>
        <p:sp>
          <p:nvSpPr>
            <p:cNvPr name="Freeform 9" id="9"/>
            <p:cNvSpPr/>
            <p:nvPr/>
          </p:nvSpPr>
          <p:spPr>
            <a:xfrm flipH="false" flipV="false" rot="0">
              <a:off x="0" y="0"/>
              <a:ext cx="6407023" cy="6852412"/>
            </a:xfrm>
            <a:custGeom>
              <a:avLst/>
              <a:gdLst/>
              <a:ahLst/>
              <a:cxnLst/>
              <a:rect r="r" b="b" t="t" l="l"/>
              <a:pathLst>
                <a:path h="6852412" w="6407023">
                  <a:moveTo>
                    <a:pt x="0" y="0"/>
                  </a:moveTo>
                  <a:lnTo>
                    <a:pt x="6407023" y="0"/>
                  </a:lnTo>
                  <a:lnTo>
                    <a:pt x="6407023" y="6852412"/>
                  </a:lnTo>
                  <a:lnTo>
                    <a:pt x="0" y="6852412"/>
                  </a:lnTo>
                  <a:lnTo>
                    <a:pt x="0" y="0"/>
                  </a:lnTo>
                  <a:close/>
                </a:path>
              </a:pathLst>
            </a:custGeom>
            <a:blipFill>
              <a:blip r:embed="rId5"/>
              <a:stretch>
                <a:fillRect l="0" t="0" r="-149475" b="-1"/>
              </a:stretch>
            </a:blipFill>
          </p:spPr>
        </p:sp>
      </p:grpSp>
      <p:grpSp>
        <p:nvGrpSpPr>
          <p:cNvPr name="Group 10" id="10"/>
          <p:cNvGrpSpPr/>
          <p:nvPr/>
        </p:nvGrpSpPr>
        <p:grpSpPr>
          <a:xfrm rot="0">
            <a:off x="14670129" y="2248"/>
            <a:ext cx="3374774" cy="1593504"/>
            <a:chOff x="0" y="0"/>
            <a:chExt cx="4499699" cy="2124672"/>
          </a:xfrm>
        </p:grpSpPr>
        <p:sp>
          <p:nvSpPr>
            <p:cNvPr name="Freeform 11" id="11"/>
            <p:cNvSpPr/>
            <p:nvPr/>
          </p:nvSpPr>
          <p:spPr>
            <a:xfrm flipH="false" flipV="false" rot="0">
              <a:off x="0" y="0"/>
              <a:ext cx="4499737" cy="2124710"/>
            </a:xfrm>
            <a:custGeom>
              <a:avLst/>
              <a:gdLst/>
              <a:ahLst/>
              <a:cxnLst/>
              <a:rect r="r" b="b" t="t" l="l"/>
              <a:pathLst>
                <a:path h="2124710" w="4499737">
                  <a:moveTo>
                    <a:pt x="0" y="0"/>
                  </a:moveTo>
                  <a:lnTo>
                    <a:pt x="4499737" y="0"/>
                  </a:lnTo>
                  <a:lnTo>
                    <a:pt x="4499737" y="2124710"/>
                  </a:lnTo>
                  <a:lnTo>
                    <a:pt x="0" y="2124710"/>
                  </a:lnTo>
                  <a:lnTo>
                    <a:pt x="0" y="0"/>
                  </a:lnTo>
                  <a:close/>
                </a:path>
              </a:pathLst>
            </a:custGeom>
            <a:blipFill>
              <a:blip r:embed="rId6"/>
              <a:stretch>
                <a:fillRect l="0" t="0" r="0" b="1"/>
              </a:stretch>
            </a:blipFill>
          </p:spPr>
        </p:sp>
      </p:grpSp>
      <p:grpSp>
        <p:nvGrpSpPr>
          <p:cNvPr name="Group 12" id="12"/>
          <p:cNvGrpSpPr/>
          <p:nvPr/>
        </p:nvGrpSpPr>
        <p:grpSpPr>
          <a:xfrm rot="0">
            <a:off x="256860" y="174449"/>
            <a:ext cx="1915887" cy="1249101"/>
            <a:chOff x="0" y="0"/>
            <a:chExt cx="2554516" cy="1665468"/>
          </a:xfrm>
        </p:grpSpPr>
        <p:sp>
          <p:nvSpPr>
            <p:cNvPr name="Freeform 13" id="13" descr="Your startup LOGO"/>
            <p:cNvSpPr/>
            <p:nvPr/>
          </p:nvSpPr>
          <p:spPr>
            <a:xfrm flipH="false" flipV="false" rot="0">
              <a:off x="0" y="0"/>
              <a:ext cx="2554478" cy="1665481"/>
            </a:xfrm>
            <a:custGeom>
              <a:avLst/>
              <a:gdLst/>
              <a:ahLst/>
              <a:cxnLst/>
              <a:rect r="r" b="b" t="t" l="l"/>
              <a:pathLst>
                <a:path h="1665481" w="2554478">
                  <a:moveTo>
                    <a:pt x="0" y="832740"/>
                  </a:moveTo>
                  <a:cubicBezTo>
                    <a:pt x="0" y="372873"/>
                    <a:pt x="571881" y="0"/>
                    <a:pt x="1277239" y="0"/>
                  </a:cubicBezTo>
                  <a:cubicBezTo>
                    <a:pt x="1982597" y="0"/>
                    <a:pt x="2554478" y="372873"/>
                    <a:pt x="2554478" y="832740"/>
                  </a:cubicBezTo>
                  <a:cubicBezTo>
                    <a:pt x="2554478" y="1292608"/>
                    <a:pt x="1982597" y="1665481"/>
                    <a:pt x="1277239" y="1665481"/>
                  </a:cubicBezTo>
                  <a:cubicBezTo>
                    <a:pt x="571881" y="1665481"/>
                    <a:pt x="0" y="1292608"/>
                    <a:pt x="0" y="832740"/>
                  </a:cubicBezTo>
                  <a:close/>
                </a:path>
              </a:pathLst>
            </a:custGeom>
            <a:solidFill>
              <a:srgbClr val="FFFFFF"/>
            </a:solidFill>
            <a:ln w="38100" cap="sq">
              <a:solidFill>
                <a:srgbClr val="8064A2"/>
              </a:solidFill>
              <a:prstDash val="solid"/>
              <a:miter/>
            </a:ln>
          </p:spPr>
        </p:sp>
        <p:sp>
          <p:nvSpPr>
            <p:cNvPr name="TextBox 14" id="14"/>
            <p:cNvSpPr txBox="true"/>
            <p:nvPr/>
          </p:nvSpPr>
          <p:spPr>
            <a:xfrm>
              <a:off x="0" y="-57150"/>
              <a:ext cx="2554516" cy="1722618"/>
            </a:xfrm>
            <a:prstGeom prst="rect">
              <a:avLst/>
            </a:prstGeom>
          </p:spPr>
          <p:txBody>
            <a:bodyPr anchor="ctr" rtlCol="false" tIns="50800" lIns="50800" bIns="50800" rIns="50800"/>
            <a:lstStyle/>
            <a:p>
              <a:pPr algn="ctr">
                <a:lnSpc>
                  <a:spcPts val="3240"/>
                </a:lnSpc>
              </a:pPr>
              <a:r>
                <a:rPr lang="en-US" sz="2700" b="true">
                  <a:solidFill>
                    <a:srgbClr val="000000"/>
                  </a:solidFill>
                  <a:latin typeface="Calibri (MS) Bold"/>
                  <a:ea typeface="Calibri (MS) Bold"/>
                  <a:cs typeface="Calibri (MS) Bold"/>
                  <a:sym typeface="Calibri (MS) Bold"/>
                </a:rPr>
                <a:t>Deadlock</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32144"/>
            <a:ext cx="18288000" cy="754856"/>
            <a:chOff x="0" y="0"/>
            <a:chExt cx="24384000" cy="1006475"/>
          </a:xfrm>
        </p:grpSpPr>
        <p:sp>
          <p:nvSpPr>
            <p:cNvPr name="Freeform 3" id="3"/>
            <p:cNvSpPr/>
            <p:nvPr/>
          </p:nvSpPr>
          <p:spPr>
            <a:xfrm flipH="false" flipV="false" rot="0">
              <a:off x="0" y="0"/>
              <a:ext cx="24384000" cy="1006475"/>
            </a:xfrm>
            <a:custGeom>
              <a:avLst/>
              <a:gdLst/>
              <a:ahLst/>
              <a:cxnLst/>
              <a:rect r="r" b="b" t="t" l="l"/>
              <a:pathLst>
                <a:path h="1006475" w="24384000">
                  <a:moveTo>
                    <a:pt x="0" y="0"/>
                  </a:moveTo>
                  <a:lnTo>
                    <a:pt x="24384000" y="0"/>
                  </a:lnTo>
                  <a:lnTo>
                    <a:pt x="24384000" y="1006475"/>
                  </a:lnTo>
                  <a:lnTo>
                    <a:pt x="0" y="1006475"/>
                  </a:lnTo>
                  <a:close/>
                </a:path>
              </a:pathLst>
            </a:custGeom>
            <a:solidFill>
              <a:srgbClr val="0070C0"/>
            </a:solidFill>
          </p:spPr>
        </p:sp>
      </p:grpSp>
      <p:grpSp>
        <p:nvGrpSpPr>
          <p:cNvPr name="Group 4" id="4"/>
          <p:cNvGrpSpPr/>
          <p:nvPr/>
        </p:nvGrpSpPr>
        <p:grpSpPr>
          <a:xfrm rot="0">
            <a:off x="6258367" y="175665"/>
            <a:ext cx="5771265" cy="1327983"/>
            <a:chOff x="0" y="0"/>
            <a:chExt cx="9759917" cy="2245782"/>
          </a:xfrm>
        </p:grpSpPr>
        <p:sp>
          <p:nvSpPr>
            <p:cNvPr name="Freeform 5" id="5"/>
            <p:cNvSpPr/>
            <p:nvPr/>
          </p:nvSpPr>
          <p:spPr>
            <a:xfrm flipH="false" flipV="false" rot="0">
              <a:off x="0" y="0"/>
              <a:ext cx="9759917" cy="2245782"/>
            </a:xfrm>
            <a:custGeom>
              <a:avLst/>
              <a:gdLst/>
              <a:ahLst/>
              <a:cxnLst/>
              <a:rect r="r" b="b" t="t" l="l"/>
              <a:pathLst>
                <a:path h="2245782" w="9759917">
                  <a:moveTo>
                    <a:pt x="0" y="0"/>
                  </a:moveTo>
                  <a:lnTo>
                    <a:pt x="9759917" y="0"/>
                  </a:lnTo>
                  <a:lnTo>
                    <a:pt x="9759917" y="2245782"/>
                  </a:lnTo>
                  <a:lnTo>
                    <a:pt x="0" y="2245782"/>
                  </a:lnTo>
                  <a:close/>
                </a:path>
              </a:pathLst>
            </a:custGeom>
            <a:blipFill>
              <a:blip r:embed="rId3">
                <a:alphaModFix amt="0"/>
              </a:blip>
              <a:stretch>
                <a:fillRect l="0" t="-139510" r="-124854" b="-141301"/>
              </a:stretch>
            </a:blipFill>
          </p:spPr>
        </p:sp>
        <p:sp>
          <p:nvSpPr>
            <p:cNvPr name="TextBox 6" id="6"/>
            <p:cNvSpPr txBox="true"/>
            <p:nvPr/>
          </p:nvSpPr>
          <p:spPr>
            <a:xfrm>
              <a:off x="0" y="-28575"/>
              <a:ext cx="9759917" cy="2274357"/>
            </a:xfrm>
            <a:prstGeom prst="rect">
              <a:avLst/>
            </a:prstGeom>
          </p:spPr>
          <p:txBody>
            <a:bodyPr anchor="ctr" rtlCol="false" tIns="0" lIns="0" bIns="0" rIns="0"/>
            <a:lstStyle/>
            <a:p>
              <a:pPr algn="ctr">
                <a:lnSpc>
                  <a:spcPts val="4560"/>
                </a:lnSpc>
              </a:pPr>
            </a:p>
            <a:p>
              <a:pPr algn="ctr">
                <a:lnSpc>
                  <a:spcPts val="4560"/>
                </a:lnSpc>
              </a:pPr>
            </a:p>
          </p:txBody>
        </p:sp>
      </p:grpSp>
      <p:grpSp>
        <p:nvGrpSpPr>
          <p:cNvPr name="Group 7" id="7"/>
          <p:cNvGrpSpPr/>
          <p:nvPr/>
        </p:nvGrpSpPr>
        <p:grpSpPr>
          <a:xfrm rot="0">
            <a:off x="13106400" y="9534525"/>
            <a:ext cx="4267200" cy="547688"/>
            <a:chOff x="0" y="0"/>
            <a:chExt cx="5689600" cy="730250"/>
          </a:xfrm>
        </p:grpSpPr>
        <p:sp>
          <p:nvSpPr>
            <p:cNvPr name="Freeform 8" id="8"/>
            <p:cNvSpPr/>
            <p:nvPr/>
          </p:nvSpPr>
          <p:spPr>
            <a:xfrm flipH="false" flipV="false" rot="0">
              <a:off x="0" y="0"/>
              <a:ext cx="5689600" cy="730250"/>
            </a:xfrm>
            <a:custGeom>
              <a:avLst/>
              <a:gdLst/>
              <a:ahLst/>
              <a:cxnLst/>
              <a:rect r="r" b="b" t="t" l="l"/>
              <a:pathLst>
                <a:path h="730250" w="5689600">
                  <a:moveTo>
                    <a:pt x="0" y="0"/>
                  </a:moveTo>
                  <a:lnTo>
                    <a:pt x="5689600" y="0"/>
                  </a:lnTo>
                  <a:lnTo>
                    <a:pt x="5689600" y="730250"/>
                  </a:lnTo>
                  <a:lnTo>
                    <a:pt x="0" y="730250"/>
                  </a:lnTo>
                  <a:close/>
                </a:path>
              </a:pathLst>
            </a:custGeom>
            <a:blipFill>
              <a:blip r:embed="rId3">
                <a:alphaModFix amt="0"/>
              </a:blip>
              <a:stretch>
                <a:fillRect l="0" t="-101813" r="0" b="-101813"/>
              </a:stretch>
            </a:blipFill>
          </p:spPr>
        </p:sp>
        <p:sp>
          <p:nvSpPr>
            <p:cNvPr name="TextBox 9" id="9"/>
            <p:cNvSpPr txBox="true"/>
            <p:nvPr/>
          </p:nvSpPr>
          <p:spPr>
            <a:xfrm>
              <a:off x="0" y="-19050"/>
              <a:ext cx="5689600" cy="749300"/>
            </a:xfrm>
            <a:prstGeom prst="rect">
              <a:avLst/>
            </a:prstGeom>
          </p:spPr>
          <p:txBody>
            <a:bodyPr anchor="ctr" rtlCol="false" tIns="0" lIns="0" bIns="0" rIns="0"/>
            <a:lstStyle/>
            <a:p>
              <a:pPr algn="r">
                <a:lnSpc>
                  <a:spcPts val="2160"/>
                </a:lnSpc>
              </a:pPr>
              <a:r>
                <a:rPr lang="en-US" sz="1800" b="true">
                  <a:solidFill>
                    <a:srgbClr val="FFFFFF"/>
                  </a:solidFill>
                  <a:latin typeface="Arimo Bold"/>
                  <a:ea typeface="Arimo Bold"/>
                  <a:cs typeface="Arimo Bold"/>
                  <a:sym typeface="Arimo Bold"/>
                </a:rPr>
                <a:t>2</a:t>
              </a:r>
            </a:p>
          </p:txBody>
        </p:sp>
      </p:grpSp>
      <p:grpSp>
        <p:nvGrpSpPr>
          <p:cNvPr name="Group 10" id="10"/>
          <p:cNvGrpSpPr/>
          <p:nvPr/>
        </p:nvGrpSpPr>
        <p:grpSpPr>
          <a:xfrm rot="0">
            <a:off x="6972300" y="9534525"/>
            <a:ext cx="4806001" cy="547688"/>
            <a:chOff x="0" y="0"/>
            <a:chExt cx="6408001" cy="730250"/>
          </a:xfrm>
        </p:grpSpPr>
        <p:sp>
          <p:nvSpPr>
            <p:cNvPr name="Freeform 11" id="11"/>
            <p:cNvSpPr/>
            <p:nvPr/>
          </p:nvSpPr>
          <p:spPr>
            <a:xfrm flipH="false" flipV="false" rot="0">
              <a:off x="0" y="0"/>
              <a:ext cx="6408000" cy="730250"/>
            </a:xfrm>
            <a:custGeom>
              <a:avLst/>
              <a:gdLst/>
              <a:ahLst/>
              <a:cxnLst/>
              <a:rect r="r" b="b" t="t" l="l"/>
              <a:pathLst>
                <a:path h="730250" w="6408000">
                  <a:moveTo>
                    <a:pt x="0" y="0"/>
                  </a:moveTo>
                  <a:lnTo>
                    <a:pt x="6408000" y="0"/>
                  </a:lnTo>
                  <a:lnTo>
                    <a:pt x="6408000" y="730250"/>
                  </a:lnTo>
                  <a:lnTo>
                    <a:pt x="0" y="730250"/>
                  </a:lnTo>
                  <a:close/>
                </a:path>
              </a:pathLst>
            </a:custGeom>
            <a:blipFill>
              <a:blip r:embed="rId3">
                <a:alphaModFix amt="0"/>
              </a:blip>
              <a:stretch>
                <a:fillRect l="0" t="-120982" r="0" b="-120982"/>
              </a:stretch>
            </a:blipFill>
          </p:spPr>
        </p:sp>
        <p:sp>
          <p:nvSpPr>
            <p:cNvPr name="TextBox 12" id="12"/>
            <p:cNvSpPr txBox="true"/>
            <p:nvPr/>
          </p:nvSpPr>
          <p:spPr>
            <a:xfrm>
              <a:off x="0" y="-19050"/>
              <a:ext cx="6408001" cy="749300"/>
            </a:xfrm>
            <a:prstGeom prst="rect">
              <a:avLst/>
            </a:prstGeom>
          </p:spPr>
          <p:txBody>
            <a:bodyPr anchor="ctr" rtlCol="false" tIns="0" lIns="0" bIns="0" rIns="0"/>
            <a:lstStyle/>
            <a:p>
              <a:pPr algn="ctr">
                <a:lnSpc>
                  <a:spcPts val="2160"/>
                </a:lnSpc>
              </a:pPr>
              <a:r>
                <a:rPr lang="en-US" sz="1800">
                  <a:solidFill>
                    <a:srgbClr val="FFFFFF"/>
                  </a:solidFill>
                  <a:latin typeface="Arimo"/>
                  <a:ea typeface="Arimo"/>
                  <a:cs typeface="Arimo"/>
                  <a:sym typeface="Arimo"/>
                </a:rPr>
                <a:t>@SIH Idea submission- Template</a:t>
              </a:r>
            </a:p>
          </p:txBody>
        </p:sp>
      </p:grpSp>
      <p:grpSp>
        <p:nvGrpSpPr>
          <p:cNvPr name="Group 13" id="13"/>
          <p:cNvGrpSpPr/>
          <p:nvPr/>
        </p:nvGrpSpPr>
        <p:grpSpPr>
          <a:xfrm rot="0">
            <a:off x="475612" y="359321"/>
            <a:ext cx="1755182" cy="1144326"/>
            <a:chOff x="0" y="0"/>
            <a:chExt cx="2554516" cy="1665468"/>
          </a:xfrm>
        </p:grpSpPr>
        <p:sp>
          <p:nvSpPr>
            <p:cNvPr name="Freeform 14" id="14" descr="Your startup LOGO"/>
            <p:cNvSpPr/>
            <p:nvPr/>
          </p:nvSpPr>
          <p:spPr>
            <a:xfrm flipH="false" flipV="false" rot="0">
              <a:off x="0" y="0"/>
              <a:ext cx="2554478" cy="1665481"/>
            </a:xfrm>
            <a:custGeom>
              <a:avLst/>
              <a:gdLst/>
              <a:ahLst/>
              <a:cxnLst/>
              <a:rect r="r" b="b" t="t" l="l"/>
              <a:pathLst>
                <a:path h="1665481" w="2554478">
                  <a:moveTo>
                    <a:pt x="0" y="832740"/>
                  </a:moveTo>
                  <a:cubicBezTo>
                    <a:pt x="0" y="372873"/>
                    <a:pt x="571881" y="0"/>
                    <a:pt x="1277239" y="0"/>
                  </a:cubicBezTo>
                  <a:cubicBezTo>
                    <a:pt x="1982597" y="0"/>
                    <a:pt x="2554478" y="372873"/>
                    <a:pt x="2554478" y="832740"/>
                  </a:cubicBezTo>
                  <a:cubicBezTo>
                    <a:pt x="2554478" y="1292608"/>
                    <a:pt x="1982597" y="1665481"/>
                    <a:pt x="1277239" y="1665481"/>
                  </a:cubicBezTo>
                  <a:cubicBezTo>
                    <a:pt x="571881" y="1665481"/>
                    <a:pt x="0" y="1292608"/>
                    <a:pt x="0" y="832740"/>
                  </a:cubicBezTo>
                  <a:close/>
                </a:path>
              </a:pathLst>
            </a:custGeom>
            <a:solidFill>
              <a:srgbClr val="FFFFFF"/>
            </a:solidFill>
            <a:ln w="38100" cap="sq">
              <a:solidFill>
                <a:srgbClr val="8064A2"/>
              </a:solidFill>
              <a:prstDash val="solid"/>
              <a:miter/>
            </a:ln>
          </p:spPr>
        </p:sp>
        <p:sp>
          <p:nvSpPr>
            <p:cNvPr name="TextBox 15" id="15"/>
            <p:cNvSpPr txBox="true"/>
            <p:nvPr/>
          </p:nvSpPr>
          <p:spPr>
            <a:xfrm>
              <a:off x="0" y="-57150"/>
              <a:ext cx="2554516" cy="1722618"/>
            </a:xfrm>
            <a:prstGeom prst="rect">
              <a:avLst/>
            </a:prstGeom>
          </p:spPr>
          <p:txBody>
            <a:bodyPr anchor="ctr" rtlCol="false" tIns="50800" lIns="50800" bIns="50800" rIns="50800"/>
            <a:lstStyle/>
            <a:p>
              <a:pPr algn="ctr">
                <a:lnSpc>
                  <a:spcPts val="3240"/>
                </a:lnSpc>
              </a:pPr>
              <a:r>
                <a:rPr lang="en-US" sz="2700">
                  <a:solidFill>
                    <a:srgbClr val="000000"/>
                  </a:solidFill>
                  <a:latin typeface="Calibri (MS)"/>
                  <a:ea typeface="Calibri (MS)"/>
                  <a:cs typeface="Calibri (MS)"/>
                  <a:sym typeface="Calibri (MS)"/>
                </a:rPr>
                <a:t>D</a:t>
              </a:r>
              <a:r>
                <a:rPr lang="en-US" sz="2700">
                  <a:solidFill>
                    <a:srgbClr val="000000"/>
                  </a:solidFill>
                  <a:latin typeface="Calibri (MS)"/>
                  <a:ea typeface="Calibri (MS)"/>
                  <a:cs typeface="Calibri (MS)"/>
                  <a:sym typeface="Calibri (MS)"/>
                </a:rPr>
                <a:t>eadlock</a:t>
              </a:r>
            </a:p>
          </p:txBody>
        </p:sp>
      </p:grpSp>
      <p:sp>
        <p:nvSpPr>
          <p:cNvPr name="TextBox 16" id="16"/>
          <p:cNvSpPr txBox="true"/>
          <p:nvPr/>
        </p:nvSpPr>
        <p:spPr>
          <a:xfrm rot="0">
            <a:off x="5494187" y="1137370"/>
            <a:ext cx="6975500" cy="276225"/>
          </a:xfrm>
          <a:prstGeom prst="rect">
            <a:avLst/>
          </a:prstGeom>
        </p:spPr>
        <p:txBody>
          <a:bodyPr anchor="t" rtlCol="false" tIns="0" lIns="0" bIns="0" rIns="0">
            <a:spAutoFit/>
          </a:bodyPr>
          <a:lstStyle/>
          <a:p>
            <a:pPr algn="ctr">
              <a:lnSpc>
                <a:spcPts val="2137"/>
              </a:lnSpc>
            </a:pPr>
            <a:r>
              <a:rPr lang="en-US" sz="1781">
                <a:solidFill>
                  <a:srgbClr val="001C54"/>
                </a:solidFill>
                <a:latin typeface="Intro Pro"/>
                <a:ea typeface="Intro Pro"/>
                <a:cs typeface="Intro Pro"/>
                <a:sym typeface="Intro Pro"/>
              </a:rPr>
              <a:t>From Satellite Hotspots to Actionable Industrial Risk Intelligence</a:t>
            </a:r>
          </a:p>
        </p:txBody>
      </p:sp>
      <p:grpSp>
        <p:nvGrpSpPr>
          <p:cNvPr name="Group 17" id="17"/>
          <p:cNvGrpSpPr/>
          <p:nvPr/>
        </p:nvGrpSpPr>
        <p:grpSpPr>
          <a:xfrm rot="0">
            <a:off x="154311" y="733021"/>
            <a:ext cx="7073310" cy="8448213"/>
            <a:chOff x="0" y="0"/>
            <a:chExt cx="9431080" cy="11264284"/>
          </a:xfrm>
        </p:grpSpPr>
        <p:grpSp>
          <p:nvGrpSpPr>
            <p:cNvPr name="Group 18" id="18"/>
            <p:cNvGrpSpPr/>
            <p:nvPr/>
          </p:nvGrpSpPr>
          <p:grpSpPr>
            <a:xfrm rot="0">
              <a:off x="0" y="1765839"/>
              <a:ext cx="8240264" cy="9498445"/>
              <a:chOff x="0" y="0"/>
              <a:chExt cx="1627707" cy="1876236"/>
            </a:xfrm>
          </p:grpSpPr>
          <p:sp>
            <p:nvSpPr>
              <p:cNvPr name="Freeform 19" id="19"/>
              <p:cNvSpPr/>
              <p:nvPr/>
            </p:nvSpPr>
            <p:spPr>
              <a:xfrm flipH="false" flipV="false" rot="0">
                <a:off x="0" y="0"/>
                <a:ext cx="1627706" cy="1876236"/>
              </a:xfrm>
              <a:custGeom>
                <a:avLst/>
                <a:gdLst/>
                <a:ahLst/>
                <a:cxnLst/>
                <a:rect r="r" b="b" t="t" l="l"/>
                <a:pathLst>
                  <a:path h="1876236" w="1627706">
                    <a:moveTo>
                      <a:pt x="0" y="0"/>
                    </a:moveTo>
                    <a:lnTo>
                      <a:pt x="1627706" y="0"/>
                    </a:lnTo>
                    <a:lnTo>
                      <a:pt x="1627706" y="1876236"/>
                    </a:lnTo>
                    <a:lnTo>
                      <a:pt x="0" y="1876236"/>
                    </a:lnTo>
                    <a:close/>
                  </a:path>
                </a:pathLst>
              </a:custGeom>
              <a:solidFill>
                <a:srgbClr val="FBFCF9"/>
              </a:solidFill>
              <a:ln w="38100" cap="sq">
                <a:solidFill>
                  <a:srgbClr val="000000"/>
                </a:solidFill>
                <a:prstDash val="solid"/>
                <a:miter/>
              </a:ln>
            </p:spPr>
          </p:sp>
          <p:sp>
            <p:nvSpPr>
              <p:cNvPr name="TextBox 20" id="20"/>
              <p:cNvSpPr txBox="true"/>
              <p:nvPr/>
            </p:nvSpPr>
            <p:spPr>
              <a:xfrm>
                <a:off x="0" y="-9525"/>
                <a:ext cx="1627707" cy="1885761"/>
              </a:xfrm>
              <a:prstGeom prst="rect">
                <a:avLst/>
              </a:prstGeom>
            </p:spPr>
            <p:txBody>
              <a:bodyPr anchor="ctr" rtlCol="false" tIns="50800" lIns="50800" bIns="50800" rIns="50800"/>
              <a:lstStyle/>
              <a:p>
                <a:pPr algn="ctr">
                  <a:lnSpc>
                    <a:spcPts val="2521"/>
                  </a:lnSpc>
                </a:pPr>
              </a:p>
            </p:txBody>
          </p:sp>
        </p:grpSp>
        <p:sp>
          <p:nvSpPr>
            <p:cNvPr name="TextBox 21" id="21"/>
            <p:cNvSpPr txBox="true"/>
            <p:nvPr/>
          </p:nvSpPr>
          <p:spPr>
            <a:xfrm rot="0">
              <a:off x="247117" y="2279567"/>
              <a:ext cx="7728719" cy="8953500"/>
            </a:xfrm>
            <a:prstGeom prst="rect">
              <a:avLst/>
            </a:prstGeom>
          </p:spPr>
          <p:txBody>
            <a:bodyPr anchor="t" rtlCol="false" tIns="0" lIns="0" bIns="0" rIns="0">
              <a:spAutoFit/>
            </a:bodyPr>
            <a:lstStyle/>
            <a:p>
              <a:pPr algn="just">
                <a:lnSpc>
                  <a:spcPts val="2099"/>
                </a:lnSpc>
              </a:pPr>
            </a:p>
            <a:p>
              <a:pPr algn="just">
                <a:lnSpc>
                  <a:spcPts val="2099"/>
                </a:lnSpc>
                <a:spcBef>
                  <a:spcPct val="0"/>
                </a:spcBef>
              </a:pPr>
              <a:r>
                <a:rPr lang="en-US" sz="1749">
                  <a:solidFill>
                    <a:srgbClr val="000000"/>
                  </a:solidFill>
                  <a:latin typeface="Calibri (MS)"/>
                  <a:ea typeface="Calibri (MS)"/>
                  <a:cs typeface="Calibri (MS)"/>
                  <a:sym typeface="Calibri (MS)"/>
                </a:rPr>
                <a:t>Curre</a:t>
              </a:r>
              <a:r>
                <a:rPr lang="en-US" sz="1749">
                  <a:solidFill>
                    <a:srgbClr val="000000"/>
                  </a:solidFill>
                  <a:latin typeface="Calibri (MS)"/>
                  <a:ea typeface="Calibri (MS)"/>
                  <a:cs typeface="Calibri (MS)"/>
                  <a:sym typeface="Calibri (MS)"/>
                </a:rPr>
                <a:t>nt satellite fire-monitoring systems such as NASA FIRMS detect thermal anomalies but cannot reliably distinguish industrial fires and persistent thermal sources from forest, agricultural and other fires. Our system addresses this gap by combining thermal, geographic and land-cover intelligence with AI-based classification.</a:t>
              </a:r>
            </a:p>
            <a:p>
              <a:pPr algn="just">
                <a:lnSpc>
                  <a:spcPts val="2099"/>
                </a:lnSpc>
                <a:spcBef>
                  <a:spcPct val="0"/>
                </a:spcBef>
              </a:pPr>
            </a:p>
            <a:p>
              <a:pPr algn="just">
                <a:lnSpc>
                  <a:spcPts val="2099"/>
                </a:lnSpc>
                <a:spcBef>
                  <a:spcPct val="0"/>
                </a:spcBef>
              </a:pPr>
              <a:r>
                <a:rPr lang="en-US" b="true" sz="1749">
                  <a:solidFill>
                    <a:srgbClr val="000000"/>
                  </a:solidFill>
                  <a:latin typeface="Calibri (MS) Bold"/>
                  <a:ea typeface="Calibri (MS) Bold"/>
                  <a:cs typeface="Calibri (MS) Bold"/>
                  <a:sym typeface="Calibri (MS) Bold"/>
                </a:rPr>
                <a:t>Following is our Idea/Approach:</a:t>
              </a:r>
            </a:p>
            <a:p>
              <a:pPr algn="just" marL="377824" indent="-188912" lvl="1">
                <a:lnSpc>
                  <a:spcPts val="2099"/>
                </a:lnSpc>
                <a:spcBef>
                  <a:spcPct val="0"/>
                </a:spcBef>
                <a:buFont typeface="Arial"/>
                <a:buChar char="•"/>
              </a:pPr>
              <a:r>
                <a:rPr lang="en-US" b="true" sz="1749">
                  <a:solidFill>
                    <a:srgbClr val="000000"/>
                  </a:solidFill>
                  <a:latin typeface="Calibri (MS) Bold"/>
                  <a:ea typeface="Calibri (MS) Bold"/>
                  <a:cs typeface="Calibri (MS) Bold"/>
                  <a:sym typeface="Calibri (MS) Bold"/>
                </a:rPr>
                <a:t>Multi-Source Thermal Dataset</a:t>
              </a:r>
              <a:r>
                <a:rPr lang="en-US" sz="1749">
                  <a:solidFill>
                    <a:srgbClr val="000000"/>
                  </a:solidFill>
                  <a:latin typeface="Calibri (MS)"/>
                  <a:ea typeface="Calibri (MS)"/>
                  <a:cs typeface="Calibri (MS)"/>
                  <a:sym typeface="Calibri (MS)"/>
                </a:rPr>
                <a:t>: Integrates NASA FIRMS, OSM and Land-Cover data to build a contextualized dataset of detected thermal anomalies.</a:t>
              </a:r>
            </a:p>
            <a:p>
              <a:pPr algn="just" marL="377824" indent="-188912" lvl="1">
                <a:lnSpc>
                  <a:spcPts val="2099"/>
                </a:lnSpc>
                <a:spcBef>
                  <a:spcPct val="0"/>
                </a:spcBef>
                <a:buFont typeface="Arial"/>
                <a:buChar char="•"/>
              </a:pPr>
              <a:r>
                <a:rPr lang="en-US" b="true" sz="1749">
                  <a:solidFill>
                    <a:srgbClr val="000000"/>
                  </a:solidFill>
                  <a:latin typeface="Calibri (MS) Bold"/>
                  <a:ea typeface="Calibri (MS) Bold"/>
                  <a:cs typeface="Calibri (MS) Bold"/>
                  <a:sym typeface="Calibri (MS) Bold"/>
                </a:rPr>
                <a:t>Geospatial Feature Engineering:</a:t>
              </a:r>
              <a:r>
                <a:rPr lang="en-US" sz="1749">
                  <a:solidFill>
                    <a:srgbClr val="000000"/>
                  </a:solidFill>
                  <a:latin typeface="Calibri (MS)"/>
                  <a:ea typeface="Calibri (MS)"/>
                  <a:cs typeface="Calibri (MS)"/>
                  <a:sym typeface="Calibri (MS)"/>
                </a:rPr>
                <a:t> Extracts thermal, spatial, temporal, proximity and land-cover features around each FIRMS detection.</a:t>
              </a:r>
            </a:p>
            <a:p>
              <a:pPr algn="just" marL="377824" indent="-188912" lvl="1">
                <a:lnSpc>
                  <a:spcPts val="2099"/>
                </a:lnSpc>
                <a:spcBef>
                  <a:spcPct val="0"/>
                </a:spcBef>
                <a:buFont typeface="Arial"/>
                <a:buChar char="•"/>
              </a:pPr>
              <a:r>
                <a:rPr lang="en-US" b="true" sz="1749">
                  <a:solidFill>
                    <a:srgbClr val="000000"/>
                  </a:solidFill>
                  <a:latin typeface="Calibri (MS) Bold"/>
                  <a:ea typeface="Calibri (MS) Bold"/>
                  <a:cs typeface="Calibri (MS) Bold"/>
                  <a:sym typeface="Calibri (MS) Bold"/>
                </a:rPr>
                <a:t>AI Fire Classification Engine:</a:t>
              </a:r>
              <a:r>
                <a:rPr lang="en-US" sz="1749">
                  <a:solidFill>
                    <a:srgbClr val="000000"/>
                  </a:solidFill>
                  <a:latin typeface="Calibri (MS)"/>
                  <a:ea typeface="Calibri (MS)"/>
                  <a:cs typeface="Calibri (MS)"/>
                  <a:sym typeface="Calibri (MS)"/>
                </a:rPr>
                <a:t> Uses Machine Learning to learn patterns and classify FIRMS-detected anomalies into industrial and non-industrial fire/thermal-source categories.</a:t>
              </a:r>
            </a:p>
            <a:p>
              <a:pPr algn="just" marL="377824" indent="-188912" lvl="1">
                <a:lnSpc>
                  <a:spcPts val="2099"/>
                </a:lnSpc>
                <a:spcBef>
                  <a:spcPct val="0"/>
                </a:spcBef>
                <a:buFont typeface="Arial"/>
                <a:buChar char="•"/>
              </a:pPr>
              <a:r>
                <a:rPr lang="en-US" b="true" sz="1749">
                  <a:solidFill>
                    <a:srgbClr val="000000"/>
                  </a:solidFill>
                  <a:latin typeface="Calibri (MS) Bold"/>
                  <a:ea typeface="Calibri (MS) Bold"/>
                  <a:cs typeface="Calibri (MS) Bold"/>
                  <a:sym typeface="Calibri (MS) Bold"/>
                </a:rPr>
                <a:t>Dynamic FIRMS Monitoring:</a:t>
              </a:r>
              <a:r>
                <a:rPr lang="en-US" sz="1749">
                  <a:solidFill>
                    <a:srgbClr val="000000"/>
                  </a:solidFill>
                  <a:latin typeface="Calibri (MS)"/>
                  <a:ea typeface="Calibri (MS)"/>
                  <a:cs typeface="Calibri (MS)"/>
                  <a:sym typeface="Calibri (MS)"/>
                </a:rPr>
                <a:t> Applies the trained pipeline to NASA FIRMS NRT/URT detections to classify newly detected thermal anomalies.</a:t>
              </a:r>
            </a:p>
            <a:p>
              <a:pPr algn="just" marL="377824" indent="-188912" lvl="1">
                <a:lnSpc>
                  <a:spcPts val="2099"/>
                </a:lnSpc>
                <a:spcBef>
                  <a:spcPct val="0"/>
                </a:spcBef>
                <a:buFont typeface="Arial"/>
                <a:buChar char="•"/>
              </a:pPr>
              <a:r>
                <a:rPr lang="en-US" b="true" sz="1749">
                  <a:solidFill>
                    <a:srgbClr val="000000"/>
                  </a:solidFill>
                  <a:latin typeface="Calibri (MS) Bold"/>
                  <a:ea typeface="Calibri (MS) Bold"/>
                  <a:cs typeface="Calibri (MS) Bold"/>
                  <a:sym typeface="Calibri (MS) Bold"/>
                </a:rPr>
                <a:t>GIS-Based Intelligence:</a:t>
              </a:r>
              <a:r>
                <a:rPr lang="en-US" sz="1749">
                  <a:solidFill>
                    <a:srgbClr val="000000"/>
                  </a:solidFill>
                  <a:latin typeface="Calibri (MS)"/>
                  <a:ea typeface="Calibri (MS)"/>
                  <a:cs typeface="Calibri (MS)"/>
                  <a:sym typeface="Calibri (MS)"/>
                </a:rPr>
                <a:t> Displays classified anomalies as map overlays with location, source category and confidence, enabling easier monitoring and decision-making.</a:t>
              </a:r>
            </a:p>
            <a:p>
              <a:pPr algn="just">
                <a:lnSpc>
                  <a:spcPts val="2099"/>
                </a:lnSpc>
                <a:spcBef>
                  <a:spcPct val="0"/>
                </a:spcBef>
              </a:pPr>
            </a:p>
          </p:txBody>
        </p:sp>
        <p:sp>
          <p:nvSpPr>
            <p:cNvPr name="TextBox 22" id="22"/>
            <p:cNvSpPr txBox="true"/>
            <p:nvPr/>
          </p:nvSpPr>
          <p:spPr>
            <a:xfrm rot="0">
              <a:off x="3072656" y="0"/>
              <a:ext cx="6358424" cy="520700"/>
            </a:xfrm>
            <a:prstGeom prst="rect">
              <a:avLst/>
            </a:prstGeom>
          </p:spPr>
          <p:txBody>
            <a:bodyPr anchor="t" rtlCol="false" tIns="0" lIns="0" bIns="0" rIns="0">
              <a:spAutoFit/>
            </a:bodyPr>
            <a:lstStyle/>
            <a:p>
              <a:pPr algn="l">
                <a:lnSpc>
                  <a:spcPts val="3119"/>
                </a:lnSpc>
                <a:spcBef>
                  <a:spcPct val="0"/>
                </a:spcBef>
              </a:pPr>
            </a:p>
          </p:txBody>
        </p:sp>
      </p:grpSp>
      <p:sp>
        <p:nvSpPr>
          <p:cNvPr name="Freeform 23" id="23"/>
          <p:cNvSpPr/>
          <p:nvPr/>
        </p:nvSpPr>
        <p:spPr>
          <a:xfrm flipH="false" flipV="false" rot="0">
            <a:off x="12096412" y="1916184"/>
            <a:ext cx="5920552" cy="483534"/>
          </a:xfrm>
          <a:custGeom>
            <a:avLst/>
            <a:gdLst/>
            <a:ahLst/>
            <a:cxnLst/>
            <a:rect r="r" b="b" t="t" l="l"/>
            <a:pathLst>
              <a:path h="483534" w="5920552">
                <a:moveTo>
                  <a:pt x="0" y="0"/>
                </a:moveTo>
                <a:lnTo>
                  <a:pt x="5920553" y="0"/>
                </a:lnTo>
                <a:lnTo>
                  <a:pt x="5920553" y="483534"/>
                </a:lnTo>
                <a:lnTo>
                  <a:pt x="0" y="483534"/>
                </a:lnTo>
                <a:lnTo>
                  <a:pt x="0" y="0"/>
                </a:lnTo>
                <a:close/>
              </a:path>
            </a:pathLst>
          </a:custGeom>
          <a:blipFill>
            <a:blip r:embed="rId4"/>
            <a:stretch>
              <a:fillRect l="-100113" t="-185961" r="-44322" b="-13334"/>
            </a:stretch>
          </a:blipFill>
        </p:spPr>
      </p:sp>
      <p:grpSp>
        <p:nvGrpSpPr>
          <p:cNvPr name="Group 24" id="24"/>
          <p:cNvGrpSpPr/>
          <p:nvPr/>
        </p:nvGrpSpPr>
        <p:grpSpPr>
          <a:xfrm rot="0">
            <a:off x="14670129" y="2248"/>
            <a:ext cx="3374774" cy="1593504"/>
            <a:chOff x="0" y="0"/>
            <a:chExt cx="4499699" cy="2124672"/>
          </a:xfrm>
        </p:grpSpPr>
        <p:sp>
          <p:nvSpPr>
            <p:cNvPr name="Freeform 25" id="25"/>
            <p:cNvSpPr/>
            <p:nvPr/>
          </p:nvSpPr>
          <p:spPr>
            <a:xfrm flipH="false" flipV="false" rot="0">
              <a:off x="0" y="0"/>
              <a:ext cx="4499737" cy="2124710"/>
            </a:xfrm>
            <a:custGeom>
              <a:avLst/>
              <a:gdLst/>
              <a:ahLst/>
              <a:cxnLst/>
              <a:rect r="r" b="b" t="t" l="l"/>
              <a:pathLst>
                <a:path h="2124710" w="4499737">
                  <a:moveTo>
                    <a:pt x="0" y="0"/>
                  </a:moveTo>
                  <a:lnTo>
                    <a:pt x="4499737" y="0"/>
                  </a:lnTo>
                  <a:lnTo>
                    <a:pt x="4499737" y="2124710"/>
                  </a:lnTo>
                  <a:lnTo>
                    <a:pt x="0" y="2124710"/>
                  </a:lnTo>
                  <a:lnTo>
                    <a:pt x="0" y="0"/>
                  </a:lnTo>
                  <a:close/>
                </a:path>
              </a:pathLst>
            </a:custGeom>
            <a:blipFill>
              <a:blip r:embed="rId5"/>
              <a:stretch>
                <a:fillRect l="0" t="0" r="0" b="1"/>
              </a:stretch>
            </a:blipFill>
          </p:spPr>
        </p:sp>
      </p:grpSp>
      <p:grpSp>
        <p:nvGrpSpPr>
          <p:cNvPr name="Group 26" id="26"/>
          <p:cNvGrpSpPr/>
          <p:nvPr/>
        </p:nvGrpSpPr>
        <p:grpSpPr>
          <a:xfrm rot="0">
            <a:off x="12062886" y="1788508"/>
            <a:ext cx="6020858" cy="3484354"/>
            <a:chOff x="0" y="0"/>
            <a:chExt cx="1585740" cy="917690"/>
          </a:xfrm>
        </p:grpSpPr>
        <p:sp>
          <p:nvSpPr>
            <p:cNvPr name="Freeform 27" id="27"/>
            <p:cNvSpPr/>
            <p:nvPr/>
          </p:nvSpPr>
          <p:spPr>
            <a:xfrm flipH="false" flipV="false" rot="0">
              <a:off x="0" y="0"/>
              <a:ext cx="1585741" cy="917690"/>
            </a:xfrm>
            <a:custGeom>
              <a:avLst/>
              <a:gdLst/>
              <a:ahLst/>
              <a:cxnLst/>
              <a:rect r="r" b="b" t="t" l="l"/>
              <a:pathLst>
                <a:path h="917690" w="1585741">
                  <a:moveTo>
                    <a:pt x="0" y="0"/>
                  </a:moveTo>
                  <a:lnTo>
                    <a:pt x="1585741" y="0"/>
                  </a:lnTo>
                  <a:lnTo>
                    <a:pt x="1585741" y="917690"/>
                  </a:lnTo>
                  <a:lnTo>
                    <a:pt x="0" y="917690"/>
                  </a:lnTo>
                  <a:close/>
                </a:path>
              </a:pathLst>
            </a:custGeom>
            <a:solidFill>
              <a:srgbClr val="FBFCF9"/>
            </a:solidFill>
            <a:ln w="38100" cap="sq">
              <a:solidFill>
                <a:srgbClr val="000000"/>
              </a:solidFill>
              <a:prstDash val="solid"/>
              <a:miter/>
            </a:ln>
          </p:spPr>
        </p:sp>
        <p:sp>
          <p:nvSpPr>
            <p:cNvPr name="TextBox 28" id="28"/>
            <p:cNvSpPr txBox="true"/>
            <p:nvPr/>
          </p:nvSpPr>
          <p:spPr>
            <a:xfrm>
              <a:off x="0" y="0"/>
              <a:ext cx="1585740" cy="917690"/>
            </a:xfrm>
            <a:prstGeom prst="rect">
              <a:avLst/>
            </a:prstGeom>
          </p:spPr>
          <p:txBody>
            <a:bodyPr anchor="ctr" rtlCol="false" tIns="50800" lIns="50800" bIns="50800" rIns="50800"/>
            <a:lstStyle/>
            <a:p>
              <a:pPr algn="l">
                <a:lnSpc>
                  <a:spcPts val="2099"/>
                </a:lnSpc>
              </a:pPr>
            </a:p>
          </p:txBody>
        </p:sp>
      </p:grpSp>
      <p:sp>
        <p:nvSpPr>
          <p:cNvPr name="Freeform 29" id="29"/>
          <p:cNvSpPr/>
          <p:nvPr/>
        </p:nvSpPr>
        <p:spPr>
          <a:xfrm flipH="false" flipV="false" rot="0">
            <a:off x="12253297" y="1937798"/>
            <a:ext cx="5640035" cy="440305"/>
          </a:xfrm>
          <a:custGeom>
            <a:avLst/>
            <a:gdLst/>
            <a:ahLst/>
            <a:cxnLst/>
            <a:rect r="r" b="b" t="t" l="l"/>
            <a:pathLst>
              <a:path h="440305" w="5640035">
                <a:moveTo>
                  <a:pt x="0" y="0"/>
                </a:moveTo>
                <a:lnTo>
                  <a:pt x="5640036" y="0"/>
                </a:lnTo>
                <a:lnTo>
                  <a:pt x="5640036" y="440305"/>
                </a:lnTo>
                <a:lnTo>
                  <a:pt x="0" y="440305"/>
                </a:lnTo>
                <a:lnTo>
                  <a:pt x="0" y="0"/>
                </a:lnTo>
                <a:close/>
              </a:path>
            </a:pathLst>
          </a:custGeom>
          <a:blipFill>
            <a:blip r:embed="rId4">
              <a:alphaModFix amt="70000"/>
            </a:blip>
            <a:stretch>
              <a:fillRect l="-134727" t="-243126" r="-70752" b="-48174"/>
            </a:stretch>
          </a:blipFill>
          <a:ln cap="sq">
            <a:noFill/>
            <a:prstDash val="solid"/>
            <a:miter/>
          </a:ln>
        </p:spPr>
      </p:sp>
      <p:grpSp>
        <p:nvGrpSpPr>
          <p:cNvPr name="Group 30" id="30"/>
          <p:cNvGrpSpPr/>
          <p:nvPr/>
        </p:nvGrpSpPr>
        <p:grpSpPr>
          <a:xfrm rot="0">
            <a:off x="12029633" y="5406367"/>
            <a:ext cx="6054111" cy="3933020"/>
            <a:chOff x="0" y="0"/>
            <a:chExt cx="1594498" cy="1035857"/>
          </a:xfrm>
        </p:grpSpPr>
        <p:sp>
          <p:nvSpPr>
            <p:cNvPr name="Freeform 31" id="31"/>
            <p:cNvSpPr/>
            <p:nvPr/>
          </p:nvSpPr>
          <p:spPr>
            <a:xfrm flipH="false" flipV="false" rot="0">
              <a:off x="0" y="0"/>
              <a:ext cx="1594499" cy="1035857"/>
            </a:xfrm>
            <a:custGeom>
              <a:avLst/>
              <a:gdLst/>
              <a:ahLst/>
              <a:cxnLst/>
              <a:rect r="r" b="b" t="t" l="l"/>
              <a:pathLst>
                <a:path h="1035857" w="1594499">
                  <a:moveTo>
                    <a:pt x="0" y="0"/>
                  </a:moveTo>
                  <a:lnTo>
                    <a:pt x="1594499" y="0"/>
                  </a:lnTo>
                  <a:lnTo>
                    <a:pt x="1594499" y="1035857"/>
                  </a:lnTo>
                  <a:lnTo>
                    <a:pt x="0" y="1035857"/>
                  </a:lnTo>
                  <a:close/>
                </a:path>
              </a:pathLst>
            </a:custGeom>
            <a:solidFill>
              <a:srgbClr val="FBFCF9"/>
            </a:solidFill>
            <a:ln w="38100" cap="sq">
              <a:solidFill>
                <a:srgbClr val="000000"/>
              </a:solidFill>
              <a:prstDash val="solid"/>
              <a:miter/>
            </a:ln>
          </p:spPr>
        </p:sp>
        <p:sp>
          <p:nvSpPr>
            <p:cNvPr name="TextBox 32" id="32"/>
            <p:cNvSpPr txBox="true"/>
            <p:nvPr/>
          </p:nvSpPr>
          <p:spPr>
            <a:xfrm>
              <a:off x="0" y="-9525"/>
              <a:ext cx="1594498" cy="1045382"/>
            </a:xfrm>
            <a:prstGeom prst="rect">
              <a:avLst/>
            </a:prstGeom>
          </p:spPr>
          <p:txBody>
            <a:bodyPr anchor="ctr" rtlCol="false" tIns="50800" lIns="50800" bIns="50800" rIns="50800"/>
            <a:lstStyle/>
            <a:p>
              <a:pPr algn="ctr">
                <a:lnSpc>
                  <a:spcPts val="2521"/>
                </a:lnSpc>
              </a:pPr>
            </a:p>
          </p:txBody>
        </p:sp>
      </p:grpSp>
      <p:sp>
        <p:nvSpPr>
          <p:cNvPr name="Freeform 33" id="33"/>
          <p:cNvSpPr/>
          <p:nvPr/>
        </p:nvSpPr>
        <p:spPr>
          <a:xfrm flipH="false" flipV="false" rot="0">
            <a:off x="12253297" y="5541455"/>
            <a:ext cx="5640035" cy="462939"/>
          </a:xfrm>
          <a:custGeom>
            <a:avLst/>
            <a:gdLst/>
            <a:ahLst/>
            <a:cxnLst/>
            <a:rect r="r" b="b" t="t" l="l"/>
            <a:pathLst>
              <a:path h="462939" w="5640035">
                <a:moveTo>
                  <a:pt x="0" y="0"/>
                </a:moveTo>
                <a:lnTo>
                  <a:pt x="5640036" y="0"/>
                </a:lnTo>
                <a:lnTo>
                  <a:pt x="5640036" y="462939"/>
                </a:lnTo>
                <a:lnTo>
                  <a:pt x="0" y="462939"/>
                </a:lnTo>
                <a:lnTo>
                  <a:pt x="0" y="0"/>
                </a:lnTo>
                <a:close/>
              </a:path>
            </a:pathLst>
          </a:custGeom>
          <a:blipFill>
            <a:blip r:embed="rId4">
              <a:alphaModFix amt="70000"/>
            </a:blip>
            <a:stretch>
              <a:fillRect l="-104090" t="-192381" r="-50055" b="-17247"/>
            </a:stretch>
          </a:blipFill>
          <a:ln cap="sq">
            <a:noFill/>
            <a:prstDash val="solid"/>
            <a:miter/>
          </a:ln>
        </p:spPr>
      </p:sp>
      <p:sp>
        <p:nvSpPr>
          <p:cNvPr name="Freeform 34" id="34"/>
          <p:cNvSpPr/>
          <p:nvPr/>
        </p:nvSpPr>
        <p:spPr>
          <a:xfrm flipH="false" flipV="false" rot="0">
            <a:off x="284134" y="2157951"/>
            <a:ext cx="5920552" cy="483534"/>
          </a:xfrm>
          <a:custGeom>
            <a:avLst/>
            <a:gdLst/>
            <a:ahLst/>
            <a:cxnLst/>
            <a:rect r="r" b="b" t="t" l="l"/>
            <a:pathLst>
              <a:path h="483534" w="5920552">
                <a:moveTo>
                  <a:pt x="0" y="0"/>
                </a:moveTo>
                <a:lnTo>
                  <a:pt x="5920552" y="0"/>
                </a:lnTo>
                <a:lnTo>
                  <a:pt x="5920552" y="483534"/>
                </a:lnTo>
                <a:lnTo>
                  <a:pt x="0" y="483534"/>
                </a:lnTo>
                <a:lnTo>
                  <a:pt x="0" y="0"/>
                </a:lnTo>
                <a:close/>
              </a:path>
            </a:pathLst>
          </a:custGeom>
          <a:blipFill>
            <a:blip r:embed="rId4">
              <a:alphaModFix amt="70000"/>
            </a:blip>
            <a:stretch>
              <a:fillRect l="-100113" t="-185961" r="-44322" b="-13334"/>
            </a:stretch>
          </a:blipFill>
        </p:spPr>
      </p:sp>
      <p:sp>
        <p:nvSpPr>
          <p:cNvPr name="Freeform 35" id="35"/>
          <p:cNvSpPr/>
          <p:nvPr/>
        </p:nvSpPr>
        <p:spPr>
          <a:xfrm flipH="false" flipV="false" rot="0">
            <a:off x="6668031" y="1911481"/>
            <a:ext cx="4951938" cy="7427907"/>
          </a:xfrm>
          <a:custGeom>
            <a:avLst/>
            <a:gdLst/>
            <a:ahLst/>
            <a:cxnLst/>
            <a:rect r="r" b="b" t="t" l="l"/>
            <a:pathLst>
              <a:path h="7427907" w="4951938">
                <a:moveTo>
                  <a:pt x="0" y="0"/>
                </a:moveTo>
                <a:lnTo>
                  <a:pt x="4951938" y="0"/>
                </a:lnTo>
                <a:lnTo>
                  <a:pt x="4951938" y="7427906"/>
                </a:lnTo>
                <a:lnTo>
                  <a:pt x="0" y="7427906"/>
                </a:lnTo>
                <a:lnTo>
                  <a:pt x="0" y="0"/>
                </a:lnTo>
                <a:close/>
              </a:path>
            </a:pathLst>
          </a:custGeom>
          <a:blipFill>
            <a:blip r:embed="rId6"/>
            <a:stretch>
              <a:fillRect l="0" t="0" r="0" b="0"/>
            </a:stretch>
          </a:blipFill>
        </p:spPr>
      </p:sp>
      <p:sp>
        <p:nvSpPr>
          <p:cNvPr name="TextBox 36" id="36"/>
          <p:cNvSpPr txBox="true"/>
          <p:nvPr/>
        </p:nvSpPr>
        <p:spPr>
          <a:xfrm rot="0">
            <a:off x="12269221" y="1953163"/>
            <a:ext cx="5461967" cy="409575"/>
          </a:xfrm>
          <a:prstGeom prst="rect">
            <a:avLst/>
          </a:prstGeom>
        </p:spPr>
        <p:txBody>
          <a:bodyPr anchor="t" rtlCol="false" tIns="0" lIns="0" bIns="0" rIns="0">
            <a:spAutoFit/>
          </a:bodyPr>
          <a:lstStyle/>
          <a:p>
            <a:pPr algn="ctr" marL="0" indent="0" lvl="0">
              <a:lnSpc>
                <a:spcPts val="3241"/>
              </a:lnSpc>
              <a:spcBef>
                <a:spcPct val="0"/>
              </a:spcBef>
            </a:pPr>
            <a:r>
              <a:rPr lang="en-US" b="true" sz="2701" strike="noStrike" u="none">
                <a:solidFill>
                  <a:srgbClr val="1E1E1E"/>
                </a:solidFill>
                <a:latin typeface="Aptos Bold"/>
                <a:ea typeface="Aptos Bold"/>
                <a:cs typeface="Aptos Bold"/>
                <a:sym typeface="Aptos Bold"/>
              </a:rPr>
              <a:t>Uniqueness</a:t>
            </a:r>
          </a:p>
        </p:txBody>
      </p:sp>
      <p:sp>
        <p:nvSpPr>
          <p:cNvPr name="TextBox 37" id="37"/>
          <p:cNvSpPr txBox="true"/>
          <p:nvPr/>
        </p:nvSpPr>
        <p:spPr>
          <a:xfrm rot="0">
            <a:off x="12701510" y="5541455"/>
            <a:ext cx="4743610" cy="409575"/>
          </a:xfrm>
          <a:prstGeom prst="rect">
            <a:avLst/>
          </a:prstGeom>
        </p:spPr>
        <p:txBody>
          <a:bodyPr anchor="t" rtlCol="false" tIns="0" lIns="0" bIns="0" rIns="0">
            <a:spAutoFit/>
          </a:bodyPr>
          <a:lstStyle/>
          <a:p>
            <a:pPr algn="just" marL="0" indent="0" lvl="0">
              <a:lnSpc>
                <a:spcPts val="3241"/>
              </a:lnSpc>
              <a:spcBef>
                <a:spcPct val="0"/>
              </a:spcBef>
            </a:pPr>
            <a:r>
              <a:rPr lang="en-US" b="true" sz="2701" strike="noStrike" u="none">
                <a:solidFill>
                  <a:srgbClr val="1E1E1E"/>
                </a:solidFill>
                <a:latin typeface="Aptos Bold"/>
                <a:ea typeface="Aptos Bold"/>
                <a:cs typeface="Aptos Bold"/>
                <a:sym typeface="Aptos Bold"/>
              </a:rPr>
              <a:t>How it Addresses the Problem</a:t>
            </a:r>
          </a:p>
        </p:txBody>
      </p:sp>
      <p:sp>
        <p:nvSpPr>
          <p:cNvPr name="TextBox 38" id="38"/>
          <p:cNvSpPr txBox="true"/>
          <p:nvPr/>
        </p:nvSpPr>
        <p:spPr>
          <a:xfrm rot="0">
            <a:off x="12208429" y="6061544"/>
            <a:ext cx="5696519" cy="3124200"/>
          </a:xfrm>
          <a:prstGeom prst="rect">
            <a:avLst/>
          </a:prstGeom>
        </p:spPr>
        <p:txBody>
          <a:bodyPr anchor="t" rtlCol="false" tIns="0" lIns="0" bIns="0" rIns="0">
            <a:spAutoFit/>
          </a:bodyPr>
          <a:lstStyle/>
          <a:p>
            <a:pPr algn="just" marL="377810" indent="-188905" lvl="1">
              <a:lnSpc>
                <a:spcPts val="2099"/>
              </a:lnSpc>
              <a:spcBef>
                <a:spcPct val="0"/>
              </a:spcBef>
              <a:buFont typeface="Arial"/>
              <a:buChar char="•"/>
            </a:pPr>
            <a:r>
              <a:rPr lang="en-US" sz="1749" strike="noStrike" u="none">
                <a:solidFill>
                  <a:srgbClr val="000000"/>
                </a:solidFill>
                <a:latin typeface="Calibri (MS)"/>
                <a:ea typeface="Calibri (MS)"/>
                <a:cs typeface="Calibri (MS)"/>
                <a:sym typeface="Calibri (MS)"/>
              </a:rPr>
              <a:t>NASA FIRMS detects the initial thermal anomalies.</a:t>
            </a:r>
          </a:p>
          <a:p>
            <a:pPr algn="just" marL="377810" indent="-188905" lvl="1">
              <a:lnSpc>
                <a:spcPts val="2099"/>
              </a:lnSpc>
              <a:spcBef>
                <a:spcPct val="0"/>
              </a:spcBef>
              <a:buFont typeface="Arial"/>
              <a:buChar char="•"/>
            </a:pPr>
            <a:r>
              <a:rPr lang="en-US" sz="1749" strike="noStrike" u="none">
                <a:solidFill>
                  <a:srgbClr val="000000"/>
                </a:solidFill>
                <a:latin typeface="Calibri (MS)"/>
                <a:ea typeface="Calibri (MS)"/>
                <a:cs typeface="Calibri (MS)"/>
                <a:sym typeface="Calibri (MS)"/>
              </a:rPr>
              <a:t>OSM and land-cover data provide context around each detected location.</a:t>
            </a:r>
          </a:p>
          <a:p>
            <a:pPr algn="just" marL="377810" indent="-188905" lvl="1">
              <a:lnSpc>
                <a:spcPts val="2099"/>
              </a:lnSpc>
              <a:spcBef>
                <a:spcPct val="0"/>
              </a:spcBef>
              <a:buFont typeface="Arial"/>
              <a:buChar char="•"/>
            </a:pPr>
            <a:r>
              <a:rPr lang="en-US" sz="1749" strike="noStrike" u="none">
                <a:solidFill>
                  <a:srgbClr val="000000"/>
                </a:solidFill>
                <a:latin typeface="Calibri (MS)"/>
                <a:ea typeface="Calibri (MS)"/>
                <a:cs typeface="Calibri (MS)"/>
                <a:sym typeface="Calibri (MS)"/>
              </a:rPr>
              <a:t>Feature engineering extracts meaningful spatial, thermal and temporal patterns.</a:t>
            </a:r>
          </a:p>
          <a:p>
            <a:pPr algn="just" marL="377810" indent="-188905" lvl="1">
              <a:lnSpc>
                <a:spcPts val="2099"/>
              </a:lnSpc>
              <a:spcBef>
                <a:spcPct val="0"/>
              </a:spcBef>
              <a:buFont typeface="Arial"/>
              <a:buChar char="•"/>
            </a:pPr>
            <a:r>
              <a:rPr lang="en-US" sz="1749" strike="noStrike" u="none">
                <a:solidFill>
                  <a:srgbClr val="000000"/>
                </a:solidFill>
                <a:latin typeface="Calibri (MS)"/>
                <a:ea typeface="Calibri (MS)"/>
                <a:cs typeface="Calibri (MS)"/>
                <a:sym typeface="Calibri (MS)"/>
              </a:rPr>
              <a:t>Machine learning classifies the detected anomalies into relevant fire/thermal-source categories.</a:t>
            </a:r>
          </a:p>
          <a:p>
            <a:pPr algn="just" marL="377810" indent="-188905" lvl="1">
              <a:lnSpc>
                <a:spcPts val="2099"/>
              </a:lnSpc>
              <a:spcBef>
                <a:spcPct val="0"/>
              </a:spcBef>
              <a:buFont typeface="Arial"/>
              <a:buChar char="•"/>
            </a:pPr>
            <a:r>
              <a:rPr lang="en-US" sz="1749" strike="noStrike" u="none">
                <a:solidFill>
                  <a:srgbClr val="000000"/>
                </a:solidFill>
                <a:latin typeface="Calibri (MS)"/>
                <a:ea typeface="Calibri (MS)"/>
                <a:cs typeface="Calibri (MS)"/>
                <a:sym typeface="Calibri (MS)"/>
              </a:rPr>
              <a:t>NRT/URT FIRMS data enables the pipeline to process new detections for ongoing monitoring.</a:t>
            </a:r>
          </a:p>
          <a:p>
            <a:pPr algn="just" marL="377810" indent="-188905" lvl="1">
              <a:lnSpc>
                <a:spcPts val="2099"/>
              </a:lnSpc>
              <a:spcBef>
                <a:spcPct val="0"/>
              </a:spcBef>
              <a:buFont typeface="Arial"/>
              <a:buChar char="•"/>
            </a:pPr>
            <a:r>
              <a:rPr lang="en-US" sz="1749" strike="noStrike" u="none">
                <a:solidFill>
                  <a:srgbClr val="000000"/>
                </a:solidFill>
                <a:latin typeface="Calibri (MS)"/>
                <a:ea typeface="Calibri (MS)"/>
                <a:cs typeface="Calibri (MS)"/>
                <a:sym typeface="Calibri (MS)"/>
              </a:rPr>
              <a:t>GIS visualization overlays the classified results on maps, helping authorities identify and prioritize industrial and persistent thermal sources.</a:t>
            </a:r>
          </a:p>
        </p:txBody>
      </p:sp>
      <p:sp>
        <p:nvSpPr>
          <p:cNvPr name="TextBox 39" id="39"/>
          <p:cNvSpPr txBox="true"/>
          <p:nvPr/>
        </p:nvSpPr>
        <p:spPr>
          <a:xfrm rot="0">
            <a:off x="12208429" y="2464390"/>
            <a:ext cx="5583552" cy="2679110"/>
          </a:xfrm>
          <a:prstGeom prst="rect">
            <a:avLst/>
          </a:prstGeom>
        </p:spPr>
        <p:txBody>
          <a:bodyPr anchor="t" rtlCol="false" tIns="0" lIns="0" bIns="0" rIns="0">
            <a:spAutoFit/>
          </a:bodyPr>
          <a:lstStyle/>
          <a:p>
            <a:pPr algn="just" marL="377824" indent="-188912" lvl="1">
              <a:lnSpc>
                <a:spcPts val="2099"/>
              </a:lnSpc>
              <a:spcBef>
                <a:spcPct val="0"/>
              </a:spcBef>
              <a:buFont typeface="Arial"/>
              <a:buChar char="•"/>
            </a:pPr>
            <a:r>
              <a:rPr lang="en-US" sz="1749" strike="noStrike" u="none">
                <a:solidFill>
                  <a:srgbClr val="000000"/>
                </a:solidFill>
                <a:latin typeface="Calibri (MS)"/>
                <a:ea typeface="Calibri (MS)"/>
                <a:cs typeface="Calibri (MS)"/>
                <a:sym typeface="Calibri (MS)"/>
              </a:rPr>
              <a:t>Multi-Source Fire AI — Contextualizes and classifies FIRMS thermal anomalies.</a:t>
            </a:r>
          </a:p>
          <a:p>
            <a:pPr algn="just" marL="377824" indent="-188912" lvl="1">
              <a:lnSpc>
                <a:spcPts val="2099"/>
              </a:lnSpc>
              <a:spcBef>
                <a:spcPct val="0"/>
              </a:spcBef>
              <a:buFont typeface="Arial"/>
              <a:buChar char="•"/>
            </a:pPr>
            <a:r>
              <a:rPr lang="en-US" sz="1749" strike="noStrike" u="none">
                <a:solidFill>
                  <a:srgbClr val="000000"/>
                </a:solidFill>
                <a:latin typeface="Calibri (MS)"/>
                <a:ea typeface="Calibri (MS)"/>
                <a:cs typeface="Calibri (MS)"/>
                <a:sym typeface="Calibri (MS)"/>
              </a:rPr>
              <a:t>Facility Thermal Fingerprint — Detects deviations from each facility’s normal behaviour.</a:t>
            </a:r>
          </a:p>
          <a:p>
            <a:pPr algn="just" marL="377824" indent="-188912" lvl="1">
              <a:lnSpc>
                <a:spcPts val="2099"/>
              </a:lnSpc>
              <a:spcBef>
                <a:spcPct val="0"/>
              </a:spcBef>
              <a:buFont typeface="Arial"/>
              <a:buChar char="•"/>
            </a:pPr>
            <a:r>
              <a:rPr lang="en-US" sz="1749" strike="noStrike" u="none">
                <a:solidFill>
                  <a:srgbClr val="000000"/>
                </a:solidFill>
                <a:latin typeface="Calibri (MS)"/>
                <a:ea typeface="Calibri (MS)"/>
                <a:cs typeface="Calibri (MS)"/>
                <a:sym typeface="Calibri (MS)"/>
              </a:rPr>
              <a:t>Dynamic Fire-Risk Map — Maps changing fire risk from fuel and environmental conditions.</a:t>
            </a:r>
          </a:p>
          <a:p>
            <a:pPr algn="just" marL="377824" indent="-188912" lvl="1">
              <a:lnSpc>
                <a:spcPts val="2099"/>
              </a:lnSpc>
              <a:spcBef>
                <a:spcPct val="0"/>
              </a:spcBef>
              <a:buFont typeface="Arial"/>
              <a:buChar char="•"/>
            </a:pPr>
            <a:r>
              <a:rPr lang="en-US" sz="1749" strike="noStrike" u="none">
                <a:solidFill>
                  <a:srgbClr val="000000"/>
                </a:solidFill>
                <a:latin typeface="Calibri (MS)"/>
                <a:ea typeface="Calibri (MS)"/>
                <a:cs typeface="Calibri (MS)"/>
                <a:sym typeface="Calibri (MS)"/>
              </a:rPr>
              <a:t>Regulatory Cross-Check — Adds regulatory context to identified industrial events.</a:t>
            </a:r>
          </a:p>
          <a:p>
            <a:pPr algn="just" marL="377824" indent="-188912" lvl="1">
              <a:lnSpc>
                <a:spcPts val="2099"/>
              </a:lnSpc>
              <a:spcBef>
                <a:spcPct val="0"/>
              </a:spcBef>
              <a:buFont typeface="Arial"/>
              <a:buChar char="•"/>
            </a:pPr>
            <a:r>
              <a:rPr lang="en-US" sz="1749" strike="noStrike" u="none">
                <a:solidFill>
                  <a:srgbClr val="000000"/>
                </a:solidFill>
                <a:latin typeface="Calibri (MS)"/>
                <a:ea typeface="Calibri (MS)"/>
                <a:cs typeface="Calibri (MS)"/>
                <a:sym typeface="Calibri (MS)"/>
              </a:rPr>
              <a:t>Continuous FIRMS Monitoring — Tracks new and persistent thermal sources.</a:t>
            </a:r>
          </a:p>
        </p:txBody>
      </p:sp>
      <p:sp>
        <p:nvSpPr>
          <p:cNvPr name="TextBox 40" id="40"/>
          <p:cNvSpPr txBox="true"/>
          <p:nvPr/>
        </p:nvSpPr>
        <p:spPr>
          <a:xfrm rot="0">
            <a:off x="6007035" y="209117"/>
            <a:ext cx="5771265" cy="847725"/>
          </a:xfrm>
          <a:prstGeom prst="rect">
            <a:avLst/>
          </a:prstGeom>
        </p:spPr>
        <p:txBody>
          <a:bodyPr anchor="t" rtlCol="false" tIns="0" lIns="0" bIns="0" rIns="0">
            <a:spAutoFit/>
          </a:bodyPr>
          <a:lstStyle/>
          <a:p>
            <a:pPr algn="ctr" marL="0" indent="0" lvl="0">
              <a:lnSpc>
                <a:spcPts val="6480"/>
              </a:lnSpc>
              <a:spcBef>
                <a:spcPct val="0"/>
              </a:spcBef>
            </a:pPr>
            <a:r>
              <a:rPr lang="en-US" b="true" sz="5400" strike="noStrike" u="none">
                <a:solidFill>
                  <a:srgbClr val="000000"/>
                </a:solidFill>
                <a:latin typeface="Times New Roman Bold"/>
                <a:ea typeface="Times New Roman Bold"/>
                <a:cs typeface="Times New Roman Bold"/>
                <a:sym typeface="Times New Roman Bold"/>
              </a:rPr>
              <a:t>IDEA TITLE</a:t>
            </a:r>
          </a:p>
        </p:txBody>
      </p:sp>
      <p:sp>
        <p:nvSpPr>
          <p:cNvPr name="TextBox 41" id="41"/>
          <p:cNvSpPr txBox="true"/>
          <p:nvPr/>
        </p:nvSpPr>
        <p:spPr>
          <a:xfrm rot="0">
            <a:off x="1028700" y="2220941"/>
            <a:ext cx="4192014" cy="409575"/>
          </a:xfrm>
          <a:prstGeom prst="rect">
            <a:avLst/>
          </a:prstGeom>
        </p:spPr>
        <p:txBody>
          <a:bodyPr anchor="t" rtlCol="false" tIns="0" lIns="0" bIns="0" rIns="0">
            <a:spAutoFit/>
          </a:bodyPr>
          <a:lstStyle/>
          <a:p>
            <a:pPr algn="ctr">
              <a:lnSpc>
                <a:spcPts val="3241"/>
              </a:lnSpc>
              <a:spcBef>
                <a:spcPct val="0"/>
              </a:spcBef>
            </a:pPr>
            <a:r>
              <a:rPr lang="en-US" b="true" sz="2701">
                <a:solidFill>
                  <a:srgbClr val="1E1E1E"/>
                </a:solidFill>
                <a:latin typeface="Aptos Bold"/>
                <a:ea typeface="Aptos Bold"/>
                <a:cs typeface="Aptos Bold"/>
                <a:sym typeface="Aptos Bold"/>
              </a:rPr>
              <a:t>Pr</a:t>
            </a:r>
            <a:r>
              <a:rPr lang="en-US" b="true" sz="2701">
                <a:solidFill>
                  <a:srgbClr val="1E1E1E"/>
                </a:solidFill>
                <a:latin typeface="Aptos Bold"/>
                <a:ea typeface="Aptos Bold"/>
                <a:cs typeface="Aptos Bold"/>
                <a:sym typeface="Aptos Bold"/>
              </a:rPr>
              <a:t>oposed Idea / Approach</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32144"/>
            <a:ext cx="18288000" cy="754856"/>
            <a:chOff x="0" y="0"/>
            <a:chExt cx="24384000" cy="1006475"/>
          </a:xfrm>
        </p:grpSpPr>
        <p:sp>
          <p:nvSpPr>
            <p:cNvPr name="Freeform 3" id="3"/>
            <p:cNvSpPr/>
            <p:nvPr/>
          </p:nvSpPr>
          <p:spPr>
            <a:xfrm flipH="false" flipV="false" rot="0">
              <a:off x="0" y="0"/>
              <a:ext cx="24384000" cy="1006475"/>
            </a:xfrm>
            <a:custGeom>
              <a:avLst/>
              <a:gdLst/>
              <a:ahLst/>
              <a:cxnLst/>
              <a:rect r="r" b="b" t="t" l="l"/>
              <a:pathLst>
                <a:path h="1006475" w="24384000">
                  <a:moveTo>
                    <a:pt x="0" y="0"/>
                  </a:moveTo>
                  <a:lnTo>
                    <a:pt x="24384000" y="0"/>
                  </a:lnTo>
                  <a:lnTo>
                    <a:pt x="24384000" y="1006475"/>
                  </a:lnTo>
                  <a:lnTo>
                    <a:pt x="0" y="1006475"/>
                  </a:lnTo>
                  <a:close/>
                </a:path>
              </a:pathLst>
            </a:custGeom>
            <a:solidFill>
              <a:srgbClr val="0070C0"/>
            </a:solidFill>
          </p:spPr>
        </p:sp>
      </p:grpSp>
      <p:grpSp>
        <p:nvGrpSpPr>
          <p:cNvPr name="Group 4" id="4"/>
          <p:cNvGrpSpPr/>
          <p:nvPr/>
        </p:nvGrpSpPr>
        <p:grpSpPr>
          <a:xfrm rot="0">
            <a:off x="13106400" y="9534525"/>
            <a:ext cx="4267200" cy="547688"/>
            <a:chOff x="0" y="0"/>
            <a:chExt cx="5689600" cy="730250"/>
          </a:xfrm>
        </p:grpSpPr>
        <p:sp>
          <p:nvSpPr>
            <p:cNvPr name="Freeform 5" id="5"/>
            <p:cNvSpPr/>
            <p:nvPr/>
          </p:nvSpPr>
          <p:spPr>
            <a:xfrm flipH="false" flipV="false" rot="0">
              <a:off x="0" y="0"/>
              <a:ext cx="5689600" cy="730250"/>
            </a:xfrm>
            <a:custGeom>
              <a:avLst/>
              <a:gdLst/>
              <a:ahLst/>
              <a:cxnLst/>
              <a:rect r="r" b="b" t="t" l="l"/>
              <a:pathLst>
                <a:path h="730250" w="5689600">
                  <a:moveTo>
                    <a:pt x="0" y="0"/>
                  </a:moveTo>
                  <a:lnTo>
                    <a:pt x="5689600" y="0"/>
                  </a:lnTo>
                  <a:lnTo>
                    <a:pt x="5689600" y="730250"/>
                  </a:lnTo>
                  <a:lnTo>
                    <a:pt x="0" y="730250"/>
                  </a:lnTo>
                  <a:close/>
                </a:path>
              </a:pathLst>
            </a:custGeom>
            <a:blipFill>
              <a:blip r:embed="rId3">
                <a:alphaModFix amt="0"/>
              </a:blip>
              <a:stretch>
                <a:fillRect l="0" t="-101813" r="0" b="-101813"/>
              </a:stretch>
            </a:blipFill>
          </p:spPr>
        </p:sp>
        <p:sp>
          <p:nvSpPr>
            <p:cNvPr name="TextBox 6" id="6"/>
            <p:cNvSpPr txBox="true"/>
            <p:nvPr/>
          </p:nvSpPr>
          <p:spPr>
            <a:xfrm>
              <a:off x="0" y="-19050"/>
              <a:ext cx="5689600" cy="749300"/>
            </a:xfrm>
            <a:prstGeom prst="rect">
              <a:avLst/>
            </a:prstGeom>
          </p:spPr>
          <p:txBody>
            <a:bodyPr anchor="ctr" rtlCol="false" tIns="0" lIns="0" bIns="0" rIns="0"/>
            <a:lstStyle/>
            <a:p>
              <a:pPr algn="r">
                <a:lnSpc>
                  <a:spcPts val="2160"/>
                </a:lnSpc>
              </a:pPr>
              <a:r>
                <a:rPr lang="en-US" sz="1800" b="true">
                  <a:solidFill>
                    <a:srgbClr val="FFFFFF"/>
                  </a:solidFill>
                  <a:latin typeface="Arimo Bold"/>
                  <a:ea typeface="Arimo Bold"/>
                  <a:cs typeface="Arimo Bold"/>
                  <a:sym typeface="Arimo Bold"/>
                </a:rPr>
                <a:t>2</a:t>
              </a:r>
            </a:p>
          </p:txBody>
        </p:sp>
      </p:grpSp>
      <p:grpSp>
        <p:nvGrpSpPr>
          <p:cNvPr name="Group 7" id="7"/>
          <p:cNvGrpSpPr/>
          <p:nvPr/>
        </p:nvGrpSpPr>
        <p:grpSpPr>
          <a:xfrm rot="0">
            <a:off x="6972300" y="9534525"/>
            <a:ext cx="4806001" cy="547688"/>
            <a:chOff x="0" y="0"/>
            <a:chExt cx="6408001" cy="730250"/>
          </a:xfrm>
        </p:grpSpPr>
        <p:sp>
          <p:nvSpPr>
            <p:cNvPr name="Freeform 8" id="8"/>
            <p:cNvSpPr/>
            <p:nvPr/>
          </p:nvSpPr>
          <p:spPr>
            <a:xfrm flipH="false" flipV="false" rot="0">
              <a:off x="0" y="0"/>
              <a:ext cx="6408000" cy="730250"/>
            </a:xfrm>
            <a:custGeom>
              <a:avLst/>
              <a:gdLst/>
              <a:ahLst/>
              <a:cxnLst/>
              <a:rect r="r" b="b" t="t" l="l"/>
              <a:pathLst>
                <a:path h="730250" w="6408000">
                  <a:moveTo>
                    <a:pt x="0" y="0"/>
                  </a:moveTo>
                  <a:lnTo>
                    <a:pt x="6408000" y="0"/>
                  </a:lnTo>
                  <a:lnTo>
                    <a:pt x="6408000" y="730250"/>
                  </a:lnTo>
                  <a:lnTo>
                    <a:pt x="0" y="730250"/>
                  </a:lnTo>
                  <a:close/>
                </a:path>
              </a:pathLst>
            </a:custGeom>
            <a:blipFill>
              <a:blip r:embed="rId3">
                <a:alphaModFix amt="0"/>
              </a:blip>
              <a:stretch>
                <a:fillRect l="0" t="-120982" r="0" b="-120982"/>
              </a:stretch>
            </a:blipFill>
          </p:spPr>
        </p:sp>
        <p:sp>
          <p:nvSpPr>
            <p:cNvPr name="TextBox 9" id="9"/>
            <p:cNvSpPr txBox="true"/>
            <p:nvPr/>
          </p:nvSpPr>
          <p:spPr>
            <a:xfrm>
              <a:off x="0" y="-19050"/>
              <a:ext cx="6408001" cy="749300"/>
            </a:xfrm>
            <a:prstGeom prst="rect">
              <a:avLst/>
            </a:prstGeom>
          </p:spPr>
          <p:txBody>
            <a:bodyPr anchor="ctr" rtlCol="false" tIns="0" lIns="0" bIns="0" rIns="0"/>
            <a:lstStyle/>
            <a:p>
              <a:pPr algn="ctr">
                <a:lnSpc>
                  <a:spcPts val="2160"/>
                </a:lnSpc>
              </a:pPr>
              <a:r>
                <a:rPr lang="en-US" sz="1800">
                  <a:solidFill>
                    <a:srgbClr val="FFFFFF"/>
                  </a:solidFill>
                  <a:latin typeface="Arimo"/>
                  <a:ea typeface="Arimo"/>
                  <a:cs typeface="Arimo"/>
                  <a:sym typeface="Arimo"/>
                </a:rPr>
                <a:t>@SIH Idea submission- Template</a:t>
              </a:r>
            </a:p>
          </p:txBody>
        </p:sp>
      </p:grpSp>
      <p:grpSp>
        <p:nvGrpSpPr>
          <p:cNvPr name="Group 10" id="10"/>
          <p:cNvGrpSpPr/>
          <p:nvPr/>
        </p:nvGrpSpPr>
        <p:grpSpPr>
          <a:xfrm rot="0">
            <a:off x="475612" y="359321"/>
            <a:ext cx="1755182" cy="1144326"/>
            <a:chOff x="0" y="0"/>
            <a:chExt cx="2554516" cy="1665468"/>
          </a:xfrm>
        </p:grpSpPr>
        <p:sp>
          <p:nvSpPr>
            <p:cNvPr name="Freeform 11" id="11" descr="Your startup LOGO"/>
            <p:cNvSpPr/>
            <p:nvPr/>
          </p:nvSpPr>
          <p:spPr>
            <a:xfrm flipH="false" flipV="false" rot="0">
              <a:off x="0" y="0"/>
              <a:ext cx="2554478" cy="1665481"/>
            </a:xfrm>
            <a:custGeom>
              <a:avLst/>
              <a:gdLst/>
              <a:ahLst/>
              <a:cxnLst/>
              <a:rect r="r" b="b" t="t" l="l"/>
              <a:pathLst>
                <a:path h="1665481" w="2554478">
                  <a:moveTo>
                    <a:pt x="0" y="832740"/>
                  </a:moveTo>
                  <a:cubicBezTo>
                    <a:pt x="0" y="372873"/>
                    <a:pt x="571881" y="0"/>
                    <a:pt x="1277239" y="0"/>
                  </a:cubicBezTo>
                  <a:cubicBezTo>
                    <a:pt x="1982597" y="0"/>
                    <a:pt x="2554478" y="372873"/>
                    <a:pt x="2554478" y="832740"/>
                  </a:cubicBezTo>
                  <a:cubicBezTo>
                    <a:pt x="2554478" y="1292608"/>
                    <a:pt x="1982597" y="1665481"/>
                    <a:pt x="1277239" y="1665481"/>
                  </a:cubicBezTo>
                  <a:cubicBezTo>
                    <a:pt x="571881" y="1665481"/>
                    <a:pt x="0" y="1292608"/>
                    <a:pt x="0" y="832740"/>
                  </a:cubicBezTo>
                  <a:close/>
                </a:path>
              </a:pathLst>
            </a:custGeom>
            <a:solidFill>
              <a:srgbClr val="FFFFFF"/>
            </a:solidFill>
            <a:ln w="38100" cap="sq">
              <a:solidFill>
                <a:srgbClr val="8064A2"/>
              </a:solidFill>
              <a:prstDash val="solid"/>
              <a:miter/>
            </a:ln>
          </p:spPr>
        </p:sp>
        <p:sp>
          <p:nvSpPr>
            <p:cNvPr name="TextBox 12" id="12"/>
            <p:cNvSpPr txBox="true"/>
            <p:nvPr/>
          </p:nvSpPr>
          <p:spPr>
            <a:xfrm>
              <a:off x="0" y="-57150"/>
              <a:ext cx="2554516" cy="1722618"/>
            </a:xfrm>
            <a:prstGeom prst="rect">
              <a:avLst/>
            </a:prstGeom>
          </p:spPr>
          <p:txBody>
            <a:bodyPr anchor="ctr" rtlCol="false" tIns="50800" lIns="50800" bIns="50800" rIns="50800"/>
            <a:lstStyle/>
            <a:p>
              <a:pPr algn="ctr">
                <a:lnSpc>
                  <a:spcPts val="3240"/>
                </a:lnSpc>
              </a:pPr>
              <a:r>
                <a:rPr lang="en-US" sz="2700">
                  <a:solidFill>
                    <a:srgbClr val="000000"/>
                  </a:solidFill>
                  <a:latin typeface="Calibri (MS)"/>
                  <a:ea typeface="Calibri (MS)"/>
                  <a:cs typeface="Calibri (MS)"/>
                  <a:sym typeface="Calibri (MS)"/>
                </a:rPr>
                <a:t>D</a:t>
              </a:r>
              <a:r>
                <a:rPr lang="en-US" sz="2700">
                  <a:solidFill>
                    <a:srgbClr val="000000"/>
                  </a:solidFill>
                  <a:latin typeface="Calibri (MS)"/>
                  <a:ea typeface="Calibri (MS)"/>
                  <a:cs typeface="Calibri (MS)"/>
                  <a:sym typeface="Calibri (MS)"/>
                </a:rPr>
                <a:t>eadlock</a:t>
              </a:r>
            </a:p>
          </p:txBody>
        </p:sp>
      </p:grpSp>
      <p:grpSp>
        <p:nvGrpSpPr>
          <p:cNvPr name="Group 13" id="13"/>
          <p:cNvGrpSpPr/>
          <p:nvPr/>
        </p:nvGrpSpPr>
        <p:grpSpPr>
          <a:xfrm rot="0">
            <a:off x="14670129" y="2248"/>
            <a:ext cx="3374774" cy="1593504"/>
            <a:chOff x="0" y="0"/>
            <a:chExt cx="4499699" cy="2124672"/>
          </a:xfrm>
        </p:grpSpPr>
        <p:sp>
          <p:nvSpPr>
            <p:cNvPr name="Freeform 14" id="14"/>
            <p:cNvSpPr/>
            <p:nvPr/>
          </p:nvSpPr>
          <p:spPr>
            <a:xfrm flipH="false" flipV="false" rot="0">
              <a:off x="0" y="0"/>
              <a:ext cx="4499737" cy="2124710"/>
            </a:xfrm>
            <a:custGeom>
              <a:avLst/>
              <a:gdLst/>
              <a:ahLst/>
              <a:cxnLst/>
              <a:rect r="r" b="b" t="t" l="l"/>
              <a:pathLst>
                <a:path h="2124710" w="4499737">
                  <a:moveTo>
                    <a:pt x="0" y="0"/>
                  </a:moveTo>
                  <a:lnTo>
                    <a:pt x="4499737" y="0"/>
                  </a:lnTo>
                  <a:lnTo>
                    <a:pt x="4499737" y="2124710"/>
                  </a:lnTo>
                  <a:lnTo>
                    <a:pt x="0" y="2124710"/>
                  </a:lnTo>
                  <a:lnTo>
                    <a:pt x="0" y="0"/>
                  </a:lnTo>
                  <a:close/>
                </a:path>
              </a:pathLst>
            </a:custGeom>
            <a:blipFill>
              <a:blip r:embed="rId4"/>
              <a:stretch>
                <a:fillRect l="0" t="0" r="0" b="1"/>
              </a:stretch>
            </a:blipFill>
          </p:spPr>
        </p:sp>
      </p:grpSp>
      <p:grpSp>
        <p:nvGrpSpPr>
          <p:cNvPr name="Group 15" id="15"/>
          <p:cNvGrpSpPr/>
          <p:nvPr/>
        </p:nvGrpSpPr>
        <p:grpSpPr>
          <a:xfrm rot="0">
            <a:off x="800100" y="-279819"/>
            <a:ext cx="16459200" cy="1714500"/>
            <a:chOff x="0" y="0"/>
            <a:chExt cx="21945600" cy="2286000"/>
          </a:xfrm>
        </p:grpSpPr>
        <p:sp>
          <p:nvSpPr>
            <p:cNvPr name="Freeform 16" id="16"/>
            <p:cNvSpPr/>
            <p:nvPr/>
          </p:nvSpPr>
          <p:spPr>
            <a:xfrm flipH="false" flipV="false" rot="0">
              <a:off x="0" y="0"/>
              <a:ext cx="21945600" cy="2286000"/>
            </a:xfrm>
            <a:custGeom>
              <a:avLst/>
              <a:gdLst/>
              <a:ahLst/>
              <a:cxnLst/>
              <a:rect r="r" b="b" t="t" l="l"/>
              <a:pathLst>
                <a:path h="2286000" w="21945600">
                  <a:moveTo>
                    <a:pt x="0" y="0"/>
                  </a:moveTo>
                  <a:lnTo>
                    <a:pt x="21945600" y="0"/>
                  </a:lnTo>
                  <a:lnTo>
                    <a:pt x="21945600" y="2286000"/>
                  </a:lnTo>
                  <a:lnTo>
                    <a:pt x="0" y="2286000"/>
                  </a:lnTo>
                  <a:close/>
                </a:path>
              </a:pathLst>
            </a:custGeom>
            <a:blipFill>
              <a:blip r:embed="rId3">
                <a:alphaModFix amt="0"/>
              </a:blip>
              <a:stretch>
                <a:fillRect l="0" t="-137056" r="0" b="-137056"/>
              </a:stretch>
            </a:blipFill>
          </p:spPr>
        </p:sp>
        <p:sp>
          <p:nvSpPr>
            <p:cNvPr name="TextBox 17" id="17"/>
            <p:cNvSpPr txBox="true"/>
            <p:nvPr/>
          </p:nvSpPr>
          <p:spPr>
            <a:xfrm>
              <a:off x="0" y="-28575"/>
              <a:ext cx="21945600" cy="2314575"/>
            </a:xfrm>
            <a:prstGeom prst="rect">
              <a:avLst/>
            </a:prstGeom>
          </p:spPr>
          <p:txBody>
            <a:bodyPr anchor="ctr" rtlCol="false" tIns="0" lIns="0" bIns="0" rIns="0"/>
            <a:lstStyle/>
            <a:p>
              <a:pPr algn="ctr">
                <a:lnSpc>
                  <a:spcPts val="6480"/>
                </a:lnSpc>
              </a:pPr>
              <a:r>
                <a:rPr lang="en-US" sz="5400" b="true">
                  <a:solidFill>
                    <a:srgbClr val="000000"/>
                  </a:solidFill>
                  <a:latin typeface="Times New Roman Bold"/>
                  <a:ea typeface="Times New Roman Bold"/>
                  <a:cs typeface="Times New Roman Bold"/>
                  <a:sym typeface="Times New Roman Bold"/>
                </a:rPr>
                <a:t>TECHNICAL APPROACH</a:t>
              </a:r>
            </a:p>
          </p:txBody>
        </p:sp>
      </p:grpSp>
      <p:sp>
        <p:nvSpPr>
          <p:cNvPr name="Freeform 18" id="18"/>
          <p:cNvSpPr/>
          <p:nvPr/>
        </p:nvSpPr>
        <p:spPr>
          <a:xfrm flipH="false" flipV="false" rot="0">
            <a:off x="204591" y="1124888"/>
            <a:ext cx="7871377" cy="8133412"/>
          </a:xfrm>
          <a:custGeom>
            <a:avLst/>
            <a:gdLst/>
            <a:ahLst/>
            <a:cxnLst/>
            <a:rect r="r" b="b" t="t" l="l"/>
            <a:pathLst>
              <a:path h="8133412" w="7871377">
                <a:moveTo>
                  <a:pt x="0" y="0"/>
                </a:moveTo>
                <a:lnTo>
                  <a:pt x="7871377" y="0"/>
                </a:lnTo>
                <a:lnTo>
                  <a:pt x="7871377" y="8133412"/>
                </a:lnTo>
                <a:lnTo>
                  <a:pt x="0" y="8133412"/>
                </a:lnTo>
                <a:lnTo>
                  <a:pt x="0" y="0"/>
                </a:lnTo>
                <a:close/>
              </a:path>
            </a:pathLst>
          </a:custGeom>
          <a:blipFill>
            <a:blip r:embed="rId5"/>
            <a:stretch>
              <a:fillRect l="0" t="-881" r="0" b="-881"/>
            </a:stretch>
          </a:blipFill>
        </p:spPr>
      </p:sp>
      <p:grpSp>
        <p:nvGrpSpPr>
          <p:cNvPr name="Group 19" id="19"/>
          <p:cNvGrpSpPr/>
          <p:nvPr/>
        </p:nvGrpSpPr>
        <p:grpSpPr>
          <a:xfrm rot="0">
            <a:off x="8068477" y="1503647"/>
            <a:ext cx="9888235" cy="5997987"/>
            <a:chOff x="0" y="0"/>
            <a:chExt cx="2916138" cy="1768865"/>
          </a:xfrm>
        </p:grpSpPr>
        <p:sp>
          <p:nvSpPr>
            <p:cNvPr name="Freeform 20" id="20"/>
            <p:cNvSpPr/>
            <p:nvPr/>
          </p:nvSpPr>
          <p:spPr>
            <a:xfrm flipH="false" flipV="false" rot="0">
              <a:off x="0" y="0"/>
              <a:ext cx="2916138" cy="1768865"/>
            </a:xfrm>
            <a:custGeom>
              <a:avLst/>
              <a:gdLst/>
              <a:ahLst/>
              <a:cxnLst/>
              <a:rect r="r" b="b" t="t" l="l"/>
              <a:pathLst>
                <a:path h="1768865" w="2916138">
                  <a:moveTo>
                    <a:pt x="0" y="0"/>
                  </a:moveTo>
                  <a:lnTo>
                    <a:pt x="2916138" y="0"/>
                  </a:lnTo>
                  <a:lnTo>
                    <a:pt x="2916138" y="1768865"/>
                  </a:lnTo>
                  <a:lnTo>
                    <a:pt x="0" y="1768865"/>
                  </a:lnTo>
                  <a:close/>
                </a:path>
              </a:pathLst>
            </a:custGeom>
            <a:solidFill>
              <a:srgbClr val="FBFCF9">
                <a:alpha val="69804"/>
              </a:srgbClr>
            </a:solidFill>
            <a:ln cap="sq">
              <a:noFill/>
              <a:prstDash val="solid"/>
              <a:miter/>
            </a:ln>
          </p:spPr>
        </p:sp>
        <p:sp>
          <p:nvSpPr>
            <p:cNvPr name="TextBox 21" id="21"/>
            <p:cNvSpPr txBox="true"/>
            <p:nvPr/>
          </p:nvSpPr>
          <p:spPr>
            <a:xfrm>
              <a:off x="0" y="-9525"/>
              <a:ext cx="2916138" cy="1778390"/>
            </a:xfrm>
            <a:prstGeom prst="rect">
              <a:avLst/>
            </a:prstGeom>
          </p:spPr>
          <p:txBody>
            <a:bodyPr anchor="ctr" rtlCol="false" tIns="50800" lIns="50800" bIns="50800" rIns="50800"/>
            <a:lstStyle/>
            <a:p>
              <a:pPr algn="ctr">
                <a:lnSpc>
                  <a:spcPts val="2521"/>
                </a:lnSpc>
              </a:pPr>
            </a:p>
          </p:txBody>
        </p:sp>
      </p:grpSp>
      <p:grpSp>
        <p:nvGrpSpPr>
          <p:cNvPr name="Group 22" id="22"/>
          <p:cNvGrpSpPr/>
          <p:nvPr/>
        </p:nvGrpSpPr>
        <p:grpSpPr>
          <a:xfrm rot="0">
            <a:off x="8129236" y="7652760"/>
            <a:ext cx="9888235" cy="1605540"/>
            <a:chOff x="0" y="0"/>
            <a:chExt cx="2916138" cy="473489"/>
          </a:xfrm>
        </p:grpSpPr>
        <p:sp>
          <p:nvSpPr>
            <p:cNvPr name="Freeform 23" id="23"/>
            <p:cNvSpPr/>
            <p:nvPr/>
          </p:nvSpPr>
          <p:spPr>
            <a:xfrm flipH="false" flipV="false" rot="0">
              <a:off x="0" y="0"/>
              <a:ext cx="2916138" cy="473489"/>
            </a:xfrm>
            <a:custGeom>
              <a:avLst/>
              <a:gdLst/>
              <a:ahLst/>
              <a:cxnLst/>
              <a:rect r="r" b="b" t="t" l="l"/>
              <a:pathLst>
                <a:path h="473489" w="2916138">
                  <a:moveTo>
                    <a:pt x="0" y="0"/>
                  </a:moveTo>
                  <a:lnTo>
                    <a:pt x="2916138" y="0"/>
                  </a:lnTo>
                  <a:lnTo>
                    <a:pt x="2916138" y="473489"/>
                  </a:lnTo>
                  <a:lnTo>
                    <a:pt x="0" y="473489"/>
                  </a:lnTo>
                  <a:close/>
                </a:path>
              </a:pathLst>
            </a:custGeom>
            <a:solidFill>
              <a:srgbClr val="FBFCF9"/>
            </a:solidFill>
            <a:ln w="38100" cap="sq">
              <a:solidFill>
                <a:srgbClr val="000000"/>
              </a:solidFill>
              <a:prstDash val="solid"/>
              <a:miter/>
            </a:ln>
          </p:spPr>
        </p:sp>
        <p:sp>
          <p:nvSpPr>
            <p:cNvPr name="TextBox 24" id="24"/>
            <p:cNvSpPr txBox="true"/>
            <p:nvPr/>
          </p:nvSpPr>
          <p:spPr>
            <a:xfrm>
              <a:off x="0" y="-9525"/>
              <a:ext cx="2916138" cy="483014"/>
            </a:xfrm>
            <a:prstGeom prst="rect">
              <a:avLst/>
            </a:prstGeom>
          </p:spPr>
          <p:txBody>
            <a:bodyPr anchor="ctr" rtlCol="false" tIns="50800" lIns="50800" bIns="50800" rIns="50800"/>
            <a:lstStyle/>
            <a:p>
              <a:pPr algn="ctr">
                <a:lnSpc>
                  <a:spcPts val="2521"/>
                </a:lnSpc>
              </a:pPr>
            </a:p>
          </p:txBody>
        </p:sp>
      </p:grpSp>
      <p:sp>
        <p:nvSpPr>
          <p:cNvPr name="Freeform 25" id="25"/>
          <p:cNvSpPr/>
          <p:nvPr/>
        </p:nvSpPr>
        <p:spPr>
          <a:xfrm flipH="false" flipV="false" rot="0">
            <a:off x="8370117" y="7755664"/>
            <a:ext cx="541970" cy="614141"/>
          </a:xfrm>
          <a:custGeom>
            <a:avLst/>
            <a:gdLst/>
            <a:ahLst/>
            <a:cxnLst/>
            <a:rect r="r" b="b" t="t" l="l"/>
            <a:pathLst>
              <a:path h="614141" w="541970">
                <a:moveTo>
                  <a:pt x="0" y="0"/>
                </a:moveTo>
                <a:lnTo>
                  <a:pt x="541970" y="0"/>
                </a:lnTo>
                <a:lnTo>
                  <a:pt x="541970" y="614141"/>
                </a:lnTo>
                <a:lnTo>
                  <a:pt x="0" y="614141"/>
                </a:lnTo>
                <a:lnTo>
                  <a:pt x="0" y="0"/>
                </a:lnTo>
                <a:close/>
              </a:path>
            </a:pathLst>
          </a:custGeom>
          <a:blipFill>
            <a:blip r:embed="rId6"/>
            <a:stretch>
              <a:fillRect l="0" t="0" r="0" b="0"/>
            </a:stretch>
          </a:blipFill>
        </p:spPr>
      </p:sp>
      <p:sp>
        <p:nvSpPr>
          <p:cNvPr name="Freeform 26" id="26"/>
          <p:cNvSpPr/>
          <p:nvPr/>
        </p:nvSpPr>
        <p:spPr>
          <a:xfrm flipH="false" flipV="false" rot="0">
            <a:off x="9794392" y="1627709"/>
            <a:ext cx="6609033" cy="615587"/>
          </a:xfrm>
          <a:custGeom>
            <a:avLst/>
            <a:gdLst/>
            <a:ahLst/>
            <a:cxnLst/>
            <a:rect r="r" b="b" t="t" l="l"/>
            <a:pathLst>
              <a:path h="615587" w="6609033">
                <a:moveTo>
                  <a:pt x="0" y="0"/>
                </a:moveTo>
                <a:lnTo>
                  <a:pt x="6609034" y="0"/>
                </a:lnTo>
                <a:lnTo>
                  <a:pt x="6609034" y="615586"/>
                </a:lnTo>
                <a:lnTo>
                  <a:pt x="0" y="615586"/>
                </a:lnTo>
                <a:lnTo>
                  <a:pt x="0" y="0"/>
                </a:lnTo>
                <a:close/>
              </a:path>
            </a:pathLst>
          </a:custGeom>
          <a:blipFill>
            <a:blip r:embed="rId7">
              <a:alphaModFix amt="70000"/>
            </a:blip>
            <a:stretch>
              <a:fillRect l="-101057" t="-164081" r="-44915" b="0"/>
            </a:stretch>
          </a:blipFill>
        </p:spPr>
      </p:sp>
      <p:sp>
        <p:nvSpPr>
          <p:cNvPr name="Freeform 27" id="27"/>
          <p:cNvSpPr/>
          <p:nvPr/>
        </p:nvSpPr>
        <p:spPr>
          <a:xfrm flipH="false" flipV="false" rot="0">
            <a:off x="8736453" y="8646030"/>
            <a:ext cx="1751038" cy="404406"/>
          </a:xfrm>
          <a:custGeom>
            <a:avLst/>
            <a:gdLst/>
            <a:ahLst/>
            <a:cxnLst/>
            <a:rect r="r" b="b" t="t" l="l"/>
            <a:pathLst>
              <a:path h="404406" w="1751038">
                <a:moveTo>
                  <a:pt x="0" y="0"/>
                </a:moveTo>
                <a:lnTo>
                  <a:pt x="1751039" y="0"/>
                </a:lnTo>
                <a:lnTo>
                  <a:pt x="1751039" y="404407"/>
                </a:lnTo>
                <a:lnTo>
                  <a:pt x="0" y="404407"/>
                </a:lnTo>
                <a:lnTo>
                  <a:pt x="0" y="0"/>
                </a:lnTo>
                <a:close/>
              </a:path>
            </a:pathLst>
          </a:custGeom>
          <a:blipFill>
            <a:blip r:embed="rId8"/>
            <a:stretch>
              <a:fillRect l="0" t="0" r="0" b="0"/>
            </a:stretch>
          </a:blipFill>
        </p:spPr>
      </p:sp>
      <p:sp>
        <p:nvSpPr>
          <p:cNvPr name="Freeform 28" id="28"/>
          <p:cNvSpPr/>
          <p:nvPr/>
        </p:nvSpPr>
        <p:spPr>
          <a:xfrm flipH="false" flipV="false" rot="0">
            <a:off x="9375300" y="7755069"/>
            <a:ext cx="1564385" cy="614736"/>
          </a:xfrm>
          <a:custGeom>
            <a:avLst/>
            <a:gdLst/>
            <a:ahLst/>
            <a:cxnLst/>
            <a:rect r="r" b="b" t="t" l="l"/>
            <a:pathLst>
              <a:path h="614736" w="1564385">
                <a:moveTo>
                  <a:pt x="0" y="0"/>
                </a:moveTo>
                <a:lnTo>
                  <a:pt x="1564386" y="0"/>
                </a:lnTo>
                <a:lnTo>
                  <a:pt x="1564386" y="614736"/>
                </a:lnTo>
                <a:lnTo>
                  <a:pt x="0" y="614736"/>
                </a:lnTo>
                <a:lnTo>
                  <a:pt x="0" y="0"/>
                </a:lnTo>
                <a:close/>
              </a:path>
            </a:pathLst>
          </a:custGeom>
          <a:blipFill>
            <a:blip r:embed="rId9"/>
            <a:stretch>
              <a:fillRect l="0" t="0" r="0" b="-3927"/>
            </a:stretch>
          </a:blipFill>
        </p:spPr>
      </p:sp>
      <p:sp>
        <p:nvSpPr>
          <p:cNvPr name="Freeform 29" id="29"/>
          <p:cNvSpPr/>
          <p:nvPr/>
        </p:nvSpPr>
        <p:spPr>
          <a:xfrm flipH="false" flipV="false" rot="0">
            <a:off x="11387410" y="7898539"/>
            <a:ext cx="1240786" cy="364754"/>
          </a:xfrm>
          <a:custGeom>
            <a:avLst/>
            <a:gdLst/>
            <a:ahLst/>
            <a:cxnLst/>
            <a:rect r="r" b="b" t="t" l="l"/>
            <a:pathLst>
              <a:path h="364754" w="1240786">
                <a:moveTo>
                  <a:pt x="0" y="0"/>
                </a:moveTo>
                <a:lnTo>
                  <a:pt x="1240786" y="0"/>
                </a:lnTo>
                <a:lnTo>
                  <a:pt x="1240786" y="364753"/>
                </a:lnTo>
                <a:lnTo>
                  <a:pt x="0" y="364753"/>
                </a:lnTo>
                <a:lnTo>
                  <a:pt x="0" y="0"/>
                </a:lnTo>
                <a:close/>
              </a:path>
            </a:pathLst>
          </a:custGeom>
          <a:blipFill>
            <a:blip r:embed="rId10"/>
            <a:stretch>
              <a:fillRect l="0" t="0" r="0" b="0"/>
            </a:stretch>
          </a:blipFill>
        </p:spPr>
      </p:sp>
      <p:sp>
        <p:nvSpPr>
          <p:cNvPr name="Freeform 30" id="30"/>
          <p:cNvSpPr/>
          <p:nvPr/>
        </p:nvSpPr>
        <p:spPr>
          <a:xfrm flipH="false" flipV="false" rot="0">
            <a:off x="10939686" y="8485189"/>
            <a:ext cx="1721803" cy="624725"/>
          </a:xfrm>
          <a:custGeom>
            <a:avLst/>
            <a:gdLst/>
            <a:ahLst/>
            <a:cxnLst/>
            <a:rect r="r" b="b" t="t" l="l"/>
            <a:pathLst>
              <a:path h="624725" w="1721803">
                <a:moveTo>
                  <a:pt x="0" y="0"/>
                </a:moveTo>
                <a:lnTo>
                  <a:pt x="1721803" y="0"/>
                </a:lnTo>
                <a:lnTo>
                  <a:pt x="1721803" y="624725"/>
                </a:lnTo>
                <a:lnTo>
                  <a:pt x="0" y="624725"/>
                </a:lnTo>
                <a:lnTo>
                  <a:pt x="0" y="0"/>
                </a:lnTo>
                <a:close/>
              </a:path>
            </a:pathLst>
          </a:custGeom>
          <a:blipFill>
            <a:blip r:embed="rId11"/>
            <a:stretch>
              <a:fillRect l="0" t="0" r="0" b="0"/>
            </a:stretch>
          </a:blipFill>
        </p:spPr>
      </p:sp>
      <p:sp>
        <p:nvSpPr>
          <p:cNvPr name="Freeform 31" id="31"/>
          <p:cNvSpPr/>
          <p:nvPr/>
        </p:nvSpPr>
        <p:spPr>
          <a:xfrm flipH="false" flipV="false" rot="0">
            <a:off x="16554677" y="7898539"/>
            <a:ext cx="1225446" cy="1092754"/>
          </a:xfrm>
          <a:custGeom>
            <a:avLst/>
            <a:gdLst/>
            <a:ahLst/>
            <a:cxnLst/>
            <a:rect r="r" b="b" t="t" l="l"/>
            <a:pathLst>
              <a:path h="1092754" w="1225446">
                <a:moveTo>
                  <a:pt x="0" y="0"/>
                </a:moveTo>
                <a:lnTo>
                  <a:pt x="1225446" y="0"/>
                </a:lnTo>
                <a:lnTo>
                  <a:pt x="1225446" y="1092754"/>
                </a:lnTo>
                <a:lnTo>
                  <a:pt x="0" y="1092754"/>
                </a:lnTo>
                <a:lnTo>
                  <a:pt x="0" y="0"/>
                </a:lnTo>
                <a:close/>
              </a:path>
            </a:pathLst>
          </a:custGeom>
          <a:blipFill>
            <a:blip r:embed="rId12"/>
            <a:stretch>
              <a:fillRect l="0" t="0" r="0" b="0"/>
            </a:stretch>
          </a:blipFill>
        </p:spPr>
      </p:sp>
      <p:sp>
        <p:nvSpPr>
          <p:cNvPr name="Freeform 32" id="32"/>
          <p:cNvSpPr/>
          <p:nvPr/>
        </p:nvSpPr>
        <p:spPr>
          <a:xfrm flipH="false" flipV="false" rot="0">
            <a:off x="13073354" y="8158707"/>
            <a:ext cx="1665829" cy="746046"/>
          </a:xfrm>
          <a:custGeom>
            <a:avLst/>
            <a:gdLst/>
            <a:ahLst/>
            <a:cxnLst/>
            <a:rect r="r" b="b" t="t" l="l"/>
            <a:pathLst>
              <a:path h="746046" w="1665829">
                <a:moveTo>
                  <a:pt x="0" y="0"/>
                </a:moveTo>
                <a:lnTo>
                  <a:pt x="1665829" y="0"/>
                </a:lnTo>
                <a:lnTo>
                  <a:pt x="1665829" y="746046"/>
                </a:lnTo>
                <a:lnTo>
                  <a:pt x="0" y="746046"/>
                </a:lnTo>
                <a:lnTo>
                  <a:pt x="0" y="0"/>
                </a:lnTo>
                <a:close/>
              </a:path>
            </a:pathLst>
          </a:custGeom>
          <a:blipFill>
            <a:blip r:embed="rId13"/>
            <a:stretch>
              <a:fillRect l="0" t="0" r="0" b="0"/>
            </a:stretch>
          </a:blipFill>
        </p:spPr>
      </p:sp>
      <p:sp>
        <p:nvSpPr>
          <p:cNvPr name="Freeform 33" id="33"/>
          <p:cNvSpPr/>
          <p:nvPr/>
        </p:nvSpPr>
        <p:spPr>
          <a:xfrm flipH="false" flipV="false" rot="0">
            <a:off x="14818353" y="8062437"/>
            <a:ext cx="1539163" cy="845504"/>
          </a:xfrm>
          <a:custGeom>
            <a:avLst/>
            <a:gdLst/>
            <a:ahLst/>
            <a:cxnLst/>
            <a:rect r="r" b="b" t="t" l="l"/>
            <a:pathLst>
              <a:path h="845504" w="1539163">
                <a:moveTo>
                  <a:pt x="0" y="0"/>
                </a:moveTo>
                <a:lnTo>
                  <a:pt x="1539163" y="0"/>
                </a:lnTo>
                <a:lnTo>
                  <a:pt x="1539163" y="845504"/>
                </a:lnTo>
                <a:lnTo>
                  <a:pt x="0" y="845504"/>
                </a:lnTo>
                <a:lnTo>
                  <a:pt x="0" y="0"/>
                </a:lnTo>
                <a:close/>
              </a:path>
            </a:pathLst>
          </a:custGeom>
          <a:blipFill>
            <a:blip r:embed="rId14"/>
            <a:stretch>
              <a:fillRect l="0" t="0" r="0" b="0"/>
            </a:stretch>
          </a:blipFill>
        </p:spPr>
      </p:sp>
      <p:grpSp>
        <p:nvGrpSpPr>
          <p:cNvPr name="Group 34" id="34"/>
          <p:cNvGrpSpPr/>
          <p:nvPr/>
        </p:nvGrpSpPr>
        <p:grpSpPr>
          <a:xfrm rot="0">
            <a:off x="8129236" y="2385166"/>
            <a:ext cx="9827475" cy="5144039"/>
            <a:chOff x="0" y="0"/>
            <a:chExt cx="2588306" cy="1354809"/>
          </a:xfrm>
        </p:grpSpPr>
        <p:sp>
          <p:nvSpPr>
            <p:cNvPr name="Freeform 35" id="35"/>
            <p:cNvSpPr/>
            <p:nvPr/>
          </p:nvSpPr>
          <p:spPr>
            <a:xfrm flipH="false" flipV="false" rot="0">
              <a:off x="0" y="0"/>
              <a:ext cx="2588306" cy="1354809"/>
            </a:xfrm>
            <a:custGeom>
              <a:avLst/>
              <a:gdLst/>
              <a:ahLst/>
              <a:cxnLst/>
              <a:rect r="r" b="b" t="t" l="l"/>
              <a:pathLst>
                <a:path h="1354809" w="2588306">
                  <a:moveTo>
                    <a:pt x="0" y="0"/>
                  </a:moveTo>
                  <a:lnTo>
                    <a:pt x="2588306" y="0"/>
                  </a:lnTo>
                  <a:lnTo>
                    <a:pt x="2588306" y="1354809"/>
                  </a:lnTo>
                  <a:lnTo>
                    <a:pt x="0" y="1354809"/>
                  </a:lnTo>
                  <a:close/>
                </a:path>
              </a:pathLst>
            </a:custGeom>
            <a:solidFill>
              <a:srgbClr val="FBFCF9"/>
            </a:solidFill>
            <a:ln w="38100" cap="sq">
              <a:solidFill>
                <a:srgbClr val="000000"/>
              </a:solidFill>
              <a:prstDash val="solid"/>
              <a:miter/>
            </a:ln>
          </p:spPr>
        </p:sp>
        <p:sp>
          <p:nvSpPr>
            <p:cNvPr name="TextBox 36" id="36"/>
            <p:cNvSpPr txBox="true"/>
            <p:nvPr/>
          </p:nvSpPr>
          <p:spPr>
            <a:xfrm>
              <a:off x="0" y="0"/>
              <a:ext cx="2588306" cy="1354809"/>
            </a:xfrm>
            <a:prstGeom prst="rect">
              <a:avLst/>
            </a:prstGeom>
          </p:spPr>
          <p:txBody>
            <a:bodyPr anchor="ctr" rtlCol="false" tIns="50800" lIns="50800" bIns="50800" rIns="50800"/>
            <a:lstStyle/>
            <a:p>
              <a:pPr algn="l">
                <a:lnSpc>
                  <a:spcPts val="2099"/>
                </a:lnSpc>
              </a:pPr>
            </a:p>
          </p:txBody>
        </p:sp>
      </p:grpSp>
      <p:sp>
        <p:nvSpPr>
          <p:cNvPr name="TextBox 37" id="37"/>
          <p:cNvSpPr txBox="true"/>
          <p:nvPr/>
        </p:nvSpPr>
        <p:spPr>
          <a:xfrm rot="0">
            <a:off x="8267122" y="2440175"/>
            <a:ext cx="9505927" cy="4972050"/>
          </a:xfrm>
          <a:prstGeom prst="rect">
            <a:avLst/>
          </a:prstGeom>
        </p:spPr>
        <p:txBody>
          <a:bodyPr anchor="t" rtlCol="false" tIns="0" lIns="0" bIns="0" rIns="0">
            <a:spAutoFit/>
          </a:bodyPr>
          <a:lstStyle/>
          <a:p>
            <a:pPr algn="l">
              <a:lnSpc>
                <a:spcPts val="3000"/>
              </a:lnSpc>
              <a:spcBef>
                <a:spcPct val="0"/>
              </a:spcBef>
            </a:pPr>
            <a:r>
              <a:rPr lang="en-US" b="true" sz="2500">
                <a:solidFill>
                  <a:srgbClr val="000000"/>
                </a:solidFill>
                <a:latin typeface="Times New Roman Bold"/>
                <a:ea typeface="Times New Roman Bold"/>
                <a:cs typeface="Times New Roman Bold"/>
                <a:sym typeface="Times New Roman Bold"/>
              </a:rPr>
              <a:t>Frontend : Web GIS Dashboard</a:t>
            </a:r>
          </a:p>
          <a:p>
            <a:pPr algn="l">
              <a:lnSpc>
                <a:spcPts val="3000"/>
              </a:lnSpc>
              <a:spcBef>
                <a:spcPct val="0"/>
              </a:spcBef>
            </a:pPr>
            <a:r>
              <a:rPr lang="en-US" sz="2500">
                <a:solidFill>
                  <a:srgbClr val="000000"/>
                </a:solidFill>
                <a:latin typeface="Times New Roman"/>
                <a:ea typeface="Times New Roman"/>
                <a:cs typeface="Times New Roman"/>
                <a:sym typeface="Times New Roman"/>
              </a:rPr>
              <a:t> React + TypeScript | Google Maps API + Leaflet.js | Leaflet-Heat + Chart.js | Vanilla CSS3</a:t>
            </a:r>
          </a:p>
          <a:p>
            <a:pPr algn="l">
              <a:lnSpc>
                <a:spcPts val="3000"/>
              </a:lnSpc>
              <a:spcBef>
                <a:spcPct val="0"/>
              </a:spcBef>
            </a:pPr>
            <a:r>
              <a:rPr lang="en-US" b="true" sz="2500">
                <a:solidFill>
                  <a:srgbClr val="000000"/>
                </a:solidFill>
                <a:latin typeface="Times New Roman Bold"/>
                <a:ea typeface="Times New Roman Bold"/>
                <a:cs typeface="Times New Roman Bold"/>
                <a:sym typeface="Times New Roman Bold"/>
              </a:rPr>
              <a:t>Backend : API &amp; ML Inference</a:t>
            </a:r>
          </a:p>
          <a:p>
            <a:pPr algn="l">
              <a:lnSpc>
                <a:spcPts val="3000"/>
              </a:lnSpc>
              <a:spcBef>
                <a:spcPct val="0"/>
              </a:spcBef>
            </a:pPr>
            <a:r>
              <a:rPr lang="en-US" b="true" sz="2500">
                <a:solidFill>
                  <a:srgbClr val="000000"/>
                </a:solidFill>
                <a:latin typeface="Times New Roman Bold"/>
                <a:ea typeface="Times New Roman Bold"/>
                <a:cs typeface="Times New Roman Bold"/>
                <a:sym typeface="Times New Roman Bold"/>
              </a:rPr>
              <a:t> </a:t>
            </a:r>
            <a:r>
              <a:rPr lang="en-US" sz="2500">
                <a:solidFill>
                  <a:srgbClr val="000000"/>
                </a:solidFill>
                <a:latin typeface="Times New Roman"/>
                <a:ea typeface="Times New Roman"/>
                <a:cs typeface="Times New Roman"/>
                <a:sym typeface="Times New Roman"/>
              </a:rPr>
              <a:t>FastAPI  |Pydantic v2 | GeoJSON</a:t>
            </a:r>
          </a:p>
          <a:p>
            <a:pPr algn="l">
              <a:lnSpc>
                <a:spcPts val="3000"/>
              </a:lnSpc>
              <a:spcBef>
                <a:spcPct val="0"/>
              </a:spcBef>
            </a:pPr>
            <a:r>
              <a:rPr lang="en-US" b="true" sz="2500">
                <a:solidFill>
                  <a:srgbClr val="000000"/>
                </a:solidFill>
                <a:latin typeface="Times New Roman Bold"/>
                <a:ea typeface="Times New Roman Bold"/>
                <a:cs typeface="Times New Roman Bold"/>
                <a:sym typeface="Times New Roman Bold"/>
              </a:rPr>
              <a:t>AI/ML Engine : Thermal Classification</a:t>
            </a:r>
          </a:p>
          <a:p>
            <a:pPr algn="l">
              <a:lnSpc>
                <a:spcPts val="3000"/>
              </a:lnSpc>
              <a:spcBef>
                <a:spcPct val="0"/>
              </a:spcBef>
            </a:pPr>
            <a:r>
              <a:rPr lang="en-US" b="true" sz="2500">
                <a:solidFill>
                  <a:srgbClr val="000000"/>
                </a:solidFill>
                <a:latin typeface="Times New Roman Bold"/>
                <a:ea typeface="Times New Roman Bold"/>
                <a:cs typeface="Times New Roman Bold"/>
                <a:sym typeface="Times New Roman Bold"/>
              </a:rPr>
              <a:t> </a:t>
            </a:r>
            <a:r>
              <a:rPr lang="en-US" sz="2500">
                <a:solidFill>
                  <a:srgbClr val="000000"/>
                </a:solidFill>
                <a:latin typeface="Times New Roman"/>
                <a:ea typeface="Times New Roman"/>
                <a:cs typeface="Times New Roman"/>
                <a:sym typeface="Times New Roman"/>
              </a:rPr>
              <a:t>Weighted XGBoost | Scikit-Learn | NumPy | Pandas | Feature Engineering</a:t>
            </a:r>
          </a:p>
          <a:p>
            <a:pPr algn="l">
              <a:lnSpc>
                <a:spcPts val="3000"/>
              </a:lnSpc>
              <a:spcBef>
                <a:spcPct val="0"/>
              </a:spcBef>
            </a:pPr>
            <a:r>
              <a:rPr lang="en-US" b="true" sz="2500">
                <a:solidFill>
                  <a:srgbClr val="000000"/>
                </a:solidFill>
                <a:latin typeface="Times New Roman Bold"/>
                <a:ea typeface="Times New Roman Bold"/>
                <a:cs typeface="Times New Roman Bold"/>
                <a:sym typeface="Times New Roman Bold"/>
              </a:rPr>
              <a:t>Satellite &amp; Geospatial Data</a:t>
            </a:r>
          </a:p>
          <a:p>
            <a:pPr algn="l">
              <a:lnSpc>
                <a:spcPts val="3000"/>
              </a:lnSpc>
              <a:spcBef>
                <a:spcPct val="0"/>
              </a:spcBef>
            </a:pPr>
            <a:r>
              <a:rPr lang="en-US" sz="2500">
                <a:solidFill>
                  <a:srgbClr val="000000"/>
                </a:solidFill>
                <a:latin typeface="Times New Roman"/>
                <a:ea typeface="Times New Roman"/>
                <a:cs typeface="Times New Roman"/>
                <a:sym typeface="Times New Roman"/>
              </a:rPr>
              <a:t>NASA FIRMS/VIIRS | ESA WorldCover 10m | OpenStreetMap | GeoPandas | Rasterio | Shapely</a:t>
            </a:r>
          </a:p>
          <a:p>
            <a:pPr algn="l">
              <a:lnSpc>
                <a:spcPts val="3000"/>
              </a:lnSpc>
              <a:spcBef>
                <a:spcPct val="0"/>
              </a:spcBef>
            </a:pPr>
            <a:r>
              <a:rPr lang="en-US" b="true" sz="2500">
                <a:solidFill>
                  <a:srgbClr val="000000"/>
                </a:solidFill>
                <a:latin typeface="Times New Roman Bold"/>
                <a:ea typeface="Times New Roman Bold"/>
                <a:cs typeface="Times New Roman Bold"/>
                <a:sym typeface="Times New Roman Bold"/>
              </a:rPr>
              <a:t>Persistence Tracking</a:t>
            </a:r>
          </a:p>
          <a:p>
            <a:pPr algn="l">
              <a:lnSpc>
                <a:spcPts val="3000"/>
              </a:lnSpc>
              <a:spcBef>
                <a:spcPct val="0"/>
              </a:spcBef>
            </a:pPr>
            <a:r>
              <a:rPr lang="en-US" sz="2500">
                <a:solidFill>
                  <a:srgbClr val="000000"/>
                </a:solidFill>
                <a:latin typeface="Times New Roman"/>
                <a:ea typeface="Times New Roman"/>
                <a:cs typeface="Times New Roman"/>
                <a:sym typeface="Times New Roman"/>
              </a:rPr>
              <a:t>DBSCAN Spatial Clustering | SciPy cKDTree | Recurrence &amp; Persistence Algorithms</a:t>
            </a:r>
          </a:p>
        </p:txBody>
      </p:sp>
      <p:sp>
        <p:nvSpPr>
          <p:cNvPr name="TextBox 38" id="38"/>
          <p:cNvSpPr txBox="true"/>
          <p:nvPr/>
        </p:nvSpPr>
        <p:spPr>
          <a:xfrm rot="0">
            <a:off x="10588526" y="1764889"/>
            <a:ext cx="4848136" cy="409575"/>
          </a:xfrm>
          <a:prstGeom prst="rect">
            <a:avLst/>
          </a:prstGeom>
        </p:spPr>
        <p:txBody>
          <a:bodyPr anchor="t" rtlCol="false" tIns="0" lIns="0" bIns="0" rIns="0">
            <a:spAutoFit/>
          </a:bodyPr>
          <a:lstStyle/>
          <a:p>
            <a:pPr algn="ctr" marL="0" indent="0" lvl="0">
              <a:lnSpc>
                <a:spcPts val="3239"/>
              </a:lnSpc>
              <a:spcBef>
                <a:spcPct val="0"/>
              </a:spcBef>
            </a:pPr>
            <a:r>
              <a:rPr lang="en-US" b="true" sz="2699" strike="noStrike" u="none">
                <a:solidFill>
                  <a:srgbClr val="1E1E1E"/>
                </a:solidFill>
                <a:latin typeface="Aptos Bold"/>
                <a:ea typeface="Aptos Bold"/>
                <a:cs typeface="Aptos Bold"/>
                <a:sym typeface="Aptos Bold"/>
              </a:rPr>
              <a:t>TECHNICAL STACK</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32144"/>
            <a:ext cx="18288000" cy="754856"/>
            <a:chOff x="0" y="0"/>
            <a:chExt cx="24384000" cy="1006475"/>
          </a:xfrm>
        </p:grpSpPr>
        <p:sp>
          <p:nvSpPr>
            <p:cNvPr name="Freeform 3" id="3"/>
            <p:cNvSpPr/>
            <p:nvPr/>
          </p:nvSpPr>
          <p:spPr>
            <a:xfrm flipH="false" flipV="false" rot="0">
              <a:off x="0" y="0"/>
              <a:ext cx="24384000" cy="1006475"/>
            </a:xfrm>
            <a:custGeom>
              <a:avLst/>
              <a:gdLst/>
              <a:ahLst/>
              <a:cxnLst/>
              <a:rect r="r" b="b" t="t" l="l"/>
              <a:pathLst>
                <a:path h="1006475" w="24384000">
                  <a:moveTo>
                    <a:pt x="0" y="0"/>
                  </a:moveTo>
                  <a:lnTo>
                    <a:pt x="24384000" y="0"/>
                  </a:lnTo>
                  <a:lnTo>
                    <a:pt x="24384000" y="1006475"/>
                  </a:lnTo>
                  <a:lnTo>
                    <a:pt x="0" y="1006475"/>
                  </a:lnTo>
                  <a:close/>
                </a:path>
              </a:pathLst>
            </a:custGeom>
            <a:solidFill>
              <a:srgbClr val="0070C0"/>
            </a:solidFill>
          </p:spPr>
        </p:sp>
      </p:grpSp>
      <p:grpSp>
        <p:nvGrpSpPr>
          <p:cNvPr name="Group 4" id="4"/>
          <p:cNvGrpSpPr/>
          <p:nvPr/>
        </p:nvGrpSpPr>
        <p:grpSpPr>
          <a:xfrm rot="0">
            <a:off x="13106400" y="9534525"/>
            <a:ext cx="4267200" cy="547688"/>
            <a:chOff x="0" y="0"/>
            <a:chExt cx="5689600" cy="730250"/>
          </a:xfrm>
        </p:grpSpPr>
        <p:sp>
          <p:nvSpPr>
            <p:cNvPr name="Freeform 5" id="5"/>
            <p:cNvSpPr/>
            <p:nvPr/>
          </p:nvSpPr>
          <p:spPr>
            <a:xfrm flipH="false" flipV="false" rot="0">
              <a:off x="0" y="0"/>
              <a:ext cx="5689600" cy="730250"/>
            </a:xfrm>
            <a:custGeom>
              <a:avLst/>
              <a:gdLst/>
              <a:ahLst/>
              <a:cxnLst/>
              <a:rect r="r" b="b" t="t" l="l"/>
              <a:pathLst>
                <a:path h="730250" w="5689600">
                  <a:moveTo>
                    <a:pt x="0" y="0"/>
                  </a:moveTo>
                  <a:lnTo>
                    <a:pt x="5689600" y="0"/>
                  </a:lnTo>
                  <a:lnTo>
                    <a:pt x="5689600" y="730250"/>
                  </a:lnTo>
                  <a:lnTo>
                    <a:pt x="0" y="730250"/>
                  </a:lnTo>
                  <a:close/>
                </a:path>
              </a:pathLst>
            </a:custGeom>
            <a:blipFill>
              <a:blip r:embed="rId3">
                <a:alphaModFix amt="0"/>
              </a:blip>
              <a:stretch>
                <a:fillRect l="0" t="-101813" r="0" b="-101813"/>
              </a:stretch>
            </a:blipFill>
          </p:spPr>
        </p:sp>
        <p:sp>
          <p:nvSpPr>
            <p:cNvPr name="TextBox 6" id="6"/>
            <p:cNvSpPr txBox="true"/>
            <p:nvPr/>
          </p:nvSpPr>
          <p:spPr>
            <a:xfrm>
              <a:off x="0" y="-19050"/>
              <a:ext cx="5689600" cy="749300"/>
            </a:xfrm>
            <a:prstGeom prst="rect">
              <a:avLst/>
            </a:prstGeom>
          </p:spPr>
          <p:txBody>
            <a:bodyPr anchor="ctr" rtlCol="false" tIns="0" lIns="0" bIns="0" rIns="0"/>
            <a:lstStyle/>
            <a:p>
              <a:pPr algn="r">
                <a:lnSpc>
                  <a:spcPts val="2160"/>
                </a:lnSpc>
              </a:pPr>
              <a:r>
                <a:rPr lang="en-US" sz="1800" b="true">
                  <a:solidFill>
                    <a:srgbClr val="FFFFFF"/>
                  </a:solidFill>
                  <a:latin typeface="Arimo Bold"/>
                  <a:ea typeface="Arimo Bold"/>
                  <a:cs typeface="Arimo Bold"/>
                  <a:sym typeface="Arimo Bold"/>
                </a:rPr>
                <a:t>2</a:t>
              </a:r>
            </a:p>
          </p:txBody>
        </p:sp>
      </p:grpSp>
      <p:grpSp>
        <p:nvGrpSpPr>
          <p:cNvPr name="Group 7" id="7"/>
          <p:cNvGrpSpPr/>
          <p:nvPr/>
        </p:nvGrpSpPr>
        <p:grpSpPr>
          <a:xfrm rot="0">
            <a:off x="6972300" y="9534525"/>
            <a:ext cx="4806001" cy="547688"/>
            <a:chOff x="0" y="0"/>
            <a:chExt cx="6408001" cy="730250"/>
          </a:xfrm>
        </p:grpSpPr>
        <p:sp>
          <p:nvSpPr>
            <p:cNvPr name="Freeform 8" id="8"/>
            <p:cNvSpPr/>
            <p:nvPr/>
          </p:nvSpPr>
          <p:spPr>
            <a:xfrm flipH="false" flipV="false" rot="0">
              <a:off x="0" y="0"/>
              <a:ext cx="6408000" cy="730250"/>
            </a:xfrm>
            <a:custGeom>
              <a:avLst/>
              <a:gdLst/>
              <a:ahLst/>
              <a:cxnLst/>
              <a:rect r="r" b="b" t="t" l="l"/>
              <a:pathLst>
                <a:path h="730250" w="6408000">
                  <a:moveTo>
                    <a:pt x="0" y="0"/>
                  </a:moveTo>
                  <a:lnTo>
                    <a:pt x="6408000" y="0"/>
                  </a:lnTo>
                  <a:lnTo>
                    <a:pt x="6408000" y="730250"/>
                  </a:lnTo>
                  <a:lnTo>
                    <a:pt x="0" y="730250"/>
                  </a:lnTo>
                  <a:close/>
                </a:path>
              </a:pathLst>
            </a:custGeom>
            <a:blipFill>
              <a:blip r:embed="rId3">
                <a:alphaModFix amt="0"/>
              </a:blip>
              <a:stretch>
                <a:fillRect l="0" t="-120982" r="0" b="-120982"/>
              </a:stretch>
            </a:blipFill>
          </p:spPr>
        </p:sp>
        <p:sp>
          <p:nvSpPr>
            <p:cNvPr name="TextBox 9" id="9"/>
            <p:cNvSpPr txBox="true"/>
            <p:nvPr/>
          </p:nvSpPr>
          <p:spPr>
            <a:xfrm>
              <a:off x="0" y="-19050"/>
              <a:ext cx="6408001" cy="749300"/>
            </a:xfrm>
            <a:prstGeom prst="rect">
              <a:avLst/>
            </a:prstGeom>
          </p:spPr>
          <p:txBody>
            <a:bodyPr anchor="ctr" rtlCol="false" tIns="0" lIns="0" bIns="0" rIns="0"/>
            <a:lstStyle/>
            <a:p>
              <a:pPr algn="ctr">
                <a:lnSpc>
                  <a:spcPts val="2160"/>
                </a:lnSpc>
              </a:pPr>
              <a:r>
                <a:rPr lang="en-US" sz="1800">
                  <a:solidFill>
                    <a:srgbClr val="FFFFFF"/>
                  </a:solidFill>
                  <a:latin typeface="Arimo"/>
                  <a:ea typeface="Arimo"/>
                  <a:cs typeface="Arimo"/>
                  <a:sym typeface="Arimo"/>
                </a:rPr>
                <a:t>@SIH Idea submission- Template</a:t>
              </a:r>
            </a:p>
          </p:txBody>
        </p:sp>
      </p:grpSp>
      <p:grpSp>
        <p:nvGrpSpPr>
          <p:cNvPr name="Group 10" id="10"/>
          <p:cNvGrpSpPr/>
          <p:nvPr/>
        </p:nvGrpSpPr>
        <p:grpSpPr>
          <a:xfrm rot="0">
            <a:off x="535425" y="74234"/>
            <a:ext cx="1755182" cy="1144326"/>
            <a:chOff x="0" y="0"/>
            <a:chExt cx="2554516" cy="1665468"/>
          </a:xfrm>
        </p:grpSpPr>
        <p:sp>
          <p:nvSpPr>
            <p:cNvPr name="Freeform 11" id="11" descr="Your startup LOGO"/>
            <p:cNvSpPr/>
            <p:nvPr/>
          </p:nvSpPr>
          <p:spPr>
            <a:xfrm flipH="false" flipV="false" rot="0">
              <a:off x="0" y="0"/>
              <a:ext cx="2554478" cy="1665481"/>
            </a:xfrm>
            <a:custGeom>
              <a:avLst/>
              <a:gdLst/>
              <a:ahLst/>
              <a:cxnLst/>
              <a:rect r="r" b="b" t="t" l="l"/>
              <a:pathLst>
                <a:path h="1665481" w="2554478">
                  <a:moveTo>
                    <a:pt x="0" y="832740"/>
                  </a:moveTo>
                  <a:cubicBezTo>
                    <a:pt x="0" y="372873"/>
                    <a:pt x="571881" y="0"/>
                    <a:pt x="1277239" y="0"/>
                  </a:cubicBezTo>
                  <a:cubicBezTo>
                    <a:pt x="1982597" y="0"/>
                    <a:pt x="2554478" y="372873"/>
                    <a:pt x="2554478" y="832740"/>
                  </a:cubicBezTo>
                  <a:cubicBezTo>
                    <a:pt x="2554478" y="1292608"/>
                    <a:pt x="1982597" y="1665481"/>
                    <a:pt x="1277239" y="1665481"/>
                  </a:cubicBezTo>
                  <a:cubicBezTo>
                    <a:pt x="571881" y="1665481"/>
                    <a:pt x="0" y="1292608"/>
                    <a:pt x="0" y="832740"/>
                  </a:cubicBezTo>
                  <a:close/>
                </a:path>
              </a:pathLst>
            </a:custGeom>
            <a:solidFill>
              <a:srgbClr val="FFFFFF"/>
            </a:solidFill>
            <a:ln w="38100" cap="sq">
              <a:solidFill>
                <a:srgbClr val="8064A2"/>
              </a:solidFill>
              <a:prstDash val="solid"/>
              <a:miter/>
            </a:ln>
          </p:spPr>
        </p:sp>
        <p:sp>
          <p:nvSpPr>
            <p:cNvPr name="TextBox 12" id="12"/>
            <p:cNvSpPr txBox="true"/>
            <p:nvPr/>
          </p:nvSpPr>
          <p:spPr>
            <a:xfrm>
              <a:off x="0" y="-57150"/>
              <a:ext cx="2554516" cy="1722618"/>
            </a:xfrm>
            <a:prstGeom prst="rect">
              <a:avLst/>
            </a:prstGeom>
          </p:spPr>
          <p:txBody>
            <a:bodyPr anchor="ctr" rtlCol="false" tIns="50800" lIns="50800" bIns="50800" rIns="50800"/>
            <a:lstStyle/>
            <a:p>
              <a:pPr algn="ctr">
                <a:lnSpc>
                  <a:spcPts val="3240"/>
                </a:lnSpc>
              </a:pPr>
              <a:r>
                <a:rPr lang="en-US" sz="2700">
                  <a:solidFill>
                    <a:srgbClr val="000000"/>
                  </a:solidFill>
                  <a:latin typeface="Calibri (MS)"/>
                  <a:ea typeface="Calibri (MS)"/>
                  <a:cs typeface="Calibri (MS)"/>
                  <a:sym typeface="Calibri (MS)"/>
                </a:rPr>
                <a:t>D</a:t>
              </a:r>
              <a:r>
                <a:rPr lang="en-US" sz="2700">
                  <a:solidFill>
                    <a:srgbClr val="000000"/>
                  </a:solidFill>
                  <a:latin typeface="Calibri (MS)"/>
                  <a:ea typeface="Calibri (MS)"/>
                  <a:cs typeface="Calibri (MS)"/>
                  <a:sym typeface="Calibri (MS)"/>
                </a:rPr>
                <a:t>eadlock</a:t>
              </a:r>
            </a:p>
          </p:txBody>
        </p:sp>
      </p:grpSp>
      <p:grpSp>
        <p:nvGrpSpPr>
          <p:cNvPr name="Group 13" id="13"/>
          <p:cNvGrpSpPr/>
          <p:nvPr/>
        </p:nvGrpSpPr>
        <p:grpSpPr>
          <a:xfrm rot="0">
            <a:off x="14670129" y="2248"/>
            <a:ext cx="3374774" cy="1593504"/>
            <a:chOff x="0" y="0"/>
            <a:chExt cx="4499699" cy="2124672"/>
          </a:xfrm>
        </p:grpSpPr>
        <p:sp>
          <p:nvSpPr>
            <p:cNvPr name="Freeform 14" id="14"/>
            <p:cNvSpPr/>
            <p:nvPr/>
          </p:nvSpPr>
          <p:spPr>
            <a:xfrm flipH="false" flipV="false" rot="0">
              <a:off x="0" y="0"/>
              <a:ext cx="4499737" cy="2124710"/>
            </a:xfrm>
            <a:custGeom>
              <a:avLst/>
              <a:gdLst/>
              <a:ahLst/>
              <a:cxnLst/>
              <a:rect r="r" b="b" t="t" l="l"/>
              <a:pathLst>
                <a:path h="2124710" w="4499737">
                  <a:moveTo>
                    <a:pt x="0" y="0"/>
                  </a:moveTo>
                  <a:lnTo>
                    <a:pt x="4499737" y="0"/>
                  </a:lnTo>
                  <a:lnTo>
                    <a:pt x="4499737" y="2124710"/>
                  </a:lnTo>
                  <a:lnTo>
                    <a:pt x="0" y="2124710"/>
                  </a:lnTo>
                  <a:lnTo>
                    <a:pt x="0" y="0"/>
                  </a:lnTo>
                  <a:close/>
                </a:path>
              </a:pathLst>
            </a:custGeom>
            <a:blipFill>
              <a:blip r:embed="rId4"/>
              <a:stretch>
                <a:fillRect l="0" t="0" r="0" b="1"/>
              </a:stretch>
            </a:blipFill>
          </p:spPr>
        </p:sp>
      </p:grpSp>
      <p:grpSp>
        <p:nvGrpSpPr>
          <p:cNvPr name="Group 15" id="15"/>
          <p:cNvGrpSpPr/>
          <p:nvPr/>
        </p:nvGrpSpPr>
        <p:grpSpPr>
          <a:xfrm rot="0">
            <a:off x="800100" y="-210853"/>
            <a:ext cx="16459200" cy="1714500"/>
            <a:chOff x="0" y="0"/>
            <a:chExt cx="21945600" cy="2286000"/>
          </a:xfrm>
        </p:grpSpPr>
        <p:sp>
          <p:nvSpPr>
            <p:cNvPr name="Freeform 16" id="16"/>
            <p:cNvSpPr/>
            <p:nvPr/>
          </p:nvSpPr>
          <p:spPr>
            <a:xfrm flipH="false" flipV="false" rot="0">
              <a:off x="0" y="0"/>
              <a:ext cx="21945600" cy="2286000"/>
            </a:xfrm>
            <a:custGeom>
              <a:avLst/>
              <a:gdLst/>
              <a:ahLst/>
              <a:cxnLst/>
              <a:rect r="r" b="b" t="t" l="l"/>
              <a:pathLst>
                <a:path h="2286000" w="21945600">
                  <a:moveTo>
                    <a:pt x="0" y="0"/>
                  </a:moveTo>
                  <a:lnTo>
                    <a:pt x="21945600" y="0"/>
                  </a:lnTo>
                  <a:lnTo>
                    <a:pt x="21945600" y="2286000"/>
                  </a:lnTo>
                  <a:lnTo>
                    <a:pt x="0" y="2286000"/>
                  </a:lnTo>
                  <a:close/>
                </a:path>
              </a:pathLst>
            </a:custGeom>
            <a:blipFill>
              <a:blip r:embed="rId5">
                <a:alphaModFix amt="0"/>
              </a:blip>
              <a:stretch>
                <a:fillRect l="-101150" t="-136280" r="-44974" b="0"/>
              </a:stretch>
            </a:blipFill>
          </p:spPr>
        </p:sp>
        <p:sp>
          <p:nvSpPr>
            <p:cNvPr name="TextBox 17" id="17"/>
            <p:cNvSpPr txBox="true"/>
            <p:nvPr/>
          </p:nvSpPr>
          <p:spPr>
            <a:xfrm>
              <a:off x="0" y="-28575"/>
              <a:ext cx="21945600" cy="2314575"/>
            </a:xfrm>
            <a:prstGeom prst="rect">
              <a:avLst/>
            </a:prstGeom>
          </p:spPr>
          <p:txBody>
            <a:bodyPr anchor="ctr" rtlCol="false" tIns="0" lIns="0" bIns="0" rIns="0"/>
            <a:lstStyle/>
            <a:p>
              <a:pPr algn="ctr">
                <a:lnSpc>
                  <a:spcPts val="6480"/>
                </a:lnSpc>
              </a:pPr>
              <a:r>
                <a:rPr lang="en-US" sz="5400" b="true">
                  <a:solidFill>
                    <a:srgbClr val="000000"/>
                  </a:solidFill>
                  <a:latin typeface="Times New Roman Bold"/>
                  <a:ea typeface="Times New Roman Bold"/>
                  <a:cs typeface="Times New Roman Bold"/>
                  <a:sym typeface="Times New Roman Bold"/>
                </a:rPr>
                <a:t>FEASIBILITY AND VIABILITY</a:t>
              </a:r>
            </a:p>
          </p:txBody>
        </p:sp>
      </p:grpSp>
      <p:grpSp>
        <p:nvGrpSpPr>
          <p:cNvPr name="Group 18" id="18"/>
          <p:cNvGrpSpPr/>
          <p:nvPr/>
        </p:nvGrpSpPr>
        <p:grpSpPr>
          <a:xfrm rot="0">
            <a:off x="289352" y="1367933"/>
            <a:ext cx="8854648" cy="4737111"/>
            <a:chOff x="0" y="0"/>
            <a:chExt cx="2332088" cy="1247634"/>
          </a:xfrm>
        </p:grpSpPr>
        <p:sp>
          <p:nvSpPr>
            <p:cNvPr name="Freeform 19" id="19"/>
            <p:cNvSpPr/>
            <p:nvPr/>
          </p:nvSpPr>
          <p:spPr>
            <a:xfrm flipH="false" flipV="false" rot="0">
              <a:off x="0" y="0"/>
              <a:ext cx="2332088" cy="1247634"/>
            </a:xfrm>
            <a:custGeom>
              <a:avLst/>
              <a:gdLst/>
              <a:ahLst/>
              <a:cxnLst/>
              <a:rect r="r" b="b" t="t" l="l"/>
              <a:pathLst>
                <a:path h="1247634" w="2332088">
                  <a:moveTo>
                    <a:pt x="0" y="0"/>
                  </a:moveTo>
                  <a:lnTo>
                    <a:pt x="2332088" y="0"/>
                  </a:lnTo>
                  <a:lnTo>
                    <a:pt x="2332088" y="1247634"/>
                  </a:lnTo>
                  <a:lnTo>
                    <a:pt x="0" y="1247634"/>
                  </a:lnTo>
                  <a:close/>
                </a:path>
              </a:pathLst>
            </a:custGeom>
            <a:solidFill>
              <a:srgbClr val="FBFCF9"/>
            </a:solidFill>
            <a:ln w="38100" cap="sq">
              <a:solidFill>
                <a:srgbClr val="000000"/>
              </a:solidFill>
              <a:prstDash val="solid"/>
              <a:miter/>
            </a:ln>
          </p:spPr>
        </p:sp>
        <p:sp>
          <p:nvSpPr>
            <p:cNvPr name="TextBox 20" id="20"/>
            <p:cNvSpPr txBox="true"/>
            <p:nvPr/>
          </p:nvSpPr>
          <p:spPr>
            <a:xfrm>
              <a:off x="0" y="9525"/>
              <a:ext cx="2332088" cy="1238109"/>
            </a:xfrm>
            <a:prstGeom prst="rect">
              <a:avLst/>
            </a:prstGeom>
          </p:spPr>
          <p:txBody>
            <a:bodyPr anchor="ctr" rtlCol="false" tIns="50800" lIns="50800" bIns="50800" rIns="50800"/>
            <a:lstStyle/>
            <a:p>
              <a:pPr algn="l">
                <a:lnSpc>
                  <a:spcPts val="3106"/>
                </a:lnSpc>
              </a:pPr>
              <a:r>
                <a:rPr lang="en-US" sz="2701" b="true">
                  <a:solidFill>
                    <a:srgbClr val="000000"/>
                  </a:solidFill>
                  <a:latin typeface="Aptos Bold"/>
                  <a:ea typeface="Aptos Bold"/>
                  <a:cs typeface="Aptos Bold"/>
                  <a:sym typeface="Aptos Bold"/>
                </a:rPr>
                <a:t>                                     </a:t>
              </a:r>
            </a:p>
            <a:p>
              <a:pPr algn="l">
                <a:lnSpc>
                  <a:spcPts val="3106"/>
                </a:lnSpc>
              </a:pPr>
            </a:p>
            <a:p>
              <a:pPr algn="l">
                <a:lnSpc>
                  <a:spcPts val="2416"/>
                </a:lnSpc>
              </a:pPr>
            </a:p>
            <a:p>
              <a:pPr algn="l">
                <a:lnSpc>
                  <a:spcPts val="2521"/>
                </a:lnSpc>
              </a:pPr>
            </a:p>
          </p:txBody>
        </p:sp>
      </p:grpSp>
      <p:grpSp>
        <p:nvGrpSpPr>
          <p:cNvPr name="Group 21" id="21"/>
          <p:cNvGrpSpPr/>
          <p:nvPr/>
        </p:nvGrpSpPr>
        <p:grpSpPr>
          <a:xfrm rot="0">
            <a:off x="9263150" y="1367933"/>
            <a:ext cx="8849939" cy="4007150"/>
            <a:chOff x="0" y="0"/>
            <a:chExt cx="6235101" cy="2823182"/>
          </a:xfrm>
        </p:grpSpPr>
        <p:sp>
          <p:nvSpPr>
            <p:cNvPr name="Freeform 22" id="22"/>
            <p:cNvSpPr/>
            <p:nvPr/>
          </p:nvSpPr>
          <p:spPr>
            <a:xfrm flipH="false" flipV="false" rot="0">
              <a:off x="0" y="0"/>
              <a:ext cx="6235101" cy="2823182"/>
            </a:xfrm>
            <a:custGeom>
              <a:avLst/>
              <a:gdLst/>
              <a:ahLst/>
              <a:cxnLst/>
              <a:rect r="r" b="b" t="t" l="l"/>
              <a:pathLst>
                <a:path h="2823182" w="6235101">
                  <a:moveTo>
                    <a:pt x="0" y="0"/>
                  </a:moveTo>
                  <a:lnTo>
                    <a:pt x="6235101" y="0"/>
                  </a:lnTo>
                  <a:lnTo>
                    <a:pt x="6235101" y="2823182"/>
                  </a:lnTo>
                  <a:lnTo>
                    <a:pt x="0" y="2823182"/>
                  </a:lnTo>
                  <a:close/>
                </a:path>
              </a:pathLst>
            </a:custGeom>
            <a:solidFill>
              <a:srgbClr val="FBFCF9"/>
            </a:solidFill>
            <a:ln w="38100" cap="sq">
              <a:solidFill>
                <a:srgbClr val="000000"/>
              </a:solidFill>
              <a:prstDash val="solid"/>
              <a:miter/>
            </a:ln>
          </p:spPr>
        </p:sp>
        <p:sp>
          <p:nvSpPr>
            <p:cNvPr name="TextBox 23" id="23"/>
            <p:cNvSpPr txBox="true"/>
            <p:nvPr/>
          </p:nvSpPr>
          <p:spPr>
            <a:xfrm>
              <a:off x="0" y="-9525"/>
              <a:ext cx="6235101" cy="2832707"/>
            </a:xfrm>
            <a:prstGeom prst="rect">
              <a:avLst/>
            </a:prstGeom>
          </p:spPr>
          <p:txBody>
            <a:bodyPr anchor="ctr" rtlCol="false" tIns="29961" lIns="29961" bIns="29961" rIns="29961"/>
            <a:lstStyle/>
            <a:p>
              <a:pPr algn="ctr">
                <a:lnSpc>
                  <a:spcPts val="2521"/>
                </a:lnSpc>
              </a:pPr>
            </a:p>
          </p:txBody>
        </p:sp>
      </p:grpSp>
      <p:sp>
        <p:nvSpPr>
          <p:cNvPr name="Freeform 24" id="24"/>
          <p:cNvSpPr/>
          <p:nvPr/>
        </p:nvSpPr>
        <p:spPr>
          <a:xfrm flipH="false" flipV="false" rot="0">
            <a:off x="9657884" y="1503647"/>
            <a:ext cx="7992285" cy="483534"/>
          </a:xfrm>
          <a:custGeom>
            <a:avLst/>
            <a:gdLst/>
            <a:ahLst/>
            <a:cxnLst/>
            <a:rect r="r" b="b" t="t" l="l"/>
            <a:pathLst>
              <a:path h="483534" w="7992285">
                <a:moveTo>
                  <a:pt x="0" y="0"/>
                </a:moveTo>
                <a:lnTo>
                  <a:pt x="7992285" y="0"/>
                </a:lnTo>
                <a:lnTo>
                  <a:pt x="7992285" y="483535"/>
                </a:lnTo>
                <a:lnTo>
                  <a:pt x="0" y="483535"/>
                </a:lnTo>
                <a:lnTo>
                  <a:pt x="0" y="0"/>
                </a:lnTo>
                <a:close/>
              </a:path>
            </a:pathLst>
          </a:custGeom>
          <a:blipFill>
            <a:blip r:embed="rId5">
              <a:alphaModFix amt="70000"/>
            </a:blip>
            <a:stretch>
              <a:fillRect l="-62856" t="-185961" r="-18218" b="-13334"/>
            </a:stretch>
          </a:blipFill>
        </p:spPr>
      </p:sp>
      <p:sp>
        <p:nvSpPr>
          <p:cNvPr name="TextBox 25" id="25"/>
          <p:cNvSpPr txBox="true"/>
          <p:nvPr/>
        </p:nvSpPr>
        <p:spPr>
          <a:xfrm rot="0">
            <a:off x="9526941" y="1509993"/>
            <a:ext cx="8280829" cy="3848100"/>
          </a:xfrm>
          <a:prstGeom prst="rect">
            <a:avLst/>
          </a:prstGeom>
        </p:spPr>
        <p:txBody>
          <a:bodyPr anchor="t" rtlCol="false" tIns="0" lIns="0" bIns="0" rIns="0">
            <a:spAutoFit/>
          </a:bodyPr>
          <a:lstStyle/>
          <a:p>
            <a:pPr algn="just">
              <a:lnSpc>
                <a:spcPts val="3180"/>
              </a:lnSpc>
            </a:pPr>
            <a:r>
              <a:rPr lang="en-US" sz="2650" b="true">
                <a:solidFill>
                  <a:srgbClr val="000000"/>
                </a:solidFill>
                <a:latin typeface="Aptos Bold"/>
                <a:ea typeface="Aptos Bold"/>
                <a:cs typeface="Aptos Bold"/>
                <a:sym typeface="Aptos Bold"/>
              </a:rPr>
              <a:t>                                           Challenges</a:t>
            </a:r>
          </a:p>
          <a:p>
            <a:pPr algn="just">
              <a:lnSpc>
                <a:spcPts val="3180"/>
              </a:lnSpc>
            </a:pPr>
          </a:p>
          <a:p>
            <a:pPr algn="just" marL="445059" indent="-222529" lvl="1">
              <a:lnSpc>
                <a:spcPts val="2473"/>
              </a:lnSpc>
              <a:buFont typeface="Arial"/>
              <a:buChar char="•"/>
            </a:pPr>
            <a:r>
              <a:rPr lang="en-US" b="true" sz="2061">
                <a:solidFill>
                  <a:srgbClr val="000000"/>
                </a:solidFill>
                <a:latin typeface="Aptos Bold"/>
                <a:ea typeface="Aptos Bold"/>
                <a:cs typeface="Aptos Bold"/>
                <a:sym typeface="Aptos Bold"/>
              </a:rPr>
              <a:t>Incomplete OSM Data:</a:t>
            </a:r>
            <a:r>
              <a:rPr lang="en-US" sz="2061">
                <a:solidFill>
                  <a:srgbClr val="000000"/>
                </a:solidFill>
                <a:latin typeface="Aptos"/>
                <a:ea typeface="Aptos"/>
                <a:cs typeface="Aptos"/>
                <a:sym typeface="Aptos"/>
              </a:rPr>
              <a:t> Missing or outdated facility records can affect classification.</a:t>
            </a:r>
          </a:p>
          <a:p>
            <a:pPr algn="just" marL="445059" indent="-222529" lvl="1">
              <a:lnSpc>
                <a:spcPts val="2473"/>
              </a:lnSpc>
              <a:buFont typeface="Arial"/>
              <a:buChar char="•"/>
            </a:pPr>
            <a:r>
              <a:rPr lang="en-US" b="true" sz="2061">
                <a:solidFill>
                  <a:srgbClr val="000000"/>
                </a:solidFill>
                <a:latin typeface="Aptos Bold"/>
                <a:ea typeface="Aptos Bold"/>
                <a:cs typeface="Aptos Bold"/>
                <a:sym typeface="Aptos Bold"/>
              </a:rPr>
              <a:t>Class Imbalance: </a:t>
            </a:r>
            <a:r>
              <a:rPr lang="en-US" sz="2061">
                <a:solidFill>
                  <a:srgbClr val="000000"/>
                </a:solidFill>
                <a:latin typeface="Aptos"/>
                <a:ea typeface="Aptos"/>
                <a:cs typeface="Aptos"/>
                <a:sym typeface="Aptos"/>
              </a:rPr>
              <a:t>Uneven classes can reduce ML performance.</a:t>
            </a:r>
          </a:p>
          <a:p>
            <a:pPr algn="just" marL="445059" indent="-222529" lvl="1">
              <a:lnSpc>
                <a:spcPts val="2473"/>
              </a:lnSpc>
              <a:buFont typeface="Arial"/>
              <a:buChar char="•"/>
            </a:pPr>
            <a:r>
              <a:rPr lang="en-US" b="true" sz="2061">
                <a:solidFill>
                  <a:srgbClr val="000000"/>
                </a:solidFill>
                <a:latin typeface="Aptos Bold"/>
                <a:ea typeface="Aptos Bold"/>
                <a:cs typeface="Aptos Bold"/>
                <a:sym typeface="Aptos Bold"/>
              </a:rPr>
              <a:t>Label Uncertainty: </a:t>
            </a:r>
            <a:r>
              <a:rPr lang="en-US" sz="2061">
                <a:solidFill>
                  <a:srgbClr val="000000"/>
                </a:solidFill>
                <a:latin typeface="Aptos"/>
                <a:ea typeface="Aptos"/>
                <a:cs typeface="Aptos"/>
                <a:sym typeface="Aptos"/>
              </a:rPr>
              <a:t>Automated labels may contain noise and require validation.</a:t>
            </a:r>
          </a:p>
          <a:p>
            <a:pPr algn="just" marL="445059" indent="-222529" lvl="1">
              <a:lnSpc>
                <a:spcPts val="2473"/>
              </a:lnSpc>
              <a:buFont typeface="Arial"/>
              <a:buChar char="•"/>
            </a:pPr>
            <a:r>
              <a:rPr lang="en-US" b="true" sz="2061">
                <a:solidFill>
                  <a:srgbClr val="000000"/>
                </a:solidFill>
                <a:latin typeface="Aptos Bold"/>
                <a:ea typeface="Aptos Bold"/>
                <a:cs typeface="Aptos Bold"/>
                <a:sym typeface="Aptos Bold"/>
              </a:rPr>
              <a:t>Limited Resolution:</a:t>
            </a:r>
            <a:r>
              <a:rPr lang="en-US" sz="2061">
                <a:solidFill>
                  <a:srgbClr val="000000"/>
                </a:solidFill>
                <a:latin typeface="Aptos"/>
                <a:ea typeface="Aptos"/>
                <a:cs typeface="Aptos"/>
                <a:sym typeface="Aptos"/>
              </a:rPr>
              <a:t> Small or closely located thermal sources may be difficult to distinguish.</a:t>
            </a:r>
          </a:p>
          <a:p>
            <a:pPr algn="just" marL="445059" indent="-222529" lvl="1">
              <a:lnSpc>
                <a:spcPts val="2473"/>
              </a:lnSpc>
              <a:buFont typeface="Arial"/>
              <a:buChar char="•"/>
            </a:pPr>
            <a:r>
              <a:rPr lang="en-US" b="true" sz="2061">
                <a:solidFill>
                  <a:srgbClr val="000000"/>
                </a:solidFill>
                <a:latin typeface="Aptos Bold"/>
                <a:ea typeface="Aptos Bold"/>
                <a:cs typeface="Aptos Bold"/>
                <a:sym typeface="Aptos Bold"/>
              </a:rPr>
              <a:t>Evolving Industrial Landscape:</a:t>
            </a:r>
            <a:r>
              <a:rPr lang="en-US" sz="2061">
                <a:solidFill>
                  <a:srgbClr val="000000"/>
                </a:solidFill>
                <a:latin typeface="Aptos"/>
                <a:ea typeface="Aptos"/>
                <a:cs typeface="Aptos"/>
                <a:sym typeface="Aptos"/>
              </a:rPr>
              <a:t> New industries, facility changes and regulatory updates require periodic model updates.</a:t>
            </a:r>
          </a:p>
          <a:p>
            <a:pPr algn="just">
              <a:lnSpc>
                <a:spcPts val="2473"/>
              </a:lnSpc>
              <a:spcBef>
                <a:spcPct val="0"/>
              </a:spcBef>
            </a:pPr>
          </a:p>
        </p:txBody>
      </p:sp>
      <p:grpSp>
        <p:nvGrpSpPr>
          <p:cNvPr name="Group 26" id="26"/>
          <p:cNvGrpSpPr/>
          <p:nvPr/>
        </p:nvGrpSpPr>
        <p:grpSpPr>
          <a:xfrm rot="0">
            <a:off x="9263150" y="5537178"/>
            <a:ext cx="8781753" cy="3832871"/>
            <a:chOff x="0" y="0"/>
            <a:chExt cx="6454215" cy="2816997"/>
          </a:xfrm>
        </p:grpSpPr>
        <p:sp>
          <p:nvSpPr>
            <p:cNvPr name="Freeform 27" id="27"/>
            <p:cNvSpPr/>
            <p:nvPr/>
          </p:nvSpPr>
          <p:spPr>
            <a:xfrm flipH="false" flipV="false" rot="0">
              <a:off x="0" y="0"/>
              <a:ext cx="6454215" cy="2816997"/>
            </a:xfrm>
            <a:custGeom>
              <a:avLst/>
              <a:gdLst/>
              <a:ahLst/>
              <a:cxnLst/>
              <a:rect r="r" b="b" t="t" l="l"/>
              <a:pathLst>
                <a:path h="2816997" w="6454215">
                  <a:moveTo>
                    <a:pt x="0" y="0"/>
                  </a:moveTo>
                  <a:lnTo>
                    <a:pt x="6454215" y="0"/>
                  </a:lnTo>
                  <a:lnTo>
                    <a:pt x="6454215" y="2816997"/>
                  </a:lnTo>
                  <a:lnTo>
                    <a:pt x="0" y="2816997"/>
                  </a:lnTo>
                  <a:close/>
                </a:path>
              </a:pathLst>
            </a:custGeom>
            <a:solidFill>
              <a:srgbClr val="FBFCF9"/>
            </a:solidFill>
            <a:ln w="38100" cap="sq">
              <a:solidFill>
                <a:srgbClr val="000000"/>
              </a:solidFill>
              <a:prstDash val="solid"/>
              <a:miter/>
            </a:ln>
          </p:spPr>
        </p:sp>
        <p:sp>
          <p:nvSpPr>
            <p:cNvPr name="TextBox 28" id="28"/>
            <p:cNvSpPr txBox="true"/>
            <p:nvPr/>
          </p:nvSpPr>
          <p:spPr>
            <a:xfrm>
              <a:off x="0" y="-9525"/>
              <a:ext cx="6454215" cy="2826522"/>
            </a:xfrm>
            <a:prstGeom prst="rect">
              <a:avLst/>
            </a:prstGeom>
          </p:spPr>
          <p:txBody>
            <a:bodyPr anchor="ctr" rtlCol="false" tIns="28721" lIns="28721" bIns="28721" rIns="28721"/>
            <a:lstStyle/>
            <a:p>
              <a:pPr algn="ctr">
                <a:lnSpc>
                  <a:spcPts val="2521"/>
                </a:lnSpc>
              </a:pPr>
            </a:p>
          </p:txBody>
        </p:sp>
      </p:grpSp>
      <p:sp>
        <p:nvSpPr>
          <p:cNvPr name="Freeform 29" id="29"/>
          <p:cNvSpPr/>
          <p:nvPr/>
        </p:nvSpPr>
        <p:spPr>
          <a:xfrm flipH="false" flipV="false" rot="0">
            <a:off x="9616878" y="5788649"/>
            <a:ext cx="7756722" cy="483534"/>
          </a:xfrm>
          <a:custGeom>
            <a:avLst/>
            <a:gdLst/>
            <a:ahLst/>
            <a:cxnLst/>
            <a:rect r="r" b="b" t="t" l="l"/>
            <a:pathLst>
              <a:path h="483534" w="7756722">
                <a:moveTo>
                  <a:pt x="0" y="0"/>
                </a:moveTo>
                <a:lnTo>
                  <a:pt x="7756722" y="0"/>
                </a:lnTo>
                <a:lnTo>
                  <a:pt x="7756722" y="483534"/>
                </a:lnTo>
                <a:lnTo>
                  <a:pt x="0" y="483534"/>
                </a:lnTo>
                <a:lnTo>
                  <a:pt x="0" y="0"/>
                </a:lnTo>
                <a:close/>
              </a:path>
            </a:pathLst>
          </a:custGeom>
          <a:blipFill>
            <a:blip r:embed="rId5">
              <a:alphaModFix amt="70000"/>
            </a:blip>
            <a:stretch>
              <a:fillRect l="-63912" t="-185961" r="-22660" b="-13334"/>
            </a:stretch>
          </a:blipFill>
        </p:spPr>
      </p:sp>
      <p:sp>
        <p:nvSpPr>
          <p:cNvPr name="TextBox 30" id="30"/>
          <p:cNvSpPr txBox="true"/>
          <p:nvPr/>
        </p:nvSpPr>
        <p:spPr>
          <a:xfrm rot="0">
            <a:off x="9557017" y="5788649"/>
            <a:ext cx="8194019" cy="3581400"/>
          </a:xfrm>
          <a:prstGeom prst="rect">
            <a:avLst/>
          </a:prstGeom>
        </p:spPr>
        <p:txBody>
          <a:bodyPr anchor="t" rtlCol="false" tIns="0" lIns="0" bIns="0" rIns="0">
            <a:spAutoFit/>
          </a:bodyPr>
          <a:lstStyle/>
          <a:p>
            <a:pPr algn="l">
              <a:lnSpc>
                <a:spcPts val="3127"/>
              </a:lnSpc>
            </a:pPr>
            <a:r>
              <a:rPr lang="en-US" sz="2606" b="true">
                <a:solidFill>
                  <a:srgbClr val="000000"/>
                </a:solidFill>
                <a:latin typeface="Aptos Bold"/>
                <a:ea typeface="Aptos Bold"/>
                <a:cs typeface="Aptos Bold"/>
                <a:sym typeface="Aptos Bold"/>
              </a:rPr>
              <a:t>                  Strategies to Overcome Challenges</a:t>
            </a:r>
          </a:p>
          <a:p>
            <a:pPr algn="l">
              <a:lnSpc>
                <a:spcPts val="3127"/>
              </a:lnSpc>
            </a:pPr>
          </a:p>
          <a:p>
            <a:pPr algn="l" marL="453390" indent="-226695" lvl="1">
              <a:lnSpc>
                <a:spcPts val="2520"/>
              </a:lnSpc>
              <a:buFont typeface="Arial"/>
              <a:buChar char="•"/>
            </a:pPr>
            <a:r>
              <a:rPr lang="en-US" b="true" sz="2100">
                <a:solidFill>
                  <a:srgbClr val="000000"/>
                </a:solidFill>
                <a:latin typeface="Aptos Bold"/>
                <a:ea typeface="Aptos Bold"/>
                <a:cs typeface="Aptos Bold"/>
                <a:sym typeface="Aptos Bold"/>
              </a:rPr>
              <a:t>Multi-Source Fusion:</a:t>
            </a:r>
            <a:r>
              <a:rPr lang="en-US" sz="2100">
                <a:solidFill>
                  <a:srgbClr val="000000"/>
                </a:solidFill>
                <a:latin typeface="Aptos"/>
                <a:ea typeface="Aptos"/>
                <a:cs typeface="Aptos"/>
                <a:sym typeface="Aptos"/>
              </a:rPr>
              <a:t> Combine FIRMS, OSM and land-cover data.</a:t>
            </a:r>
          </a:p>
          <a:p>
            <a:pPr algn="l" marL="453390" indent="-226695" lvl="1">
              <a:lnSpc>
                <a:spcPts val="2520"/>
              </a:lnSpc>
              <a:buFont typeface="Arial"/>
              <a:buChar char="•"/>
            </a:pPr>
            <a:r>
              <a:rPr lang="en-US" b="true" sz="2100">
                <a:solidFill>
                  <a:srgbClr val="000000"/>
                </a:solidFill>
                <a:latin typeface="Aptos Bold"/>
                <a:ea typeface="Aptos Bold"/>
                <a:cs typeface="Aptos Bold"/>
                <a:sym typeface="Aptos Bold"/>
              </a:rPr>
              <a:t>Balanced Training:</a:t>
            </a:r>
            <a:r>
              <a:rPr lang="en-US" sz="2100">
                <a:solidFill>
                  <a:srgbClr val="000000"/>
                </a:solidFill>
                <a:latin typeface="Aptos"/>
                <a:ea typeface="Aptos"/>
                <a:cs typeface="Aptos"/>
                <a:sym typeface="Aptos"/>
              </a:rPr>
              <a:t> Use class balancing and stratified sampling.</a:t>
            </a:r>
          </a:p>
          <a:p>
            <a:pPr algn="just" marL="453390" indent="-226695" lvl="1">
              <a:lnSpc>
                <a:spcPts val="2520"/>
              </a:lnSpc>
              <a:buFont typeface="Arial"/>
              <a:buChar char="•"/>
            </a:pPr>
            <a:r>
              <a:rPr lang="en-US" b="true" sz="2100">
                <a:solidFill>
                  <a:srgbClr val="000000"/>
                </a:solidFill>
                <a:latin typeface="Aptos Bold"/>
                <a:ea typeface="Aptos Bold"/>
                <a:cs typeface="Aptos Bold"/>
                <a:sym typeface="Aptos Bold"/>
              </a:rPr>
              <a:t>Label Validation:</a:t>
            </a:r>
            <a:r>
              <a:rPr lang="en-US" sz="2100">
                <a:solidFill>
                  <a:srgbClr val="000000"/>
                </a:solidFill>
                <a:latin typeface="Aptos"/>
                <a:ea typeface="Aptos"/>
                <a:cs typeface="Aptos"/>
                <a:sym typeface="Aptos"/>
              </a:rPr>
              <a:t> Refine automated labels through filtering and manual checks.</a:t>
            </a:r>
          </a:p>
          <a:p>
            <a:pPr algn="l" marL="453390" indent="-226695" lvl="1">
              <a:lnSpc>
                <a:spcPts val="2520"/>
              </a:lnSpc>
              <a:buFont typeface="Arial"/>
              <a:buChar char="•"/>
            </a:pPr>
            <a:r>
              <a:rPr lang="en-US" b="true" sz="2100">
                <a:solidFill>
                  <a:srgbClr val="000000"/>
                </a:solidFill>
                <a:latin typeface="Aptos Bold"/>
                <a:ea typeface="Aptos Bold"/>
                <a:cs typeface="Aptos Bold"/>
                <a:sym typeface="Aptos Bold"/>
              </a:rPr>
              <a:t>Feature Fusion:</a:t>
            </a:r>
            <a:r>
              <a:rPr lang="en-US" sz="2100">
                <a:solidFill>
                  <a:srgbClr val="000000"/>
                </a:solidFill>
                <a:latin typeface="Aptos"/>
                <a:ea typeface="Aptos"/>
                <a:cs typeface="Aptos"/>
                <a:sym typeface="Aptos"/>
              </a:rPr>
              <a:t> Combine thermal, spatial, land-cover and temporal features.</a:t>
            </a:r>
          </a:p>
          <a:p>
            <a:pPr algn="l" marL="453390" indent="-226695" lvl="1">
              <a:lnSpc>
                <a:spcPts val="2520"/>
              </a:lnSpc>
              <a:buFont typeface="Arial"/>
              <a:buChar char="•"/>
            </a:pPr>
            <a:r>
              <a:rPr lang="en-US" b="true" sz="2100">
                <a:solidFill>
                  <a:srgbClr val="000000"/>
                </a:solidFill>
                <a:latin typeface="Aptos Bold"/>
                <a:ea typeface="Aptos Bold"/>
                <a:cs typeface="Aptos Bold"/>
                <a:sym typeface="Aptos Bold"/>
              </a:rPr>
              <a:t>Model Updating: </a:t>
            </a:r>
            <a:r>
              <a:rPr lang="en-US" sz="2100">
                <a:solidFill>
                  <a:srgbClr val="000000"/>
                </a:solidFill>
                <a:latin typeface="Aptos"/>
                <a:ea typeface="Aptos"/>
                <a:cs typeface="Aptos"/>
                <a:sym typeface="Aptos"/>
              </a:rPr>
              <a:t>Periodically update the model for new industries and regulatory changes.</a:t>
            </a:r>
          </a:p>
          <a:p>
            <a:pPr algn="l">
              <a:lnSpc>
                <a:spcPts val="2316"/>
              </a:lnSpc>
              <a:spcBef>
                <a:spcPct val="0"/>
              </a:spcBef>
            </a:pPr>
          </a:p>
        </p:txBody>
      </p:sp>
      <p:sp>
        <p:nvSpPr>
          <p:cNvPr name="TextBox 31" id="31"/>
          <p:cNvSpPr txBox="true"/>
          <p:nvPr/>
        </p:nvSpPr>
        <p:spPr>
          <a:xfrm rot="0">
            <a:off x="475205" y="2215461"/>
            <a:ext cx="8554495" cy="3573187"/>
          </a:xfrm>
          <a:prstGeom prst="rect">
            <a:avLst/>
          </a:prstGeom>
        </p:spPr>
        <p:txBody>
          <a:bodyPr anchor="t" rtlCol="false" tIns="0" lIns="0" bIns="0" rIns="0">
            <a:spAutoFit/>
          </a:bodyPr>
          <a:lstStyle/>
          <a:p>
            <a:pPr algn="l">
              <a:lnSpc>
                <a:spcPts val="2393"/>
              </a:lnSpc>
              <a:spcBef>
                <a:spcPct val="0"/>
              </a:spcBef>
            </a:pPr>
            <a:r>
              <a:rPr lang="en-US" b="true" sz="1994">
                <a:solidFill>
                  <a:srgbClr val="000000"/>
                </a:solidFill>
                <a:latin typeface="Aptos Bold"/>
                <a:ea typeface="Aptos Bold"/>
                <a:cs typeface="Aptos Bold"/>
                <a:sym typeface="Aptos Bold"/>
              </a:rPr>
              <a:t>❖ Ready-to-Use Data Ecosystem – </a:t>
            </a:r>
            <a:r>
              <a:rPr lang="en-US" sz="1994">
                <a:solidFill>
                  <a:srgbClr val="000000"/>
                </a:solidFill>
                <a:latin typeface="Aptos"/>
                <a:ea typeface="Aptos"/>
                <a:cs typeface="Aptos"/>
                <a:sym typeface="Aptos"/>
              </a:rPr>
              <a:t>NASA FIRMS thermal data, OSM industrial features and WorldCover land-cover data provide the required inputs for source classification.</a:t>
            </a:r>
          </a:p>
          <a:p>
            <a:pPr algn="l">
              <a:lnSpc>
                <a:spcPts val="2393"/>
              </a:lnSpc>
              <a:spcBef>
                <a:spcPct val="0"/>
              </a:spcBef>
            </a:pPr>
            <a:r>
              <a:rPr lang="en-US" b="true" sz="1994">
                <a:solidFill>
                  <a:srgbClr val="000000"/>
                </a:solidFill>
                <a:latin typeface="Aptos Bold"/>
                <a:ea typeface="Aptos Bold"/>
                <a:cs typeface="Aptos Bold"/>
                <a:sym typeface="Aptos Bold"/>
              </a:rPr>
              <a:t>❖ AI-Ready Geospatial Pipeline – </a:t>
            </a:r>
            <a:r>
              <a:rPr lang="en-US" sz="1994">
                <a:solidFill>
                  <a:srgbClr val="000000"/>
                </a:solidFill>
                <a:latin typeface="Aptos"/>
                <a:ea typeface="Aptos"/>
                <a:cs typeface="Aptos"/>
                <a:sym typeface="Aptos"/>
              </a:rPr>
              <a:t>Spatial matching, feature engineering and ML classification transform raw thermal detections into classified fire/thermal sources.</a:t>
            </a:r>
          </a:p>
          <a:p>
            <a:pPr algn="l">
              <a:lnSpc>
                <a:spcPts val="2393"/>
              </a:lnSpc>
              <a:spcBef>
                <a:spcPct val="0"/>
              </a:spcBef>
            </a:pPr>
            <a:r>
              <a:rPr lang="en-US" b="true" sz="1994">
                <a:solidFill>
                  <a:srgbClr val="000000"/>
                </a:solidFill>
                <a:latin typeface="Aptos Bold"/>
                <a:ea typeface="Aptos Bold"/>
                <a:cs typeface="Aptos Bold"/>
                <a:sym typeface="Aptos Bold"/>
              </a:rPr>
              <a:t>❖ Low-Cost &amp; Scalable Architecture – </a:t>
            </a:r>
            <a:r>
              <a:rPr lang="en-US" sz="1994">
                <a:solidFill>
                  <a:srgbClr val="000000"/>
                </a:solidFill>
                <a:latin typeface="Aptos"/>
                <a:ea typeface="Aptos"/>
                <a:cs typeface="Aptos"/>
                <a:sym typeface="Aptos"/>
              </a:rPr>
              <a:t>Built using open-source Python, GeoPandas, Rasterio and Scikit-learn, enabling cost-effective processing without specialized hardware.</a:t>
            </a:r>
          </a:p>
          <a:p>
            <a:pPr algn="l">
              <a:lnSpc>
                <a:spcPts val="2393"/>
              </a:lnSpc>
              <a:spcBef>
                <a:spcPct val="0"/>
              </a:spcBef>
            </a:pPr>
            <a:r>
              <a:rPr lang="en-US" sz="1994">
                <a:solidFill>
                  <a:srgbClr val="000000"/>
                </a:solidFill>
                <a:latin typeface="Aptos"/>
                <a:ea typeface="Aptos"/>
                <a:cs typeface="Aptos"/>
                <a:sym typeface="Aptos"/>
              </a:rPr>
              <a:t>❖ </a:t>
            </a:r>
            <a:r>
              <a:rPr lang="en-US" b="true" sz="1994">
                <a:solidFill>
                  <a:srgbClr val="000000"/>
                </a:solidFill>
                <a:latin typeface="Aptos Bold"/>
                <a:ea typeface="Aptos Bold"/>
                <a:cs typeface="Aptos Bold"/>
                <a:sym typeface="Aptos Bold"/>
              </a:rPr>
              <a:t>Continuous Monitoring Capability – </a:t>
            </a:r>
            <a:r>
              <a:rPr lang="en-US" sz="1994">
                <a:solidFill>
                  <a:srgbClr val="000000"/>
                </a:solidFill>
                <a:latin typeface="Aptos"/>
                <a:ea typeface="Aptos"/>
                <a:cs typeface="Aptos"/>
                <a:sym typeface="Aptos"/>
              </a:rPr>
              <a:t>The trained pipeline can process NASA FIRMS NRT/URT detections and update GIS outputs for ongoing monitoring of emerging and persistent thermal sources.</a:t>
            </a:r>
          </a:p>
        </p:txBody>
      </p:sp>
      <p:sp>
        <p:nvSpPr>
          <p:cNvPr name="Freeform 32" id="32"/>
          <p:cNvSpPr/>
          <p:nvPr/>
        </p:nvSpPr>
        <p:spPr>
          <a:xfrm flipH="false" flipV="false" rot="0">
            <a:off x="1896658" y="1540627"/>
            <a:ext cx="5640035" cy="446555"/>
          </a:xfrm>
          <a:custGeom>
            <a:avLst/>
            <a:gdLst/>
            <a:ahLst/>
            <a:cxnLst/>
            <a:rect r="r" b="b" t="t" l="l"/>
            <a:pathLst>
              <a:path h="446555" w="5640035">
                <a:moveTo>
                  <a:pt x="0" y="0"/>
                </a:moveTo>
                <a:lnTo>
                  <a:pt x="5640036" y="0"/>
                </a:lnTo>
                <a:lnTo>
                  <a:pt x="5640036" y="446555"/>
                </a:lnTo>
                <a:lnTo>
                  <a:pt x="0" y="446555"/>
                </a:lnTo>
                <a:lnTo>
                  <a:pt x="0" y="0"/>
                </a:lnTo>
                <a:close/>
              </a:path>
            </a:pathLst>
          </a:custGeom>
          <a:blipFill>
            <a:blip r:embed="rId5">
              <a:alphaModFix amt="70000"/>
            </a:blip>
            <a:stretch>
              <a:fillRect l="-134727" t="-259923" r="-70752" b="-25901"/>
            </a:stretch>
          </a:blipFill>
          <a:ln cap="sq">
            <a:noFill/>
            <a:prstDash val="solid"/>
            <a:miter/>
          </a:ln>
        </p:spPr>
      </p:sp>
      <p:sp>
        <p:nvSpPr>
          <p:cNvPr name="TextBox 33" id="33"/>
          <p:cNvSpPr txBox="true"/>
          <p:nvPr/>
        </p:nvSpPr>
        <p:spPr>
          <a:xfrm rot="0">
            <a:off x="3600701" y="1540627"/>
            <a:ext cx="1678781" cy="409575"/>
          </a:xfrm>
          <a:prstGeom prst="rect">
            <a:avLst/>
          </a:prstGeom>
        </p:spPr>
        <p:txBody>
          <a:bodyPr anchor="t" rtlCol="false" tIns="0" lIns="0" bIns="0" rIns="0">
            <a:spAutoFit/>
          </a:bodyPr>
          <a:lstStyle/>
          <a:p>
            <a:pPr algn="ctr" marL="0" indent="0" lvl="0">
              <a:lnSpc>
                <a:spcPts val="3241"/>
              </a:lnSpc>
              <a:spcBef>
                <a:spcPct val="0"/>
              </a:spcBef>
            </a:pPr>
            <a:r>
              <a:rPr lang="en-US" b="true" sz="2701" strike="noStrike" u="none">
                <a:solidFill>
                  <a:srgbClr val="1E1E1E"/>
                </a:solidFill>
                <a:latin typeface="Aptos Bold"/>
                <a:ea typeface="Aptos Bold"/>
                <a:cs typeface="Aptos Bold"/>
                <a:sym typeface="Aptos Bold"/>
              </a:rPr>
              <a:t> Feasibility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32144"/>
            <a:ext cx="18288000" cy="754856"/>
            <a:chOff x="0" y="0"/>
            <a:chExt cx="24384000" cy="1006475"/>
          </a:xfrm>
        </p:grpSpPr>
        <p:sp>
          <p:nvSpPr>
            <p:cNvPr name="Freeform 3" id="3"/>
            <p:cNvSpPr/>
            <p:nvPr/>
          </p:nvSpPr>
          <p:spPr>
            <a:xfrm flipH="false" flipV="false" rot="0">
              <a:off x="0" y="0"/>
              <a:ext cx="24384000" cy="1006475"/>
            </a:xfrm>
            <a:custGeom>
              <a:avLst/>
              <a:gdLst/>
              <a:ahLst/>
              <a:cxnLst/>
              <a:rect r="r" b="b" t="t" l="l"/>
              <a:pathLst>
                <a:path h="1006475" w="24384000">
                  <a:moveTo>
                    <a:pt x="0" y="0"/>
                  </a:moveTo>
                  <a:lnTo>
                    <a:pt x="24384000" y="0"/>
                  </a:lnTo>
                  <a:lnTo>
                    <a:pt x="24384000" y="1006475"/>
                  </a:lnTo>
                  <a:lnTo>
                    <a:pt x="0" y="1006475"/>
                  </a:lnTo>
                  <a:close/>
                </a:path>
              </a:pathLst>
            </a:custGeom>
            <a:solidFill>
              <a:srgbClr val="0070C0"/>
            </a:solidFill>
          </p:spPr>
        </p:sp>
      </p:grpSp>
      <p:grpSp>
        <p:nvGrpSpPr>
          <p:cNvPr name="Group 4" id="4"/>
          <p:cNvGrpSpPr/>
          <p:nvPr/>
        </p:nvGrpSpPr>
        <p:grpSpPr>
          <a:xfrm rot="0">
            <a:off x="455977" y="-118748"/>
            <a:ext cx="16459200" cy="1714500"/>
            <a:chOff x="0" y="0"/>
            <a:chExt cx="21945600" cy="2286000"/>
          </a:xfrm>
        </p:grpSpPr>
        <p:sp>
          <p:nvSpPr>
            <p:cNvPr name="Freeform 5" id="5"/>
            <p:cNvSpPr/>
            <p:nvPr/>
          </p:nvSpPr>
          <p:spPr>
            <a:xfrm flipH="false" flipV="false" rot="0">
              <a:off x="0" y="0"/>
              <a:ext cx="21945600" cy="2286000"/>
            </a:xfrm>
            <a:custGeom>
              <a:avLst/>
              <a:gdLst/>
              <a:ahLst/>
              <a:cxnLst/>
              <a:rect r="r" b="b" t="t" l="l"/>
              <a:pathLst>
                <a:path h="2286000" w="21945600">
                  <a:moveTo>
                    <a:pt x="0" y="0"/>
                  </a:moveTo>
                  <a:lnTo>
                    <a:pt x="21945600" y="0"/>
                  </a:lnTo>
                  <a:lnTo>
                    <a:pt x="21945600" y="2286000"/>
                  </a:lnTo>
                  <a:lnTo>
                    <a:pt x="0" y="2286000"/>
                  </a:lnTo>
                  <a:close/>
                </a:path>
              </a:pathLst>
            </a:custGeom>
            <a:blipFill>
              <a:blip r:embed="rId3">
                <a:alphaModFix amt="0"/>
              </a:blip>
              <a:stretch>
                <a:fillRect l="0" t="-137056" r="0" b="-137056"/>
              </a:stretch>
            </a:blipFill>
          </p:spPr>
        </p:sp>
        <p:sp>
          <p:nvSpPr>
            <p:cNvPr name="TextBox 6" id="6"/>
            <p:cNvSpPr txBox="true"/>
            <p:nvPr/>
          </p:nvSpPr>
          <p:spPr>
            <a:xfrm>
              <a:off x="0" y="-28575"/>
              <a:ext cx="21945600" cy="2314575"/>
            </a:xfrm>
            <a:prstGeom prst="rect">
              <a:avLst/>
            </a:prstGeom>
          </p:spPr>
          <p:txBody>
            <a:bodyPr anchor="ctr" rtlCol="false" tIns="0" lIns="0" bIns="0" rIns="0"/>
            <a:lstStyle/>
            <a:p>
              <a:pPr algn="ctr">
                <a:lnSpc>
                  <a:spcPts val="6480"/>
                </a:lnSpc>
              </a:pPr>
              <a:r>
                <a:rPr lang="en-US" sz="5400">
                  <a:solidFill>
                    <a:srgbClr val="000000"/>
                  </a:solidFill>
                  <a:latin typeface="Times New Roman"/>
                  <a:ea typeface="Times New Roman"/>
                  <a:cs typeface="Times New Roman"/>
                  <a:sym typeface="Times New Roman"/>
                </a:rPr>
                <a:t>IMPACT AND BENEFITS</a:t>
              </a:r>
            </a:p>
          </p:txBody>
        </p:sp>
      </p:grpSp>
      <p:grpSp>
        <p:nvGrpSpPr>
          <p:cNvPr name="Group 7" id="7"/>
          <p:cNvGrpSpPr/>
          <p:nvPr/>
        </p:nvGrpSpPr>
        <p:grpSpPr>
          <a:xfrm rot="0">
            <a:off x="13106400" y="9534525"/>
            <a:ext cx="4267200" cy="547688"/>
            <a:chOff x="0" y="0"/>
            <a:chExt cx="5689600" cy="730250"/>
          </a:xfrm>
        </p:grpSpPr>
        <p:sp>
          <p:nvSpPr>
            <p:cNvPr name="Freeform 8" id="8"/>
            <p:cNvSpPr/>
            <p:nvPr/>
          </p:nvSpPr>
          <p:spPr>
            <a:xfrm flipH="false" flipV="false" rot="0">
              <a:off x="0" y="0"/>
              <a:ext cx="5689600" cy="730250"/>
            </a:xfrm>
            <a:custGeom>
              <a:avLst/>
              <a:gdLst/>
              <a:ahLst/>
              <a:cxnLst/>
              <a:rect r="r" b="b" t="t" l="l"/>
              <a:pathLst>
                <a:path h="730250" w="5689600">
                  <a:moveTo>
                    <a:pt x="0" y="0"/>
                  </a:moveTo>
                  <a:lnTo>
                    <a:pt x="5689600" y="0"/>
                  </a:lnTo>
                  <a:lnTo>
                    <a:pt x="5689600" y="730250"/>
                  </a:lnTo>
                  <a:lnTo>
                    <a:pt x="0" y="730250"/>
                  </a:lnTo>
                  <a:close/>
                </a:path>
              </a:pathLst>
            </a:custGeom>
            <a:blipFill>
              <a:blip r:embed="rId3">
                <a:alphaModFix amt="0"/>
              </a:blip>
              <a:stretch>
                <a:fillRect l="0" t="-101813" r="0" b="-101813"/>
              </a:stretch>
            </a:blipFill>
          </p:spPr>
        </p:sp>
        <p:sp>
          <p:nvSpPr>
            <p:cNvPr name="TextBox 9" id="9"/>
            <p:cNvSpPr txBox="true"/>
            <p:nvPr/>
          </p:nvSpPr>
          <p:spPr>
            <a:xfrm>
              <a:off x="0" y="-19050"/>
              <a:ext cx="5689600" cy="749300"/>
            </a:xfrm>
            <a:prstGeom prst="rect">
              <a:avLst/>
            </a:prstGeom>
          </p:spPr>
          <p:txBody>
            <a:bodyPr anchor="ctr" rtlCol="false" tIns="0" lIns="0" bIns="0" rIns="0"/>
            <a:lstStyle/>
            <a:p>
              <a:pPr algn="r">
                <a:lnSpc>
                  <a:spcPts val="2160"/>
                </a:lnSpc>
              </a:pPr>
              <a:r>
                <a:rPr lang="en-US" b="true" sz="1800">
                  <a:solidFill>
                    <a:srgbClr val="FFFFFF"/>
                  </a:solidFill>
                  <a:latin typeface="Arimo Bold"/>
                  <a:ea typeface="Arimo Bold"/>
                  <a:cs typeface="Arimo Bold"/>
                  <a:sym typeface="Arimo Bold"/>
                </a:rPr>
                <a:t>5</a:t>
              </a:r>
            </a:p>
          </p:txBody>
        </p:sp>
      </p:grpSp>
      <p:grpSp>
        <p:nvGrpSpPr>
          <p:cNvPr name="Group 10" id="10"/>
          <p:cNvGrpSpPr/>
          <p:nvPr/>
        </p:nvGrpSpPr>
        <p:grpSpPr>
          <a:xfrm rot="0">
            <a:off x="6972300" y="9534525"/>
            <a:ext cx="4806001" cy="547688"/>
            <a:chOff x="0" y="0"/>
            <a:chExt cx="6408001" cy="730250"/>
          </a:xfrm>
        </p:grpSpPr>
        <p:sp>
          <p:nvSpPr>
            <p:cNvPr name="Freeform 11" id="11"/>
            <p:cNvSpPr/>
            <p:nvPr/>
          </p:nvSpPr>
          <p:spPr>
            <a:xfrm flipH="false" flipV="false" rot="0">
              <a:off x="0" y="0"/>
              <a:ext cx="6408000" cy="730250"/>
            </a:xfrm>
            <a:custGeom>
              <a:avLst/>
              <a:gdLst/>
              <a:ahLst/>
              <a:cxnLst/>
              <a:rect r="r" b="b" t="t" l="l"/>
              <a:pathLst>
                <a:path h="730250" w="6408000">
                  <a:moveTo>
                    <a:pt x="0" y="0"/>
                  </a:moveTo>
                  <a:lnTo>
                    <a:pt x="6408000" y="0"/>
                  </a:lnTo>
                  <a:lnTo>
                    <a:pt x="6408000" y="730250"/>
                  </a:lnTo>
                  <a:lnTo>
                    <a:pt x="0" y="730250"/>
                  </a:lnTo>
                  <a:close/>
                </a:path>
              </a:pathLst>
            </a:custGeom>
            <a:blipFill>
              <a:blip r:embed="rId3">
                <a:alphaModFix amt="0"/>
              </a:blip>
              <a:stretch>
                <a:fillRect l="0" t="-120982" r="0" b="-120982"/>
              </a:stretch>
            </a:blipFill>
          </p:spPr>
        </p:sp>
        <p:sp>
          <p:nvSpPr>
            <p:cNvPr name="TextBox 12" id="12"/>
            <p:cNvSpPr txBox="true"/>
            <p:nvPr/>
          </p:nvSpPr>
          <p:spPr>
            <a:xfrm>
              <a:off x="0" y="-19050"/>
              <a:ext cx="6408001" cy="749300"/>
            </a:xfrm>
            <a:prstGeom prst="rect">
              <a:avLst/>
            </a:prstGeom>
          </p:spPr>
          <p:txBody>
            <a:bodyPr anchor="ctr" rtlCol="false" tIns="0" lIns="0" bIns="0" rIns="0"/>
            <a:lstStyle/>
            <a:p>
              <a:pPr algn="ctr">
                <a:lnSpc>
                  <a:spcPts val="2160"/>
                </a:lnSpc>
              </a:pPr>
              <a:r>
                <a:rPr lang="en-US" sz="1800">
                  <a:solidFill>
                    <a:srgbClr val="FFFFFF"/>
                  </a:solidFill>
                  <a:latin typeface="Arimo"/>
                  <a:ea typeface="Arimo"/>
                  <a:cs typeface="Arimo"/>
                  <a:sym typeface="Arimo"/>
                </a:rPr>
                <a:t>@SIH Idea submission- Template</a:t>
              </a:r>
            </a:p>
          </p:txBody>
        </p:sp>
      </p:grpSp>
      <p:grpSp>
        <p:nvGrpSpPr>
          <p:cNvPr name="Group 13" id="13"/>
          <p:cNvGrpSpPr/>
          <p:nvPr/>
        </p:nvGrpSpPr>
        <p:grpSpPr>
          <a:xfrm rot="0">
            <a:off x="14670129" y="2248"/>
            <a:ext cx="3374774" cy="1593504"/>
            <a:chOff x="0" y="0"/>
            <a:chExt cx="4499699" cy="2124672"/>
          </a:xfrm>
        </p:grpSpPr>
        <p:sp>
          <p:nvSpPr>
            <p:cNvPr name="Freeform 14" id="14"/>
            <p:cNvSpPr/>
            <p:nvPr/>
          </p:nvSpPr>
          <p:spPr>
            <a:xfrm flipH="false" flipV="false" rot="0">
              <a:off x="0" y="0"/>
              <a:ext cx="4499737" cy="2124710"/>
            </a:xfrm>
            <a:custGeom>
              <a:avLst/>
              <a:gdLst/>
              <a:ahLst/>
              <a:cxnLst/>
              <a:rect r="r" b="b" t="t" l="l"/>
              <a:pathLst>
                <a:path h="2124710" w="4499737">
                  <a:moveTo>
                    <a:pt x="0" y="0"/>
                  </a:moveTo>
                  <a:lnTo>
                    <a:pt x="4499737" y="0"/>
                  </a:lnTo>
                  <a:lnTo>
                    <a:pt x="4499737" y="2124710"/>
                  </a:lnTo>
                  <a:lnTo>
                    <a:pt x="0" y="2124710"/>
                  </a:lnTo>
                  <a:lnTo>
                    <a:pt x="0" y="0"/>
                  </a:lnTo>
                  <a:close/>
                </a:path>
              </a:pathLst>
            </a:custGeom>
            <a:blipFill>
              <a:blip r:embed="rId4"/>
              <a:stretch>
                <a:fillRect l="0" t="0" r="0" b="1"/>
              </a:stretch>
            </a:blipFill>
          </p:spPr>
        </p:sp>
      </p:grpSp>
      <p:grpSp>
        <p:nvGrpSpPr>
          <p:cNvPr name="Group 15" id="15"/>
          <p:cNvGrpSpPr/>
          <p:nvPr/>
        </p:nvGrpSpPr>
        <p:grpSpPr>
          <a:xfrm rot="0">
            <a:off x="256860" y="174449"/>
            <a:ext cx="1915887" cy="1249101"/>
            <a:chOff x="0" y="0"/>
            <a:chExt cx="2554516" cy="1665468"/>
          </a:xfrm>
        </p:grpSpPr>
        <p:sp>
          <p:nvSpPr>
            <p:cNvPr name="Freeform 16" id="16" descr="Your startup LOGO"/>
            <p:cNvSpPr/>
            <p:nvPr/>
          </p:nvSpPr>
          <p:spPr>
            <a:xfrm flipH="false" flipV="false" rot="0">
              <a:off x="0" y="0"/>
              <a:ext cx="2554478" cy="1665481"/>
            </a:xfrm>
            <a:custGeom>
              <a:avLst/>
              <a:gdLst/>
              <a:ahLst/>
              <a:cxnLst/>
              <a:rect r="r" b="b" t="t" l="l"/>
              <a:pathLst>
                <a:path h="1665481" w="2554478">
                  <a:moveTo>
                    <a:pt x="0" y="832740"/>
                  </a:moveTo>
                  <a:cubicBezTo>
                    <a:pt x="0" y="372873"/>
                    <a:pt x="571881" y="0"/>
                    <a:pt x="1277239" y="0"/>
                  </a:cubicBezTo>
                  <a:cubicBezTo>
                    <a:pt x="1982597" y="0"/>
                    <a:pt x="2554478" y="372873"/>
                    <a:pt x="2554478" y="832740"/>
                  </a:cubicBezTo>
                  <a:cubicBezTo>
                    <a:pt x="2554478" y="1292608"/>
                    <a:pt x="1982597" y="1665481"/>
                    <a:pt x="1277239" y="1665481"/>
                  </a:cubicBezTo>
                  <a:cubicBezTo>
                    <a:pt x="571881" y="1665481"/>
                    <a:pt x="0" y="1292608"/>
                    <a:pt x="0" y="832740"/>
                  </a:cubicBezTo>
                  <a:close/>
                </a:path>
              </a:pathLst>
            </a:custGeom>
            <a:solidFill>
              <a:srgbClr val="FFFFFF"/>
            </a:solidFill>
            <a:ln w="38100" cap="sq">
              <a:solidFill>
                <a:srgbClr val="8064A2"/>
              </a:solidFill>
              <a:prstDash val="solid"/>
              <a:miter/>
            </a:ln>
          </p:spPr>
        </p:sp>
        <p:sp>
          <p:nvSpPr>
            <p:cNvPr name="TextBox 17" id="17"/>
            <p:cNvSpPr txBox="true"/>
            <p:nvPr/>
          </p:nvSpPr>
          <p:spPr>
            <a:xfrm>
              <a:off x="0" y="-57150"/>
              <a:ext cx="2554516" cy="1722618"/>
            </a:xfrm>
            <a:prstGeom prst="rect">
              <a:avLst/>
            </a:prstGeom>
          </p:spPr>
          <p:txBody>
            <a:bodyPr anchor="ctr" rtlCol="false" tIns="50800" lIns="50800" bIns="50800" rIns="50800"/>
            <a:lstStyle/>
            <a:p>
              <a:pPr algn="ctr">
                <a:lnSpc>
                  <a:spcPts val="3240"/>
                </a:lnSpc>
              </a:pPr>
              <a:r>
                <a:rPr lang="en-US" sz="2700" b="true">
                  <a:solidFill>
                    <a:srgbClr val="000000"/>
                  </a:solidFill>
                  <a:latin typeface="Calibri (MS) Bold"/>
                  <a:ea typeface="Calibri (MS) Bold"/>
                  <a:cs typeface="Calibri (MS) Bold"/>
                  <a:sym typeface="Calibri (MS) Bold"/>
                </a:rPr>
                <a:t>Deadlock</a:t>
              </a:r>
            </a:p>
          </p:txBody>
        </p:sp>
      </p:grpSp>
      <p:grpSp>
        <p:nvGrpSpPr>
          <p:cNvPr name="Group 18" id="18"/>
          <p:cNvGrpSpPr/>
          <p:nvPr/>
        </p:nvGrpSpPr>
        <p:grpSpPr>
          <a:xfrm rot="0">
            <a:off x="336292" y="1595752"/>
            <a:ext cx="10145048" cy="4549142"/>
            <a:chOff x="0" y="0"/>
            <a:chExt cx="2991875" cy="1341587"/>
          </a:xfrm>
        </p:grpSpPr>
        <p:sp>
          <p:nvSpPr>
            <p:cNvPr name="Freeform 19" id="19"/>
            <p:cNvSpPr/>
            <p:nvPr/>
          </p:nvSpPr>
          <p:spPr>
            <a:xfrm flipH="false" flipV="false" rot="0">
              <a:off x="0" y="0"/>
              <a:ext cx="2991875" cy="1341587"/>
            </a:xfrm>
            <a:custGeom>
              <a:avLst/>
              <a:gdLst/>
              <a:ahLst/>
              <a:cxnLst/>
              <a:rect r="r" b="b" t="t" l="l"/>
              <a:pathLst>
                <a:path h="1341587" w="2991875">
                  <a:moveTo>
                    <a:pt x="0" y="0"/>
                  </a:moveTo>
                  <a:lnTo>
                    <a:pt x="2991875" y="0"/>
                  </a:lnTo>
                  <a:lnTo>
                    <a:pt x="2991875" y="1341587"/>
                  </a:lnTo>
                  <a:lnTo>
                    <a:pt x="0" y="1341587"/>
                  </a:lnTo>
                  <a:close/>
                </a:path>
              </a:pathLst>
            </a:custGeom>
            <a:solidFill>
              <a:srgbClr val="FBFCF9"/>
            </a:solidFill>
            <a:ln w="38100" cap="sq">
              <a:solidFill>
                <a:srgbClr val="000000"/>
              </a:solidFill>
              <a:prstDash val="solid"/>
              <a:miter/>
            </a:ln>
          </p:spPr>
        </p:sp>
        <p:sp>
          <p:nvSpPr>
            <p:cNvPr name="TextBox 20" id="20"/>
            <p:cNvSpPr txBox="true"/>
            <p:nvPr/>
          </p:nvSpPr>
          <p:spPr>
            <a:xfrm>
              <a:off x="0" y="-9525"/>
              <a:ext cx="2991875" cy="1351112"/>
            </a:xfrm>
            <a:prstGeom prst="rect">
              <a:avLst/>
            </a:prstGeom>
          </p:spPr>
          <p:txBody>
            <a:bodyPr anchor="ctr" rtlCol="false" tIns="50800" lIns="50800" bIns="50800" rIns="50800"/>
            <a:lstStyle/>
            <a:p>
              <a:pPr algn="ctr">
                <a:lnSpc>
                  <a:spcPts val="2521"/>
                </a:lnSpc>
              </a:pPr>
            </a:p>
          </p:txBody>
        </p:sp>
      </p:grpSp>
      <p:sp>
        <p:nvSpPr>
          <p:cNvPr name="Freeform 21" id="21"/>
          <p:cNvSpPr/>
          <p:nvPr/>
        </p:nvSpPr>
        <p:spPr>
          <a:xfrm flipH="false" flipV="false" rot="0">
            <a:off x="11025584" y="1595752"/>
            <a:ext cx="6750737" cy="4500492"/>
          </a:xfrm>
          <a:custGeom>
            <a:avLst/>
            <a:gdLst/>
            <a:ahLst/>
            <a:cxnLst/>
            <a:rect r="r" b="b" t="t" l="l"/>
            <a:pathLst>
              <a:path h="4500492" w="6750737">
                <a:moveTo>
                  <a:pt x="0" y="0"/>
                </a:moveTo>
                <a:lnTo>
                  <a:pt x="6750737" y="0"/>
                </a:lnTo>
                <a:lnTo>
                  <a:pt x="6750737" y="4500491"/>
                </a:lnTo>
                <a:lnTo>
                  <a:pt x="0" y="4500491"/>
                </a:lnTo>
                <a:lnTo>
                  <a:pt x="0" y="0"/>
                </a:lnTo>
                <a:close/>
              </a:path>
            </a:pathLst>
          </a:custGeom>
          <a:blipFill>
            <a:blip r:embed="rId5"/>
            <a:stretch>
              <a:fillRect l="0" t="0" r="0" b="0"/>
            </a:stretch>
          </a:blipFill>
        </p:spPr>
      </p:sp>
      <p:sp>
        <p:nvSpPr>
          <p:cNvPr name="TextBox 22" id="22"/>
          <p:cNvSpPr txBox="true"/>
          <p:nvPr/>
        </p:nvSpPr>
        <p:spPr>
          <a:xfrm rot="0">
            <a:off x="606979" y="2441421"/>
            <a:ext cx="9603675" cy="4105275"/>
          </a:xfrm>
          <a:prstGeom prst="rect">
            <a:avLst/>
          </a:prstGeom>
        </p:spPr>
        <p:txBody>
          <a:bodyPr anchor="t" rtlCol="false" tIns="0" lIns="0" bIns="0" rIns="0">
            <a:spAutoFit/>
          </a:bodyPr>
          <a:lstStyle/>
          <a:p>
            <a:pPr algn="l">
              <a:lnSpc>
                <a:spcPts val="2520"/>
              </a:lnSpc>
            </a:pPr>
            <a:r>
              <a:rPr lang="en-US" sz="2100" strike="noStrike" u="none">
                <a:solidFill>
                  <a:srgbClr val="000000"/>
                </a:solidFill>
                <a:latin typeface="Times New Roman"/>
                <a:ea typeface="Times New Roman"/>
                <a:cs typeface="Times New Roman"/>
                <a:sym typeface="Times New Roman"/>
              </a:rPr>
              <a:t>❖ </a:t>
            </a:r>
            <a:r>
              <a:rPr lang="en-US" b="true" sz="2100">
                <a:solidFill>
                  <a:srgbClr val="000000"/>
                </a:solidFill>
                <a:latin typeface="Times New Roman Bold"/>
                <a:ea typeface="Times New Roman Bold"/>
                <a:cs typeface="Times New Roman Bold"/>
                <a:sym typeface="Times New Roman Bold"/>
              </a:rPr>
              <a:t>Industrial Operators</a:t>
            </a:r>
            <a:r>
              <a:rPr lang="en-US" b="true" sz="2100" strike="noStrike" u="none">
                <a:solidFill>
                  <a:srgbClr val="000000"/>
                </a:solidFill>
                <a:latin typeface="Times New Roman Bold"/>
                <a:ea typeface="Times New Roman Bold"/>
                <a:cs typeface="Times New Roman Bold"/>
                <a:sym typeface="Times New Roman Bold"/>
              </a:rPr>
              <a:t>:</a:t>
            </a:r>
          </a:p>
          <a:p>
            <a:pPr algn="l">
              <a:lnSpc>
                <a:spcPts val="2520"/>
              </a:lnSpc>
            </a:pPr>
            <a:r>
              <a:rPr lang="en-US" sz="2100" strike="noStrike" u="none">
                <a:solidFill>
                  <a:srgbClr val="000000"/>
                </a:solidFill>
                <a:latin typeface="Times New Roman"/>
                <a:ea typeface="Times New Roman"/>
                <a:cs typeface="Times New Roman"/>
                <a:sym typeface="Times New Roman"/>
              </a:rPr>
              <a:t> </a:t>
            </a:r>
            <a:r>
              <a:rPr lang="en-US" sz="2100">
                <a:solidFill>
                  <a:srgbClr val="000000"/>
                </a:solidFill>
                <a:latin typeface="Times New Roman"/>
                <a:ea typeface="Times New Roman"/>
                <a:cs typeface="Times New Roman"/>
                <a:sym typeface="Times New Roman"/>
              </a:rPr>
              <a:t>Early identification of abnormal thermal activity around </a:t>
            </a:r>
            <a:r>
              <a:rPr lang="en-US" sz="2100" strike="noStrike" u="none">
                <a:solidFill>
                  <a:srgbClr val="000000"/>
                </a:solidFill>
                <a:latin typeface="Times New Roman"/>
                <a:ea typeface="Times New Roman"/>
                <a:cs typeface="Times New Roman"/>
                <a:sym typeface="Times New Roman"/>
              </a:rPr>
              <a:t>industrial </a:t>
            </a:r>
            <a:r>
              <a:rPr lang="en-US" sz="2100">
                <a:solidFill>
                  <a:srgbClr val="000000"/>
                </a:solidFill>
                <a:latin typeface="Times New Roman"/>
                <a:ea typeface="Times New Roman"/>
                <a:cs typeface="Times New Roman"/>
                <a:sym typeface="Times New Roman"/>
              </a:rPr>
              <a:t>facilities.</a:t>
            </a:r>
          </a:p>
          <a:p>
            <a:pPr algn="l">
              <a:lnSpc>
                <a:spcPts val="2520"/>
              </a:lnSpc>
            </a:pPr>
            <a:r>
              <a:rPr lang="en-US" sz="2100" strike="noStrike" u="none">
                <a:solidFill>
                  <a:srgbClr val="000000"/>
                </a:solidFill>
                <a:latin typeface="Times New Roman"/>
                <a:ea typeface="Times New Roman"/>
                <a:cs typeface="Times New Roman"/>
                <a:sym typeface="Times New Roman"/>
              </a:rPr>
              <a:t>❖</a:t>
            </a:r>
            <a:r>
              <a:rPr lang="en-US" sz="2100">
                <a:solidFill>
                  <a:srgbClr val="000000"/>
                </a:solidFill>
                <a:latin typeface="Times New Roman"/>
                <a:ea typeface="Times New Roman"/>
                <a:cs typeface="Times New Roman"/>
                <a:sym typeface="Times New Roman"/>
              </a:rPr>
              <a:t> </a:t>
            </a:r>
            <a:r>
              <a:rPr lang="en-US" b="true" sz="2100">
                <a:solidFill>
                  <a:srgbClr val="000000"/>
                </a:solidFill>
                <a:latin typeface="Times New Roman Bold"/>
                <a:ea typeface="Times New Roman Bold"/>
                <a:cs typeface="Times New Roman Bold"/>
                <a:sym typeface="Times New Roman Bold"/>
              </a:rPr>
              <a:t>Disaster Management</a:t>
            </a:r>
            <a:r>
              <a:rPr lang="en-US" b="true" sz="2100" strike="noStrike" u="none">
                <a:solidFill>
                  <a:srgbClr val="000000"/>
                </a:solidFill>
                <a:latin typeface="Times New Roman Bold"/>
                <a:ea typeface="Times New Roman Bold"/>
                <a:cs typeface="Times New Roman Bold"/>
                <a:sym typeface="Times New Roman Bold"/>
              </a:rPr>
              <a:t>:</a:t>
            </a:r>
          </a:p>
          <a:p>
            <a:pPr algn="l">
              <a:lnSpc>
                <a:spcPts val="2520"/>
              </a:lnSpc>
            </a:pPr>
            <a:r>
              <a:rPr lang="en-US" sz="2100" strike="noStrike" u="none">
                <a:solidFill>
                  <a:srgbClr val="000000"/>
                </a:solidFill>
                <a:latin typeface="Times New Roman"/>
                <a:ea typeface="Times New Roman"/>
                <a:cs typeface="Times New Roman"/>
                <a:sym typeface="Times New Roman"/>
              </a:rPr>
              <a:t> </a:t>
            </a:r>
            <a:r>
              <a:rPr lang="en-US" sz="2100">
                <a:solidFill>
                  <a:srgbClr val="000000"/>
                </a:solidFill>
                <a:latin typeface="Times New Roman"/>
                <a:ea typeface="Times New Roman"/>
                <a:cs typeface="Times New Roman"/>
                <a:sym typeface="Times New Roman"/>
              </a:rPr>
              <a:t>Faster prioritization of potentially hazardous thermal events</a:t>
            </a:r>
            <a:r>
              <a:rPr lang="en-US" sz="2100" strike="noStrike" u="none">
                <a:solidFill>
                  <a:srgbClr val="000000"/>
                </a:solidFill>
                <a:latin typeface="Times New Roman"/>
                <a:ea typeface="Times New Roman"/>
                <a:cs typeface="Times New Roman"/>
                <a:sym typeface="Times New Roman"/>
              </a:rPr>
              <a:t> for timely response</a:t>
            </a:r>
            <a:r>
              <a:rPr lang="en-US" sz="2100">
                <a:solidFill>
                  <a:srgbClr val="000000"/>
                </a:solidFill>
                <a:latin typeface="Times New Roman"/>
                <a:ea typeface="Times New Roman"/>
                <a:cs typeface="Times New Roman"/>
                <a:sym typeface="Times New Roman"/>
              </a:rPr>
              <a:t>.</a:t>
            </a:r>
          </a:p>
          <a:p>
            <a:pPr algn="l">
              <a:lnSpc>
                <a:spcPts val="2520"/>
              </a:lnSpc>
            </a:pPr>
            <a:r>
              <a:rPr lang="en-US" sz="2100" strike="noStrike" u="none">
                <a:solidFill>
                  <a:srgbClr val="000000"/>
                </a:solidFill>
                <a:latin typeface="Times New Roman"/>
                <a:ea typeface="Times New Roman"/>
                <a:cs typeface="Times New Roman"/>
                <a:sym typeface="Times New Roman"/>
              </a:rPr>
              <a:t>❖</a:t>
            </a:r>
            <a:r>
              <a:rPr lang="en-US" sz="2100">
                <a:solidFill>
                  <a:srgbClr val="000000"/>
                </a:solidFill>
                <a:latin typeface="Times New Roman"/>
                <a:ea typeface="Times New Roman"/>
                <a:cs typeface="Times New Roman"/>
                <a:sym typeface="Times New Roman"/>
              </a:rPr>
              <a:t> </a:t>
            </a:r>
            <a:r>
              <a:rPr lang="en-US" b="true" sz="2100">
                <a:solidFill>
                  <a:srgbClr val="000000"/>
                </a:solidFill>
                <a:latin typeface="Times New Roman Bold"/>
                <a:ea typeface="Times New Roman Bold"/>
                <a:cs typeface="Times New Roman Bold"/>
                <a:sym typeface="Times New Roman Bold"/>
              </a:rPr>
              <a:t>Forest &amp; Environmental Agencies</a:t>
            </a:r>
            <a:r>
              <a:rPr lang="en-US" b="true" sz="2100" strike="noStrike" u="none">
                <a:solidFill>
                  <a:srgbClr val="000000"/>
                </a:solidFill>
                <a:latin typeface="Times New Roman Bold"/>
                <a:ea typeface="Times New Roman Bold"/>
                <a:cs typeface="Times New Roman Bold"/>
                <a:sym typeface="Times New Roman Bold"/>
              </a:rPr>
              <a:t>:</a:t>
            </a:r>
          </a:p>
          <a:p>
            <a:pPr algn="l">
              <a:lnSpc>
                <a:spcPts val="2520"/>
              </a:lnSpc>
            </a:pPr>
            <a:r>
              <a:rPr lang="en-US" sz="2100" strike="noStrike" u="none">
                <a:solidFill>
                  <a:srgbClr val="000000"/>
                </a:solidFill>
                <a:latin typeface="Times New Roman"/>
                <a:ea typeface="Times New Roman"/>
                <a:cs typeface="Times New Roman"/>
                <a:sym typeface="Times New Roman"/>
              </a:rPr>
              <a:t> </a:t>
            </a:r>
            <a:r>
              <a:rPr lang="en-US" sz="2100">
                <a:solidFill>
                  <a:srgbClr val="000000"/>
                </a:solidFill>
                <a:latin typeface="Times New Roman"/>
                <a:ea typeface="Times New Roman"/>
                <a:cs typeface="Times New Roman"/>
                <a:sym typeface="Times New Roman"/>
              </a:rPr>
              <a:t>Better separation of industrial </a:t>
            </a:r>
            <a:r>
              <a:rPr lang="en-US" sz="2100" strike="noStrike" u="none">
                <a:solidFill>
                  <a:srgbClr val="000000"/>
                </a:solidFill>
                <a:latin typeface="Times New Roman"/>
                <a:ea typeface="Times New Roman"/>
                <a:cs typeface="Times New Roman"/>
                <a:sym typeface="Times New Roman"/>
              </a:rPr>
              <a:t>therm</a:t>
            </a:r>
            <a:r>
              <a:rPr lang="en-US" sz="2100">
                <a:solidFill>
                  <a:srgbClr val="000000"/>
                </a:solidFill>
                <a:latin typeface="Times New Roman"/>
                <a:ea typeface="Times New Roman"/>
                <a:cs typeface="Times New Roman"/>
                <a:sym typeface="Times New Roman"/>
              </a:rPr>
              <a:t>a</a:t>
            </a:r>
            <a:r>
              <a:rPr lang="en-US" sz="2100" strike="noStrike" u="none">
                <a:solidFill>
                  <a:srgbClr val="000000"/>
                </a:solidFill>
                <a:latin typeface="Times New Roman"/>
                <a:ea typeface="Times New Roman"/>
                <a:cs typeface="Times New Roman"/>
                <a:sym typeface="Times New Roman"/>
              </a:rPr>
              <a:t>l sour</a:t>
            </a:r>
            <a:r>
              <a:rPr lang="en-US" sz="2100">
                <a:solidFill>
                  <a:srgbClr val="000000"/>
                </a:solidFill>
                <a:latin typeface="Times New Roman"/>
                <a:ea typeface="Times New Roman"/>
                <a:cs typeface="Times New Roman"/>
                <a:sym typeface="Times New Roman"/>
              </a:rPr>
              <a:t>c</a:t>
            </a:r>
            <a:r>
              <a:rPr lang="en-US" sz="2100" strike="noStrike" u="none">
                <a:solidFill>
                  <a:srgbClr val="000000"/>
                </a:solidFill>
                <a:latin typeface="Times New Roman"/>
                <a:ea typeface="Times New Roman"/>
                <a:cs typeface="Times New Roman"/>
                <a:sym typeface="Times New Roman"/>
              </a:rPr>
              <a:t>es</a:t>
            </a:r>
            <a:r>
              <a:rPr lang="en-US" sz="2100">
                <a:solidFill>
                  <a:srgbClr val="000000"/>
                </a:solidFill>
                <a:latin typeface="Times New Roman"/>
                <a:ea typeface="Times New Roman"/>
                <a:cs typeface="Times New Roman"/>
                <a:sym typeface="Times New Roman"/>
              </a:rPr>
              <a:t> from forest and natural fires.</a:t>
            </a:r>
          </a:p>
          <a:p>
            <a:pPr algn="l">
              <a:lnSpc>
                <a:spcPts val="2520"/>
              </a:lnSpc>
            </a:pPr>
            <a:r>
              <a:rPr lang="en-US" sz="2100" strike="noStrike" u="none">
                <a:solidFill>
                  <a:srgbClr val="000000"/>
                </a:solidFill>
                <a:latin typeface="Times New Roman"/>
                <a:ea typeface="Times New Roman"/>
                <a:cs typeface="Times New Roman"/>
                <a:sym typeface="Times New Roman"/>
              </a:rPr>
              <a:t>❖</a:t>
            </a:r>
            <a:r>
              <a:rPr lang="en-US" b="true" sz="2100">
                <a:solidFill>
                  <a:srgbClr val="000000"/>
                </a:solidFill>
                <a:latin typeface="Times New Roman Bold"/>
                <a:ea typeface="Times New Roman Bold"/>
                <a:cs typeface="Times New Roman Bold"/>
                <a:sym typeface="Times New Roman Bold"/>
              </a:rPr>
              <a:t> </a:t>
            </a:r>
            <a:r>
              <a:rPr lang="en-US" b="true" sz="2100">
                <a:solidFill>
                  <a:srgbClr val="000000"/>
                </a:solidFill>
                <a:latin typeface="Times New Roman Bold"/>
                <a:ea typeface="Times New Roman Bold"/>
                <a:cs typeface="Times New Roman Bold"/>
                <a:sym typeface="Times New Roman Bold"/>
              </a:rPr>
              <a:t>Regulatory Authorities</a:t>
            </a:r>
            <a:r>
              <a:rPr lang="en-US" b="true" sz="2100" strike="noStrike" u="none">
                <a:solidFill>
                  <a:srgbClr val="000000"/>
                </a:solidFill>
                <a:latin typeface="Times New Roman Bold"/>
                <a:ea typeface="Times New Roman Bold"/>
                <a:cs typeface="Times New Roman Bold"/>
                <a:sym typeface="Times New Roman Bold"/>
              </a:rPr>
              <a:t>:</a:t>
            </a:r>
          </a:p>
          <a:p>
            <a:pPr algn="l">
              <a:lnSpc>
                <a:spcPts val="2520"/>
              </a:lnSpc>
            </a:pPr>
            <a:r>
              <a:rPr lang="en-US" sz="2100" strike="noStrike" u="none">
                <a:solidFill>
                  <a:srgbClr val="000000"/>
                </a:solidFill>
                <a:latin typeface="Times New Roman"/>
                <a:ea typeface="Times New Roman"/>
                <a:cs typeface="Times New Roman"/>
                <a:sym typeface="Times New Roman"/>
              </a:rPr>
              <a:t> </a:t>
            </a:r>
            <a:r>
              <a:rPr lang="en-US" sz="2100">
                <a:solidFill>
                  <a:srgbClr val="000000"/>
                </a:solidFill>
                <a:latin typeface="Times New Roman"/>
                <a:ea typeface="Times New Roman"/>
                <a:cs typeface="Times New Roman"/>
                <a:sym typeface="Times New Roman"/>
              </a:rPr>
              <a:t>Geospatial evidence to support inspection</a:t>
            </a:r>
            <a:r>
              <a:rPr lang="en-US" sz="2100" strike="noStrike" u="none">
                <a:solidFill>
                  <a:srgbClr val="000000"/>
                </a:solidFill>
                <a:latin typeface="Times New Roman"/>
                <a:ea typeface="Times New Roman"/>
                <a:cs typeface="Times New Roman"/>
                <a:sym typeface="Times New Roman"/>
              </a:rPr>
              <a:t>,</a:t>
            </a:r>
            <a:r>
              <a:rPr lang="en-US" sz="2100">
                <a:solidFill>
                  <a:srgbClr val="000000"/>
                </a:solidFill>
                <a:latin typeface="Times New Roman"/>
                <a:ea typeface="Times New Roman"/>
                <a:cs typeface="Times New Roman"/>
                <a:sym typeface="Times New Roman"/>
              </a:rPr>
              <a:t> investigation</a:t>
            </a:r>
            <a:r>
              <a:rPr lang="en-US" sz="2100" strike="noStrike" u="none">
                <a:solidFill>
                  <a:srgbClr val="000000"/>
                </a:solidFill>
                <a:latin typeface="Times New Roman"/>
                <a:ea typeface="Times New Roman"/>
                <a:cs typeface="Times New Roman"/>
                <a:sym typeface="Times New Roman"/>
              </a:rPr>
              <a:t> and data-driven decisions</a:t>
            </a:r>
            <a:r>
              <a:rPr lang="en-US" sz="2100">
                <a:solidFill>
                  <a:srgbClr val="000000"/>
                </a:solidFill>
                <a:latin typeface="Times New Roman"/>
                <a:ea typeface="Times New Roman"/>
                <a:cs typeface="Times New Roman"/>
                <a:sym typeface="Times New Roman"/>
              </a:rPr>
              <a:t>.</a:t>
            </a:r>
          </a:p>
          <a:p>
            <a:pPr algn="l">
              <a:lnSpc>
                <a:spcPts val="2520"/>
              </a:lnSpc>
            </a:pPr>
            <a:r>
              <a:rPr lang="en-US" sz="2100" strike="noStrike" u="none">
                <a:solidFill>
                  <a:srgbClr val="000000"/>
                </a:solidFill>
                <a:latin typeface="Times New Roman"/>
                <a:ea typeface="Times New Roman"/>
                <a:cs typeface="Times New Roman"/>
                <a:sym typeface="Times New Roman"/>
              </a:rPr>
              <a:t>❖</a:t>
            </a:r>
            <a:r>
              <a:rPr lang="en-US" b="true" sz="2100" strike="noStrike" u="none">
                <a:solidFill>
                  <a:srgbClr val="000000"/>
                </a:solidFill>
                <a:latin typeface="Times New Roman Bold"/>
                <a:ea typeface="Times New Roman Bold"/>
                <a:cs typeface="Times New Roman Bold"/>
                <a:sym typeface="Times New Roman Bold"/>
              </a:rPr>
              <a:t> </a:t>
            </a:r>
            <a:r>
              <a:rPr lang="en-US" b="true" sz="2100">
                <a:solidFill>
                  <a:srgbClr val="000000"/>
                </a:solidFill>
                <a:latin typeface="Times New Roman Bold"/>
                <a:ea typeface="Times New Roman Bold"/>
                <a:cs typeface="Times New Roman Bold"/>
                <a:sym typeface="Times New Roman Bold"/>
              </a:rPr>
              <a:t>GIS &amp; Monitoring Teams</a:t>
            </a:r>
            <a:r>
              <a:rPr lang="en-US" b="true" sz="2100" strike="noStrike" u="none">
                <a:solidFill>
                  <a:srgbClr val="000000"/>
                </a:solidFill>
                <a:latin typeface="Times New Roman Bold"/>
                <a:ea typeface="Times New Roman Bold"/>
                <a:cs typeface="Times New Roman Bold"/>
                <a:sym typeface="Times New Roman Bold"/>
              </a:rPr>
              <a:t>:</a:t>
            </a:r>
          </a:p>
          <a:p>
            <a:pPr algn="l">
              <a:lnSpc>
                <a:spcPts val="2520"/>
              </a:lnSpc>
            </a:pPr>
            <a:r>
              <a:rPr lang="en-US" sz="2100" strike="noStrike" u="none">
                <a:solidFill>
                  <a:srgbClr val="000000"/>
                </a:solidFill>
                <a:latin typeface="Times New Roman"/>
                <a:ea typeface="Times New Roman"/>
                <a:cs typeface="Times New Roman"/>
                <a:sym typeface="Times New Roman"/>
              </a:rPr>
              <a:t> </a:t>
            </a:r>
            <a:r>
              <a:rPr lang="en-US" sz="2100">
                <a:solidFill>
                  <a:srgbClr val="000000"/>
                </a:solidFill>
                <a:latin typeface="Times New Roman"/>
                <a:ea typeface="Times New Roman"/>
                <a:cs typeface="Times New Roman"/>
                <a:sym typeface="Times New Roman"/>
              </a:rPr>
              <a:t>Unified map-based view of classified and persistent thermal sources</a:t>
            </a:r>
            <a:r>
              <a:rPr lang="en-US" sz="2100" strike="noStrike" u="none">
                <a:solidFill>
                  <a:srgbClr val="000000"/>
                </a:solidFill>
                <a:latin typeface="Times New Roman"/>
                <a:ea typeface="Times New Roman"/>
                <a:cs typeface="Times New Roman"/>
                <a:sym typeface="Times New Roman"/>
              </a:rPr>
              <a:t> for continuous monitoring.</a:t>
            </a:r>
          </a:p>
          <a:p>
            <a:pPr algn="l">
              <a:lnSpc>
                <a:spcPts val="2520"/>
              </a:lnSpc>
            </a:pPr>
          </a:p>
          <a:p>
            <a:pPr algn="l">
              <a:lnSpc>
                <a:spcPts val="2520"/>
              </a:lnSpc>
            </a:pPr>
          </a:p>
        </p:txBody>
      </p:sp>
      <p:sp>
        <p:nvSpPr>
          <p:cNvPr name="Freeform 23" id="23"/>
          <p:cNvSpPr/>
          <p:nvPr/>
        </p:nvSpPr>
        <p:spPr>
          <a:xfrm flipH="false" flipV="false" rot="0">
            <a:off x="1841418" y="1822296"/>
            <a:ext cx="6609033" cy="409575"/>
          </a:xfrm>
          <a:custGeom>
            <a:avLst/>
            <a:gdLst/>
            <a:ahLst/>
            <a:cxnLst/>
            <a:rect r="r" b="b" t="t" l="l"/>
            <a:pathLst>
              <a:path h="409575" w="6609033">
                <a:moveTo>
                  <a:pt x="0" y="0"/>
                </a:moveTo>
                <a:lnTo>
                  <a:pt x="6609034" y="0"/>
                </a:lnTo>
                <a:lnTo>
                  <a:pt x="6609034" y="409575"/>
                </a:lnTo>
                <a:lnTo>
                  <a:pt x="0" y="409575"/>
                </a:lnTo>
                <a:lnTo>
                  <a:pt x="0" y="0"/>
                </a:lnTo>
                <a:close/>
              </a:path>
            </a:pathLst>
          </a:custGeom>
          <a:blipFill>
            <a:blip r:embed="rId6">
              <a:alphaModFix amt="70000"/>
            </a:blip>
            <a:stretch>
              <a:fillRect l="-101057" t="-284659" r="-44915" b="-12251"/>
            </a:stretch>
          </a:blipFill>
        </p:spPr>
      </p:sp>
      <p:sp>
        <p:nvSpPr>
          <p:cNvPr name="TextBox 24" id="24"/>
          <p:cNvSpPr txBox="true"/>
          <p:nvPr/>
        </p:nvSpPr>
        <p:spPr>
          <a:xfrm rot="0">
            <a:off x="336292" y="1822296"/>
            <a:ext cx="9619286" cy="390525"/>
          </a:xfrm>
          <a:prstGeom prst="rect">
            <a:avLst/>
          </a:prstGeom>
        </p:spPr>
        <p:txBody>
          <a:bodyPr anchor="t" rtlCol="false" tIns="0" lIns="0" bIns="0" rIns="0">
            <a:spAutoFit/>
          </a:bodyPr>
          <a:lstStyle/>
          <a:p>
            <a:pPr algn="ctr" marL="0" indent="0" lvl="0">
              <a:lnSpc>
                <a:spcPts val="3121"/>
              </a:lnSpc>
              <a:spcBef>
                <a:spcPct val="0"/>
              </a:spcBef>
            </a:pPr>
            <a:r>
              <a:rPr lang="en-US" b="true" sz="2601" strike="noStrike" u="none">
                <a:solidFill>
                  <a:srgbClr val="1E1E1E"/>
                </a:solidFill>
                <a:latin typeface="Aptos Bold"/>
                <a:ea typeface="Aptos Bold"/>
                <a:cs typeface="Aptos Bold"/>
                <a:sym typeface="Aptos Bold"/>
              </a:rPr>
              <a:t>TARGET AUDIENCE / IMPACT</a:t>
            </a:r>
          </a:p>
        </p:txBody>
      </p:sp>
      <p:grpSp>
        <p:nvGrpSpPr>
          <p:cNvPr name="Group 25" id="25"/>
          <p:cNvGrpSpPr/>
          <p:nvPr/>
        </p:nvGrpSpPr>
        <p:grpSpPr>
          <a:xfrm rot="0">
            <a:off x="606979" y="6258168"/>
            <a:ext cx="17194030" cy="3160701"/>
            <a:chOff x="0" y="0"/>
            <a:chExt cx="5070689" cy="932122"/>
          </a:xfrm>
        </p:grpSpPr>
        <p:sp>
          <p:nvSpPr>
            <p:cNvPr name="Freeform 26" id="26"/>
            <p:cNvSpPr/>
            <p:nvPr/>
          </p:nvSpPr>
          <p:spPr>
            <a:xfrm flipH="false" flipV="false" rot="0">
              <a:off x="0" y="0"/>
              <a:ext cx="5070689" cy="932122"/>
            </a:xfrm>
            <a:custGeom>
              <a:avLst/>
              <a:gdLst/>
              <a:ahLst/>
              <a:cxnLst/>
              <a:rect r="r" b="b" t="t" l="l"/>
              <a:pathLst>
                <a:path h="932122" w="5070689">
                  <a:moveTo>
                    <a:pt x="0" y="0"/>
                  </a:moveTo>
                  <a:lnTo>
                    <a:pt x="5070689" y="0"/>
                  </a:lnTo>
                  <a:lnTo>
                    <a:pt x="5070689" y="932122"/>
                  </a:lnTo>
                  <a:lnTo>
                    <a:pt x="0" y="932122"/>
                  </a:lnTo>
                  <a:close/>
                </a:path>
              </a:pathLst>
            </a:custGeom>
            <a:solidFill>
              <a:srgbClr val="FBFCF9"/>
            </a:solidFill>
            <a:ln w="38100" cap="sq">
              <a:solidFill>
                <a:srgbClr val="000000"/>
              </a:solidFill>
              <a:prstDash val="solid"/>
              <a:miter/>
            </a:ln>
          </p:spPr>
        </p:sp>
        <p:sp>
          <p:nvSpPr>
            <p:cNvPr name="TextBox 27" id="27"/>
            <p:cNvSpPr txBox="true"/>
            <p:nvPr/>
          </p:nvSpPr>
          <p:spPr>
            <a:xfrm>
              <a:off x="0" y="0"/>
              <a:ext cx="5070689" cy="932122"/>
            </a:xfrm>
            <a:prstGeom prst="rect">
              <a:avLst/>
            </a:prstGeom>
          </p:spPr>
          <p:txBody>
            <a:bodyPr anchor="ctr" rtlCol="false" tIns="50800" lIns="50800" bIns="50800" rIns="50800"/>
            <a:lstStyle/>
            <a:p>
              <a:pPr algn="ctr">
                <a:lnSpc>
                  <a:spcPts val="2281"/>
                </a:lnSpc>
              </a:pPr>
            </a:p>
          </p:txBody>
        </p:sp>
      </p:grpSp>
      <p:sp>
        <p:nvSpPr>
          <p:cNvPr name="Freeform 28" id="28"/>
          <p:cNvSpPr/>
          <p:nvPr/>
        </p:nvSpPr>
        <p:spPr>
          <a:xfrm flipH="false" flipV="false" rot="0">
            <a:off x="5919197" y="6462007"/>
            <a:ext cx="5920552" cy="559903"/>
          </a:xfrm>
          <a:custGeom>
            <a:avLst/>
            <a:gdLst/>
            <a:ahLst/>
            <a:cxnLst/>
            <a:rect r="r" b="b" t="t" l="l"/>
            <a:pathLst>
              <a:path h="559903" w="5920552">
                <a:moveTo>
                  <a:pt x="0" y="0"/>
                </a:moveTo>
                <a:lnTo>
                  <a:pt x="5920552" y="0"/>
                </a:lnTo>
                <a:lnTo>
                  <a:pt x="5920552" y="559903"/>
                </a:lnTo>
                <a:lnTo>
                  <a:pt x="0" y="559903"/>
                </a:lnTo>
                <a:lnTo>
                  <a:pt x="0" y="0"/>
                </a:lnTo>
                <a:close/>
              </a:path>
            </a:pathLst>
          </a:custGeom>
          <a:blipFill>
            <a:blip r:embed="rId6">
              <a:alphaModFix amt="70000"/>
            </a:blip>
            <a:stretch>
              <a:fillRect l="-100113" t="-82434" r="-44322" b="-76039"/>
            </a:stretch>
          </a:blipFill>
        </p:spPr>
      </p:sp>
      <p:sp>
        <p:nvSpPr>
          <p:cNvPr name="TextBox 29" id="29"/>
          <p:cNvSpPr txBox="true"/>
          <p:nvPr/>
        </p:nvSpPr>
        <p:spPr>
          <a:xfrm rot="0">
            <a:off x="4069830" y="6546696"/>
            <a:ext cx="9619286" cy="409575"/>
          </a:xfrm>
          <a:prstGeom prst="rect">
            <a:avLst/>
          </a:prstGeom>
        </p:spPr>
        <p:txBody>
          <a:bodyPr anchor="t" rtlCol="false" tIns="0" lIns="0" bIns="0" rIns="0">
            <a:spAutoFit/>
          </a:bodyPr>
          <a:lstStyle/>
          <a:p>
            <a:pPr algn="ctr" marL="0" indent="0" lvl="0">
              <a:lnSpc>
                <a:spcPts val="3239"/>
              </a:lnSpc>
              <a:spcBef>
                <a:spcPct val="0"/>
              </a:spcBef>
            </a:pPr>
            <a:r>
              <a:rPr lang="en-US" b="true" sz="2699" strike="noStrike" u="none">
                <a:solidFill>
                  <a:srgbClr val="1E1E1E"/>
                </a:solidFill>
                <a:latin typeface="Aptos Bold"/>
                <a:ea typeface="Aptos Bold"/>
                <a:cs typeface="Aptos Bold"/>
                <a:sym typeface="Aptos Bold"/>
              </a:rPr>
              <a:t>Benefits of the Solution</a:t>
            </a:r>
          </a:p>
        </p:txBody>
      </p:sp>
      <p:sp>
        <p:nvSpPr>
          <p:cNvPr name="TextBox 30" id="30"/>
          <p:cNvSpPr txBox="true"/>
          <p:nvPr/>
        </p:nvSpPr>
        <p:spPr>
          <a:xfrm rot="0">
            <a:off x="1214803" y="7164785"/>
            <a:ext cx="16044497" cy="1905000"/>
          </a:xfrm>
          <a:prstGeom prst="rect">
            <a:avLst/>
          </a:prstGeom>
        </p:spPr>
        <p:txBody>
          <a:bodyPr anchor="t" rtlCol="false" tIns="0" lIns="0" bIns="0" rIns="0">
            <a:spAutoFit/>
          </a:bodyPr>
          <a:lstStyle/>
          <a:p>
            <a:pPr algn="l" marL="453745" indent="-226872" lvl="1">
              <a:lnSpc>
                <a:spcPts val="2521"/>
              </a:lnSpc>
              <a:buAutoNum type="arabicPeriod" startAt="1"/>
            </a:pPr>
            <a:r>
              <a:rPr lang="en-US" b="true" sz="2101">
                <a:solidFill>
                  <a:srgbClr val="000000"/>
                </a:solidFill>
                <a:latin typeface="Times New Roman Bold"/>
                <a:ea typeface="Times New Roman Bold"/>
                <a:cs typeface="Times New Roman Bold"/>
                <a:sym typeface="Times New Roman Bold"/>
              </a:rPr>
              <a:t>Early detection &amp; monitoring: </a:t>
            </a:r>
            <a:r>
              <a:rPr lang="en-US" sz="2101">
                <a:solidFill>
                  <a:srgbClr val="000000"/>
                </a:solidFill>
                <a:latin typeface="Times New Roman"/>
                <a:ea typeface="Times New Roman"/>
                <a:cs typeface="Times New Roman"/>
                <a:sym typeface="Times New Roman"/>
              </a:rPr>
              <a:t>Automatically identifies industrial fires and persistent thermal hotspots using satellite data, enabling faster response.</a:t>
            </a:r>
          </a:p>
          <a:p>
            <a:pPr algn="l" marL="453745" indent="-226872" lvl="1">
              <a:lnSpc>
                <a:spcPts val="2521"/>
              </a:lnSpc>
              <a:buAutoNum type="arabicPeriod" startAt="1"/>
            </a:pPr>
            <a:r>
              <a:rPr lang="en-US" b="true" sz="2101">
                <a:solidFill>
                  <a:srgbClr val="000000"/>
                </a:solidFill>
                <a:latin typeface="Times New Roman Bold"/>
                <a:ea typeface="Times New Roman Bold"/>
                <a:cs typeface="Times New Roman Bold"/>
                <a:sym typeface="Times New Roman Bold"/>
              </a:rPr>
              <a:t>Environmental &amp; public safety: </a:t>
            </a:r>
            <a:r>
              <a:rPr lang="en-US" sz="2101">
                <a:solidFill>
                  <a:srgbClr val="000000"/>
                </a:solidFill>
                <a:latin typeface="Times New Roman"/>
                <a:ea typeface="Times New Roman"/>
                <a:cs typeface="Times New Roman"/>
                <a:sym typeface="Times New Roman"/>
              </a:rPr>
              <a:t>Helps monitor forest, vegetation, and industrial thermal activity to identify potential environmental and safety risks.</a:t>
            </a:r>
          </a:p>
          <a:p>
            <a:pPr algn="l" marL="453745" indent="-226872" lvl="1">
              <a:lnSpc>
                <a:spcPts val="2521"/>
              </a:lnSpc>
              <a:buAutoNum type="arabicPeriod" startAt="1"/>
            </a:pPr>
            <a:r>
              <a:rPr lang="en-US" b="true" sz="2101">
                <a:solidFill>
                  <a:srgbClr val="000000"/>
                </a:solidFill>
                <a:latin typeface="Times New Roman Bold"/>
                <a:ea typeface="Times New Roman Bold"/>
                <a:cs typeface="Times New Roman Bold"/>
                <a:sym typeface="Times New Roman Bold"/>
              </a:rPr>
              <a:t>Cost-effective &amp; scalable: </a:t>
            </a:r>
            <a:r>
              <a:rPr lang="en-US" sz="2101">
                <a:solidFill>
                  <a:srgbClr val="000000"/>
                </a:solidFill>
                <a:latin typeface="Times New Roman"/>
                <a:ea typeface="Times New Roman"/>
                <a:cs typeface="Times New Roman"/>
                <a:sym typeface="Times New Roman"/>
              </a:rPr>
              <a:t>Reduces dependence on extensive ground monitoring and can be scaled to monitor large regions through FIRMS, ML, and GIS.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32144"/>
            <a:ext cx="18288000" cy="754856"/>
            <a:chOff x="0" y="0"/>
            <a:chExt cx="24384000" cy="1006475"/>
          </a:xfrm>
        </p:grpSpPr>
        <p:sp>
          <p:nvSpPr>
            <p:cNvPr name="Freeform 3" id="3"/>
            <p:cNvSpPr/>
            <p:nvPr/>
          </p:nvSpPr>
          <p:spPr>
            <a:xfrm flipH="false" flipV="false" rot="0">
              <a:off x="0" y="0"/>
              <a:ext cx="24384000" cy="1006475"/>
            </a:xfrm>
            <a:custGeom>
              <a:avLst/>
              <a:gdLst/>
              <a:ahLst/>
              <a:cxnLst/>
              <a:rect r="r" b="b" t="t" l="l"/>
              <a:pathLst>
                <a:path h="1006475" w="24384000">
                  <a:moveTo>
                    <a:pt x="0" y="0"/>
                  </a:moveTo>
                  <a:lnTo>
                    <a:pt x="24384000" y="0"/>
                  </a:lnTo>
                  <a:lnTo>
                    <a:pt x="24384000" y="1006475"/>
                  </a:lnTo>
                  <a:lnTo>
                    <a:pt x="0" y="1006475"/>
                  </a:lnTo>
                  <a:close/>
                </a:path>
              </a:pathLst>
            </a:custGeom>
            <a:solidFill>
              <a:srgbClr val="0070C0"/>
            </a:solidFill>
          </p:spPr>
        </p:sp>
      </p:grpSp>
      <p:grpSp>
        <p:nvGrpSpPr>
          <p:cNvPr name="Group 4" id="4"/>
          <p:cNvGrpSpPr/>
          <p:nvPr/>
        </p:nvGrpSpPr>
        <p:grpSpPr>
          <a:xfrm rot="0">
            <a:off x="13106400" y="9534525"/>
            <a:ext cx="4267200" cy="547688"/>
            <a:chOff x="0" y="0"/>
            <a:chExt cx="5689600" cy="730250"/>
          </a:xfrm>
        </p:grpSpPr>
        <p:sp>
          <p:nvSpPr>
            <p:cNvPr name="Freeform 5" id="5"/>
            <p:cNvSpPr/>
            <p:nvPr/>
          </p:nvSpPr>
          <p:spPr>
            <a:xfrm flipH="false" flipV="false" rot="0">
              <a:off x="0" y="0"/>
              <a:ext cx="5689600" cy="730250"/>
            </a:xfrm>
            <a:custGeom>
              <a:avLst/>
              <a:gdLst/>
              <a:ahLst/>
              <a:cxnLst/>
              <a:rect r="r" b="b" t="t" l="l"/>
              <a:pathLst>
                <a:path h="730250" w="5689600">
                  <a:moveTo>
                    <a:pt x="0" y="0"/>
                  </a:moveTo>
                  <a:lnTo>
                    <a:pt x="5689600" y="0"/>
                  </a:lnTo>
                  <a:lnTo>
                    <a:pt x="5689600" y="730250"/>
                  </a:lnTo>
                  <a:lnTo>
                    <a:pt x="0" y="730250"/>
                  </a:lnTo>
                  <a:close/>
                </a:path>
              </a:pathLst>
            </a:custGeom>
            <a:blipFill>
              <a:blip r:embed="rId3">
                <a:alphaModFix amt="0"/>
              </a:blip>
              <a:stretch>
                <a:fillRect l="0" t="-101813" r="0" b="-101813"/>
              </a:stretch>
            </a:blipFill>
          </p:spPr>
        </p:sp>
        <p:sp>
          <p:nvSpPr>
            <p:cNvPr name="TextBox 6" id="6"/>
            <p:cNvSpPr txBox="true"/>
            <p:nvPr/>
          </p:nvSpPr>
          <p:spPr>
            <a:xfrm>
              <a:off x="0" y="-19050"/>
              <a:ext cx="5689600" cy="749300"/>
            </a:xfrm>
            <a:prstGeom prst="rect">
              <a:avLst/>
            </a:prstGeom>
          </p:spPr>
          <p:txBody>
            <a:bodyPr anchor="ctr" rtlCol="false" tIns="0" lIns="0" bIns="0" rIns="0"/>
            <a:lstStyle/>
            <a:p>
              <a:pPr algn="r">
                <a:lnSpc>
                  <a:spcPts val="2160"/>
                </a:lnSpc>
              </a:pPr>
              <a:r>
                <a:rPr lang="en-US" sz="1800" b="true">
                  <a:solidFill>
                    <a:srgbClr val="FFFFFF"/>
                  </a:solidFill>
                  <a:latin typeface="Arimo Bold"/>
                  <a:ea typeface="Arimo Bold"/>
                  <a:cs typeface="Arimo Bold"/>
                  <a:sym typeface="Arimo Bold"/>
                </a:rPr>
                <a:t>2</a:t>
              </a:r>
            </a:p>
          </p:txBody>
        </p:sp>
      </p:grpSp>
      <p:grpSp>
        <p:nvGrpSpPr>
          <p:cNvPr name="Group 7" id="7"/>
          <p:cNvGrpSpPr/>
          <p:nvPr/>
        </p:nvGrpSpPr>
        <p:grpSpPr>
          <a:xfrm rot="0">
            <a:off x="6972300" y="9534525"/>
            <a:ext cx="4806001" cy="547688"/>
            <a:chOff x="0" y="0"/>
            <a:chExt cx="6408001" cy="730250"/>
          </a:xfrm>
        </p:grpSpPr>
        <p:sp>
          <p:nvSpPr>
            <p:cNvPr name="Freeform 8" id="8"/>
            <p:cNvSpPr/>
            <p:nvPr/>
          </p:nvSpPr>
          <p:spPr>
            <a:xfrm flipH="false" flipV="false" rot="0">
              <a:off x="0" y="0"/>
              <a:ext cx="6408000" cy="730250"/>
            </a:xfrm>
            <a:custGeom>
              <a:avLst/>
              <a:gdLst/>
              <a:ahLst/>
              <a:cxnLst/>
              <a:rect r="r" b="b" t="t" l="l"/>
              <a:pathLst>
                <a:path h="730250" w="6408000">
                  <a:moveTo>
                    <a:pt x="0" y="0"/>
                  </a:moveTo>
                  <a:lnTo>
                    <a:pt x="6408000" y="0"/>
                  </a:lnTo>
                  <a:lnTo>
                    <a:pt x="6408000" y="730250"/>
                  </a:lnTo>
                  <a:lnTo>
                    <a:pt x="0" y="730250"/>
                  </a:lnTo>
                  <a:close/>
                </a:path>
              </a:pathLst>
            </a:custGeom>
            <a:blipFill>
              <a:blip r:embed="rId3">
                <a:alphaModFix amt="0"/>
              </a:blip>
              <a:stretch>
                <a:fillRect l="0" t="-120982" r="0" b="-120982"/>
              </a:stretch>
            </a:blipFill>
          </p:spPr>
        </p:sp>
        <p:sp>
          <p:nvSpPr>
            <p:cNvPr name="TextBox 9" id="9"/>
            <p:cNvSpPr txBox="true"/>
            <p:nvPr/>
          </p:nvSpPr>
          <p:spPr>
            <a:xfrm>
              <a:off x="0" y="-19050"/>
              <a:ext cx="6408001" cy="749300"/>
            </a:xfrm>
            <a:prstGeom prst="rect">
              <a:avLst/>
            </a:prstGeom>
          </p:spPr>
          <p:txBody>
            <a:bodyPr anchor="ctr" rtlCol="false" tIns="0" lIns="0" bIns="0" rIns="0"/>
            <a:lstStyle/>
            <a:p>
              <a:pPr algn="ctr">
                <a:lnSpc>
                  <a:spcPts val="2160"/>
                </a:lnSpc>
              </a:pPr>
              <a:r>
                <a:rPr lang="en-US" sz="1800">
                  <a:solidFill>
                    <a:srgbClr val="FFFFFF"/>
                  </a:solidFill>
                  <a:latin typeface="Arimo"/>
                  <a:ea typeface="Arimo"/>
                  <a:cs typeface="Arimo"/>
                  <a:sym typeface="Arimo"/>
                </a:rPr>
                <a:t>@SIH Idea submission- Template</a:t>
              </a:r>
            </a:p>
          </p:txBody>
        </p:sp>
      </p:grpSp>
      <p:grpSp>
        <p:nvGrpSpPr>
          <p:cNvPr name="Group 10" id="10"/>
          <p:cNvGrpSpPr/>
          <p:nvPr/>
        </p:nvGrpSpPr>
        <p:grpSpPr>
          <a:xfrm rot="0">
            <a:off x="475612" y="359321"/>
            <a:ext cx="1755182" cy="1144326"/>
            <a:chOff x="0" y="0"/>
            <a:chExt cx="2554516" cy="1665468"/>
          </a:xfrm>
        </p:grpSpPr>
        <p:sp>
          <p:nvSpPr>
            <p:cNvPr name="Freeform 11" id="11" descr="Your startup LOGO"/>
            <p:cNvSpPr/>
            <p:nvPr/>
          </p:nvSpPr>
          <p:spPr>
            <a:xfrm flipH="false" flipV="false" rot="0">
              <a:off x="0" y="0"/>
              <a:ext cx="2554478" cy="1665481"/>
            </a:xfrm>
            <a:custGeom>
              <a:avLst/>
              <a:gdLst/>
              <a:ahLst/>
              <a:cxnLst/>
              <a:rect r="r" b="b" t="t" l="l"/>
              <a:pathLst>
                <a:path h="1665481" w="2554478">
                  <a:moveTo>
                    <a:pt x="0" y="832740"/>
                  </a:moveTo>
                  <a:cubicBezTo>
                    <a:pt x="0" y="372873"/>
                    <a:pt x="571881" y="0"/>
                    <a:pt x="1277239" y="0"/>
                  </a:cubicBezTo>
                  <a:cubicBezTo>
                    <a:pt x="1982597" y="0"/>
                    <a:pt x="2554478" y="372873"/>
                    <a:pt x="2554478" y="832740"/>
                  </a:cubicBezTo>
                  <a:cubicBezTo>
                    <a:pt x="2554478" y="1292608"/>
                    <a:pt x="1982597" y="1665481"/>
                    <a:pt x="1277239" y="1665481"/>
                  </a:cubicBezTo>
                  <a:cubicBezTo>
                    <a:pt x="571881" y="1665481"/>
                    <a:pt x="0" y="1292608"/>
                    <a:pt x="0" y="832740"/>
                  </a:cubicBezTo>
                  <a:close/>
                </a:path>
              </a:pathLst>
            </a:custGeom>
            <a:solidFill>
              <a:srgbClr val="FFFFFF"/>
            </a:solidFill>
            <a:ln w="38100" cap="sq">
              <a:solidFill>
                <a:srgbClr val="8064A2"/>
              </a:solidFill>
              <a:prstDash val="solid"/>
              <a:miter/>
            </a:ln>
          </p:spPr>
        </p:sp>
        <p:sp>
          <p:nvSpPr>
            <p:cNvPr name="TextBox 12" id="12"/>
            <p:cNvSpPr txBox="true"/>
            <p:nvPr/>
          </p:nvSpPr>
          <p:spPr>
            <a:xfrm>
              <a:off x="0" y="-57150"/>
              <a:ext cx="2554516" cy="1722618"/>
            </a:xfrm>
            <a:prstGeom prst="rect">
              <a:avLst/>
            </a:prstGeom>
          </p:spPr>
          <p:txBody>
            <a:bodyPr anchor="ctr" rtlCol="false" tIns="50800" lIns="50800" bIns="50800" rIns="50800"/>
            <a:lstStyle/>
            <a:p>
              <a:pPr algn="ctr">
                <a:lnSpc>
                  <a:spcPts val="3240"/>
                </a:lnSpc>
              </a:pPr>
              <a:r>
                <a:rPr lang="en-US" sz="2700">
                  <a:solidFill>
                    <a:srgbClr val="000000"/>
                  </a:solidFill>
                  <a:latin typeface="Calibri (MS)"/>
                  <a:ea typeface="Calibri (MS)"/>
                  <a:cs typeface="Calibri (MS)"/>
                  <a:sym typeface="Calibri (MS)"/>
                </a:rPr>
                <a:t>D</a:t>
              </a:r>
              <a:r>
                <a:rPr lang="en-US" sz="2700">
                  <a:solidFill>
                    <a:srgbClr val="000000"/>
                  </a:solidFill>
                  <a:latin typeface="Calibri (MS)"/>
                  <a:ea typeface="Calibri (MS)"/>
                  <a:cs typeface="Calibri (MS)"/>
                  <a:sym typeface="Calibri (MS)"/>
                </a:rPr>
                <a:t>eadlock</a:t>
              </a:r>
            </a:p>
          </p:txBody>
        </p:sp>
      </p:grpSp>
      <p:grpSp>
        <p:nvGrpSpPr>
          <p:cNvPr name="Group 13" id="13"/>
          <p:cNvGrpSpPr/>
          <p:nvPr/>
        </p:nvGrpSpPr>
        <p:grpSpPr>
          <a:xfrm rot="0">
            <a:off x="14670129" y="2248"/>
            <a:ext cx="3374774" cy="1593504"/>
            <a:chOff x="0" y="0"/>
            <a:chExt cx="4499699" cy="2124672"/>
          </a:xfrm>
        </p:grpSpPr>
        <p:sp>
          <p:nvSpPr>
            <p:cNvPr name="Freeform 14" id="14"/>
            <p:cNvSpPr/>
            <p:nvPr/>
          </p:nvSpPr>
          <p:spPr>
            <a:xfrm flipH="false" flipV="false" rot="0">
              <a:off x="0" y="0"/>
              <a:ext cx="4499737" cy="2124710"/>
            </a:xfrm>
            <a:custGeom>
              <a:avLst/>
              <a:gdLst/>
              <a:ahLst/>
              <a:cxnLst/>
              <a:rect r="r" b="b" t="t" l="l"/>
              <a:pathLst>
                <a:path h="2124710" w="4499737">
                  <a:moveTo>
                    <a:pt x="0" y="0"/>
                  </a:moveTo>
                  <a:lnTo>
                    <a:pt x="4499737" y="0"/>
                  </a:lnTo>
                  <a:lnTo>
                    <a:pt x="4499737" y="2124710"/>
                  </a:lnTo>
                  <a:lnTo>
                    <a:pt x="0" y="2124710"/>
                  </a:lnTo>
                  <a:lnTo>
                    <a:pt x="0" y="0"/>
                  </a:lnTo>
                  <a:close/>
                </a:path>
              </a:pathLst>
            </a:custGeom>
            <a:blipFill>
              <a:blip r:embed="rId4"/>
              <a:stretch>
                <a:fillRect l="0" t="0" r="0" b="1"/>
              </a:stretch>
            </a:blipFill>
          </p:spPr>
        </p:sp>
      </p:grpSp>
      <p:grpSp>
        <p:nvGrpSpPr>
          <p:cNvPr name="Group 15" id="15"/>
          <p:cNvGrpSpPr/>
          <p:nvPr/>
        </p:nvGrpSpPr>
        <p:grpSpPr>
          <a:xfrm rot="0">
            <a:off x="9144000" y="1595752"/>
            <a:ext cx="4708441" cy="3385855"/>
            <a:chOff x="0" y="0"/>
            <a:chExt cx="1388565" cy="998522"/>
          </a:xfrm>
        </p:grpSpPr>
        <p:sp>
          <p:nvSpPr>
            <p:cNvPr name="Freeform 16" id="16"/>
            <p:cNvSpPr/>
            <p:nvPr/>
          </p:nvSpPr>
          <p:spPr>
            <a:xfrm flipH="false" flipV="false" rot="0">
              <a:off x="0" y="0"/>
              <a:ext cx="1388565" cy="998522"/>
            </a:xfrm>
            <a:custGeom>
              <a:avLst/>
              <a:gdLst/>
              <a:ahLst/>
              <a:cxnLst/>
              <a:rect r="r" b="b" t="t" l="l"/>
              <a:pathLst>
                <a:path h="998522" w="1388565">
                  <a:moveTo>
                    <a:pt x="83857" y="0"/>
                  </a:moveTo>
                  <a:lnTo>
                    <a:pt x="1304708" y="0"/>
                  </a:lnTo>
                  <a:cubicBezTo>
                    <a:pt x="1326948" y="0"/>
                    <a:pt x="1348278" y="8835"/>
                    <a:pt x="1364004" y="24561"/>
                  </a:cubicBezTo>
                  <a:cubicBezTo>
                    <a:pt x="1379731" y="40288"/>
                    <a:pt x="1388565" y="61617"/>
                    <a:pt x="1388565" y="83857"/>
                  </a:cubicBezTo>
                  <a:lnTo>
                    <a:pt x="1388565" y="914665"/>
                  </a:lnTo>
                  <a:cubicBezTo>
                    <a:pt x="1388565" y="936905"/>
                    <a:pt x="1379731" y="958234"/>
                    <a:pt x="1364004" y="973961"/>
                  </a:cubicBezTo>
                  <a:cubicBezTo>
                    <a:pt x="1348278" y="989687"/>
                    <a:pt x="1326948" y="998522"/>
                    <a:pt x="1304708" y="998522"/>
                  </a:cubicBezTo>
                  <a:lnTo>
                    <a:pt x="83857" y="998522"/>
                  </a:lnTo>
                  <a:cubicBezTo>
                    <a:pt x="61617" y="998522"/>
                    <a:pt x="40288" y="989687"/>
                    <a:pt x="24561" y="973961"/>
                  </a:cubicBezTo>
                  <a:cubicBezTo>
                    <a:pt x="8835" y="958234"/>
                    <a:pt x="0" y="936905"/>
                    <a:pt x="0" y="914665"/>
                  </a:cubicBezTo>
                  <a:lnTo>
                    <a:pt x="0" y="83857"/>
                  </a:lnTo>
                  <a:cubicBezTo>
                    <a:pt x="0" y="61617"/>
                    <a:pt x="8835" y="40288"/>
                    <a:pt x="24561" y="24561"/>
                  </a:cubicBezTo>
                  <a:cubicBezTo>
                    <a:pt x="40288" y="8835"/>
                    <a:pt x="61617" y="0"/>
                    <a:pt x="83857" y="0"/>
                  </a:cubicBezTo>
                  <a:close/>
                </a:path>
              </a:pathLst>
            </a:custGeom>
            <a:solidFill>
              <a:srgbClr val="B9A7CF"/>
            </a:solidFill>
            <a:ln w="38100" cap="rnd">
              <a:solidFill>
                <a:srgbClr val="000000"/>
              </a:solidFill>
              <a:prstDash val="solid"/>
              <a:round/>
            </a:ln>
          </p:spPr>
        </p:sp>
        <p:sp>
          <p:nvSpPr>
            <p:cNvPr name="TextBox 17" id="17"/>
            <p:cNvSpPr txBox="true"/>
            <p:nvPr/>
          </p:nvSpPr>
          <p:spPr>
            <a:xfrm>
              <a:off x="0" y="-9525"/>
              <a:ext cx="1388565" cy="1008047"/>
            </a:xfrm>
            <a:prstGeom prst="rect">
              <a:avLst/>
            </a:prstGeom>
          </p:spPr>
          <p:txBody>
            <a:bodyPr anchor="ctr" rtlCol="false" tIns="50800" lIns="50800" bIns="50800" rIns="50800"/>
            <a:lstStyle/>
            <a:p>
              <a:pPr algn="ctr">
                <a:lnSpc>
                  <a:spcPts val="2521"/>
                </a:lnSpc>
              </a:pPr>
            </a:p>
          </p:txBody>
        </p:sp>
      </p:grpSp>
      <p:grpSp>
        <p:nvGrpSpPr>
          <p:cNvPr name="Group 18" id="18"/>
          <p:cNvGrpSpPr/>
          <p:nvPr/>
        </p:nvGrpSpPr>
        <p:grpSpPr>
          <a:xfrm rot="0">
            <a:off x="800100" y="-210853"/>
            <a:ext cx="16459200" cy="1714500"/>
            <a:chOff x="0" y="0"/>
            <a:chExt cx="21945600" cy="2286000"/>
          </a:xfrm>
        </p:grpSpPr>
        <p:sp>
          <p:nvSpPr>
            <p:cNvPr name="Freeform 19" id="19"/>
            <p:cNvSpPr/>
            <p:nvPr/>
          </p:nvSpPr>
          <p:spPr>
            <a:xfrm flipH="false" flipV="false" rot="0">
              <a:off x="0" y="0"/>
              <a:ext cx="21945600" cy="2286000"/>
            </a:xfrm>
            <a:custGeom>
              <a:avLst/>
              <a:gdLst/>
              <a:ahLst/>
              <a:cxnLst/>
              <a:rect r="r" b="b" t="t" l="l"/>
              <a:pathLst>
                <a:path h="2286000" w="21945600">
                  <a:moveTo>
                    <a:pt x="0" y="0"/>
                  </a:moveTo>
                  <a:lnTo>
                    <a:pt x="21945600" y="0"/>
                  </a:lnTo>
                  <a:lnTo>
                    <a:pt x="21945600" y="2286000"/>
                  </a:lnTo>
                  <a:lnTo>
                    <a:pt x="0" y="2286000"/>
                  </a:lnTo>
                  <a:close/>
                </a:path>
              </a:pathLst>
            </a:custGeom>
            <a:blipFill>
              <a:blip r:embed="rId3">
                <a:alphaModFix amt="0"/>
              </a:blip>
              <a:stretch>
                <a:fillRect l="0" t="-137056" r="0" b="-137056"/>
              </a:stretch>
            </a:blipFill>
          </p:spPr>
        </p:sp>
        <p:sp>
          <p:nvSpPr>
            <p:cNvPr name="TextBox 20" id="20"/>
            <p:cNvSpPr txBox="true"/>
            <p:nvPr/>
          </p:nvSpPr>
          <p:spPr>
            <a:xfrm>
              <a:off x="0" y="-28575"/>
              <a:ext cx="21945600" cy="2314575"/>
            </a:xfrm>
            <a:prstGeom prst="rect">
              <a:avLst/>
            </a:prstGeom>
          </p:spPr>
          <p:txBody>
            <a:bodyPr anchor="ctr" rtlCol="false" tIns="0" lIns="0" bIns="0" rIns="0"/>
            <a:lstStyle/>
            <a:p>
              <a:pPr algn="ctr">
                <a:lnSpc>
                  <a:spcPts val="6480"/>
                </a:lnSpc>
              </a:pPr>
              <a:r>
                <a:rPr lang="en-US" sz="5400" b="true">
                  <a:solidFill>
                    <a:srgbClr val="000000"/>
                  </a:solidFill>
                  <a:latin typeface="Times New Roman Bold"/>
                  <a:ea typeface="Times New Roman Bold"/>
                  <a:cs typeface="Times New Roman Bold"/>
                  <a:sym typeface="Times New Roman Bold"/>
                </a:rPr>
                <a:t>RESEARCH  AND REFERENCES</a:t>
              </a:r>
            </a:p>
          </p:txBody>
        </p:sp>
      </p:grpSp>
      <p:grpSp>
        <p:nvGrpSpPr>
          <p:cNvPr name="Group 21" id="21"/>
          <p:cNvGrpSpPr/>
          <p:nvPr/>
        </p:nvGrpSpPr>
        <p:grpSpPr>
          <a:xfrm rot="0">
            <a:off x="4060610" y="1595752"/>
            <a:ext cx="4708441" cy="3385855"/>
            <a:chOff x="0" y="0"/>
            <a:chExt cx="1388565" cy="998522"/>
          </a:xfrm>
        </p:grpSpPr>
        <p:sp>
          <p:nvSpPr>
            <p:cNvPr name="Freeform 22" id="22"/>
            <p:cNvSpPr/>
            <p:nvPr/>
          </p:nvSpPr>
          <p:spPr>
            <a:xfrm flipH="false" flipV="false" rot="0">
              <a:off x="0" y="0"/>
              <a:ext cx="1388565" cy="998522"/>
            </a:xfrm>
            <a:custGeom>
              <a:avLst/>
              <a:gdLst/>
              <a:ahLst/>
              <a:cxnLst/>
              <a:rect r="r" b="b" t="t" l="l"/>
              <a:pathLst>
                <a:path h="998522" w="1388565">
                  <a:moveTo>
                    <a:pt x="83857" y="0"/>
                  </a:moveTo>
                  <a:lnTo>
                    <a:pt x="1304708" y="0"/>
                  </a:lnTo>
                  <a:cubicBezTo>
                    <a:pt x="1326948" y="0"/>
                    <a:pt x="1348278" y="8835"/>
                    <a:pt x="1364004" y="24561"/>
                  </a:cubicBezTo>
                  <a:cubicBezTo>
                    <a:pt x="1379731" y="40288"/>
                    <a:pt x="1388565" y="61617"/>
                    <a:pt x="1388565" y="83857"/>
                  </a:cubicBezTo>
                  <a:lnTo>
                    <a:pt x="1388565" y="914665"/>
                  </a:lnTo>
                  <a:cubicBezTo>
                    <a:pt x="1388565" y="936905"/>
                    <a:pt x="1379731" y="958234"/>
                    <a:pt x="1364004" y="973961"/>
                  </a:cubicBezTo>
                  <a:cubicBezTo>
                    <a:pt x="1348278" y="989687"/>
                    <a:pt x="1326948" y="998522"/>
                    <a:pt x="1304708" y="998522"/>
                  </a:cubicBezTo>
                  <a:lnTo>
                    <a:pt x="83857" y="998522"/>
                  </a:lnTo>
                  <a:cubicBezTo>
                    <a:pt x="61617" y="998522"/>
                    <a:pt x="40288" y="989687"/>
                    <a:pt x="24561" y="973961"/>
                  </a:cubicBezTo>
                  <a:cubicBezTo>
                    <a:pt x="8835" y="958234"/>
                    <a:pt x="0" y="936905"/>
                    <a:pt x="0" y="914665"/>
                  </a:cubicBezTo>
                  <a:lnTo>
                    <a:pt x="0" y="83857"/>
                  </a:lnTo>
                  <a:cubicBezTo>
                    <a:pt x="0" y="61617"/>
                    <a:pt x="8835" y="40288"/>
                    <a:pt x="24561" y="24561"/>
                  </a:cubicBezTo>
                  <a:cubicBezTo>
                    <a:pt x="40288" y="8835"/>
                    <a:pt x="61617" y="0"/>
                    <a:pt x="83857" y="0"/>
                  </a:cubicBezTo>
                  <a:close/>
                </a:path>
              </a:pathLst>
            </a:custGeom>
            <a:solidFill>
              <a:srgbClr val="ED8379"/>
            </a:solidFill>
            <a:ln w="38100" cap="rnd">
              <a:solidFill>
                <a:srgbClr val="000000"/>
              </a:solidFill>
              <a:prstDash val="solid"/>
              <a:round/>
            </a:ln>
          </p:spPr>
        </p:sp>
        <p:sp>
          <p:nvSpPr>
            <p:cNvPr name="TextBox 23" id="23"/>
            <p:cNvSpPr txBox="true"/>
            <p:nvPr/>
          </p:nvSpPr>
          <p:spPr>
            <a:xfrm>
              <a:off x="0" y="-9525"/>
              <a:ext cx="1388565" cy="1008047"/>
            </a:xfrm>
            <a:prstGeom prst="rect">
              <a:avLst/>
            </a:prstGeom>
          </p:spPr>
          <p:txBody>
            <a:bodyPr anchor="ctr" rtlCol="false" tIns="50800" lIns="50800" bIns="50800" rIns="50800"/>
            <a:lstStyle/>
            <a:p>
              <a:pPr algn="ctr">
                <a:lnSpc>
                  <a:spcPts val="2521"/>
                </a:lnSpc>
              </a:pPr>
            </a:p>
          </p:txBody>
        </p:sp>
      </p:grpSp>
      <p:grpSp>
        <p:nvGrpSpPr>
          <p:cNvPr name="Group 24" id="24"/>
          <p:cNvGrpSpPr/>
          <p:nvPr/>
        </p:nvGrpSpPr>
        <p:grpSpPr>
          <a:xfrm rot="0">
            <a:off x="4060610" y="5187555"/>
            <a:ext cx="4708441" cy="3385855"/>
            <a:chOff x="0" y="0"/>
            <a:chExt cx="1388565" cy="998522"/>
          </a:xfrm>
        </p:grpSpPr>
        <p:sp>
          <p:nvSpPr>
            <p:cNvPr name="Freeform 25" id="25"/>
            <p:cNvSpPr/>
            <p:nvPr/>
          </p:nvSpPr>
          <p:spPr>
            <a:xfrm flipH="false" flipV="false" rot="0">
              <a:off x="0" y="0"/>
              <a:ext cx="1388565" cy="998522"/>
            </a:xfrm>
            <a:custGeom>
              <a:avLst/>
              <a:gdLst/>
              <a:ahLst/>
              <a:cxnLst/>
              <a:rect r="r" b="b" t="t" l="l"/>
              <a:pathLst>
                <a:path h="998522" w="1388565">
                  <a:moveTo>
                    <a:pt x="83857" y="0"/>
                  </a:moveTo>
                  <a:lnTo>
                    <a:pt x="1304708" y="0"/>
                  </a:lnTo>
                  <a:cubicBezTo>
                    <a:pt x="1326948" y="0"/>
                    <a:pt x="1348278" y="8835"/>
                    <a:pt x="1364004" y="24561"/>
                  </a:cubicBezTo>
                  <a:cubicBezTo>
                    <a:pt x="1379731" y="40288"/>
                    <a:pt x="1388565" y="61617"/>
                    <a:pt x="1388565" y="83857"/>
                  </a:cubicBezTo>
                  <a:lnTo>
                    <a:pt x="1388565" y="914665"/>
                  </a:lnTo>
                  <a:cubicBezTo>
                    <a:pt x="1388565" y="936905"/>
                    <a:pt x="1379731" y="958234"/>
                    <a:pt x="1364004" y="973961"/>
                  </a:cubicBezTo>
                  <a:cubicBezTo>
                    <a:pt x="1348278" y="989687"/>
                    <a:pt x="1326948" y="998522"/>
                    <a:pt x="1304708" y="998522"/>
                  </a:cubicBezTo>
                  <a:lnTo>
                    <a:pt x="83857" y="998522"/>
                  </a:lnTo>
                  <a:cubicBezTo>
                    <a:pt x="61617" y="998522"/>
                    <a:pt x="40288" y="989687"/>
                    <a:pt x="24561" y="973961"/>
                  </a:cubicBezTo>
                  <a:cubicBezTo>
                    <a:pt x="8835" y="958234"/>
                    <a:pt x="0" y="936905"/>
                    <a:pt x="0" y="914665"/>
                  </a:cubicBezTo>
                  <a:lnTo>
                    <a:pt x="0" y="83857"/>
                  </a:lnTo>
                  <a:cubicBezTo>
                    <a:pt x="0" y="61617"/>
                    <a:pt x="8835" y="40288"/>
                    <a:pt x="24561" y="24561"/>
                  </a:cubicBezTo>
                  <a:cubicBezTo>
                    <a:pt x="40288" y="8835"/>
                    <a:pt x="61617" y="0"/>
                    <a:pt x="83857" y="0"/>
                  </a:cubicBezTo>
                  <a:close/>
                </a:path>
              </a:pathLst>
            </a:custGeom>
            <a:solidFill>
              <a:srgbClr val="A0CBFF"/>
            </a:solidFill>
            <a:ln w="38100" cap="rnd">
              <a:solidFill>
                <a:srgbClr val="000000"/>
              </a:solidFill>
              <a:prstDash val="solid"/>
              <a:round/>
            </a:ln>
          </p:spPr>
        </p:sp>
        <p:sp>
          <p:nvSpPr>
            <p:cNvPr name="TextBox 26" id="26"/>
            <p:cNvSpPr txBox="true"/>
            <p:nvPr/>
          </p:nvSpPr>
          <p:spPr>
            <a:xfrm>
              <a:off x="0" y="-9525"/>
              <a:ext cx="1388565" cy="1008047"/>
            </a:xfrm>
            <a:prstGeom prst="rect">
              <a:avLst/>
            </a:prstGeom>
          </p:spPr>
          <p:txBody>
            <a:bodyPr anchor="ctr" rtlCol="false" tIns="50800" lIns="50800" bIns="50800" rIns="50800"/>
            <a:lstStyle/>
            <a:p>
              <a:pPr algn="ctr">
                <a:lnSpc>
                  <a:spcPts val="2521"/>
                </a:lnSpc>
              </a:pPr>
            </a:p>
          </p:txBody>
        </p:sp>
      </p:grpSp>
      <p:grpSp>
        <p:nvGrpSpPr>
          <p:cNvPr name="Group 27" id="27"/>
          <p:cNvGrpSpPr/>
          <p:nvPr/>
        </p:nvGrpSpPr>
        <p:grpSpPr>
          <a:xfrm rot="0">
            <a:off x="9144000" y="5187555"/>
            <a:ext cx="4708441" cy="3385855"/>
            <a:chOff x="0" y="0"/>
            <a:chExt cx="1388565" cy="998522"/>
          </a:xfrm>
        </p:grpSpPr>
        <p:sp>
          <p:nvSpPr>
            <p:cNvPr name="Freeform 28" id="28"/>
            <p:cNvSpPr/>
            <p:nvPr/>
          </p:nvSpPr>
          <p:spPr>
            <a:xfrm flipH="false" flipV="false" rot="0">
              <a:off x="0" y="0"/>
              <a:ext cx="1388565" cy="998522"/>
            </a:xfrm>
            <a:custGeom>
              <a:avLst/>
              <a:gdLst/>
              <a:ahLst/>
              <a:cxnLst/>
              <a:rect r="r" b="b" t="t" l="l"/>
              <a:pathLst>
                <a:path h="998522" w="1388565">
                  <a:moveTo>
                    <a:pt x="83857" y="0"/>
                  </a:moveTo>
                  <a:lnTo>
                    <a:pt x="1304708" y="0"/>
                  </a:lnTo>
                  <a:cubicBezTo>
                    <a:pt x="1326948" y="0"/>
                    <a:pt x="1348278" y="8835"/>
                    <a:pt x="1364004" y="24561"/>
                  </a:cubicBezTo>
                  <a:cubicBezTo>
                    <a:pt x="1379731" y="40288"/>
                    <a:pt x="1388565" y="61617"/>
                    <a:pt x="1388565" y="83857"/>
                  </a:cubicBezTo>
                  <a:lnTo>
                    <a:pt x="1388565" y="914665"/>
                  </a:lnTo>
                  <a:cubicBezTo>
                    <a:pt x="1388565" y="936905"/>
                    <a:pt x="1379731" y="958234"/>
                    <a:pt x="1364004" y="973961"/>
                  </a:cubicBezTo>
                  <a:cubicBezTo>
                    <a:pt x="1348278" y="989687"/>
                    <a:pt x="1326948" y="998522"/>
                    <a:pt x="1304708" y="998522"/>
                  </a:cubicBezTo>
                  <a:lnTo>
                    <a:pt x="83857" y="998522"/>
                  </a:lnTo>
                  <a:cubicBezTo>
                    <a:pt x="61617" y="998522"/>
                    <a:pt x="40288" y="989687"/>
                    <a:pt x="24561" y="973961"/>
                  </a:cubicBezTo>
                  <a:cubicBezTo>
                    <a:pt x="8835" y="958234"/>
                    <a:pt x="0" y="936905"/>
                    <a:pt x="0" y="914665"/>
                  </a:cubicBezTo>
                  <a:lnTo>
                    <a:pt x="0" y="83857"/>
                  </a:lnTo>
                  <a:cubicBezTo>
                    <a:pt x="0" y="61617"/>
                    <a:pt x="8835" y="40288"/>
                    <a:pt x="24561" y="24561"/>
                  </a:cubicBezTo>
                  <a:cubicBezTo>
                    <a:pt x="40288" y="8835"/>
                    <a:pt x="61617" y="0"/>
                    <a:pt x="83857" y="0"/>
                  </a:cubicBezTo>
                  <a:close/>
                </a:path>
              </a:pathLst>
            </a:custGeom>
            <a:solidFill>
              <a:srgbClr val="F7AE5B"/>
            </a:solidFill>
            <a:ln w="38100" cap="rnd">
              <a:solidFill>
                <a:srgbClr val="000000"/>
              </a:solidFill>
              <a:prstDash val="solid"/>
              <a:round/>
            </a:ln>
          </p:spPr>
        </p:sp>
        <p:sp>
          <p:nvSpPr>
            <p:cNvPr name="TextBox 29" id="29"/>
            <p:cNvSpPr txBox="true"/>
            <p:nvPr/>
          </p:nvSpPr>
          <p:spPr>
            <a:xfrm>
              <a:off x="0" y="-9525"/>
              <a:ext cx="1388565" cy="1008047"/>
            </a:xfrm>
            <a:prstGeom prst="rect">
              <a:avLst/>
            </a:prstGeom>
          </p:spPr>
          <p:txBody>
            <a:bodyPr anchor="ctr" rtlCol="false" tIns="50800" lIns="50800" bIns="50800" rIns="50800"/>
            <a:lstStyle/>
            <a:p>
              <a:pPr algn="ctr">
                <a:lnSpc>
                  <a:spcPts val="2521"/>
                </a:lnSpc>
              </a:pPr>
            </a:p>
          </p:txBody>
        </p:sp>
      </p:grpSp>
      <p:sp>
        <p:nvSpPr>
          <p:cNvPr name="Freeform 30" id="30"/>
          <p:cNvSpPr/>
          <p:nvPr/>
        </p:nvSpPr>
        <p:spPr>
          <a:xfrm flipH="false" flipV="false" rot="0">
            <a:off x="1256873" y="2314758"/>
            <a:ext cx="1947843" cy="1947843"/>
          </a:xfrm>
          <a:custGeom>
            <a:avLst/>
            <a:gdLst/>
            <a:ahLst/>
            <a:cxnLst/>
            <a:rect r="r" b="b" t="t" l="l"/>
            <a:pathLst>
              <a:path h="1947843" w="1947843">
                <a:moveTo>
                  <a:pt x="0" y="0"/>
                </a:moveTo>
                <a:lnTo>
                  <a:pt x="1947842" y="0"/>
                </a:lnTo>
                <a:lnTo>
                  <a:pt x="1947842" y="1947843"/>
                </a:lnTo>
                <a:lnTo>
                  <a:pt x="0" y="194784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31" id="31"/>
          <p:cNvSpPr txBox="true"/>
          <p:nvPr/>
        </p:nvSpPr>
        <p:spPr>
          <a:xfrm rot="0">
            <a:off x="9568511" y="1913156"/>
            <a:ext cx="3859419" cy="486442"/>
          </a:xfrm>
          <a:prstGeom prst="rect">
            <a:avLst/>
          </a:prstGeom>
        </p:spPr>
        <p:txBody>
          <a:bodyPr anchor="t" rtlCol="false" tIns="0" lIns="0" bIns="0" rIns="0">
            <a:spAutoFit/>
          </a:bodyPr>
          <a:lstStyle/>
          <a:p>
            <a:pPr algn="ctr">
              <a:lnSpc>
                <a:spcPts val="4001"/>
              </a:lnSpc>
            </a:pPr>
            <a:r>
              <a:rPr lang="en-US" sz="2857" b="true">
                <a:solidFill>
                  <a:srgbClr val="000000"/>
                </a:solidFill>
                <a:latin typeface="Canva Sans Bold"/>
                <a:ea typeface="Canva Sans Bold"/>
                <a:cs typeface="Canva Sans Bold"/>
                <a:sym typeface="Canva Sans Bold"/>
              </a:rPr>
              <a:t>Data Sources</a:t>
            </a:r>
          </a:p>
        </p:txBody>
      </p:sp>
      <p:sp>
        <p:nvSpPr>
          <p:cNvPr name="TextBox 32" id="32"/>
          <p:cNvSpPr txBox="true"/>
          <p:nvPr/>
        </p:nvSpPr>
        <p:spPr>
          <a:xfrm rot="0">
            <a:off x="4485121" y="1913156"/>
            <a:ext cx="3859419" cy="486442"/>
          </a:xfrm>
          <a:prstGeom prst="rect">
            <a:avLst/>
          </a:prstGeom>
        </p:spPr>
        <p:txBody>
          <a:bodyPr anchor="t" rtlCol="false" tIns="0" lIns="0" bIns="0" rIns="0">
            <a:spAutoFit/>
          </a:bodyPr>
          <a:lstStyle/>
          <a:p>
            <a:pPr algn="ctr">
              <a:lnSpc>
                <a:spcPts val="4001"/>
              </a:lnSpc>
            </a:pPr>
            <a:r>
              <a:rPr lang="en-US" sz="2857" b="true">
                <a:solidFill>
                  <a:srgbClr val="000000"/>
                </a:solidFill>
                <a:latin typeface="Canva Sans Bold"/>
                <a:ea typeface="Canva Sans Bold"/>
                <a:cs typeface="Canva Sans Bold"/>
                <a:sym typeface="Canva Sans Bold"/>
              </a:rPr>
              <a:t>Research</a:t>
            </a:r>
          </a:p>
        </p:txBody>
      </p:sp>
      <p:sp>
        <p:nvSpPr>
          <p:cNvPr name="TextBox 33" id="33"/>
          <p:cNvSpPr txBox="true"/>
          <p:nvPr/>
        </p:nvSpPr>
        <p:spPr>
          <a:xfrm rot="0">
            <a:off x="4485121" y="5391182"/>
            <a:ext cx="3859419" cy="486442"/>
          </a:xfrm>
          <a:prstGeom prst="rect">
            <a:avLst/>
          </a:prstGeom>
        </p:spPr>
        <p:txBody>
          <a:bodyPr anchor="t" rtlCol="false" tIns="0" lIns="0" bIns="0" rIns="0">
            <a:spAutoFit/>
          </a:bodyPr>
          <a:lstStyle/>
          <a:p>
            <a:pPr algn="ctr">
              <a:lnSpc>
                <a:spcPts val="4001"/>
              </a:lnSpc>
            </a:pPr>
            <a:r>
              <a:rPr lang="en-US" sz="2857" b="true">
                <a:solidFill>
                  <a:srgbClr val="000000"/>
                </a:solidFill>
                <a:latin typeface="Canva Sans Bold"/>
                <a:ea typeface="Canva Sans Bold"/>
                <a:cs typeface="Canva Sans Bold"/>
                <a:sym typeface="Canva Sans Bold"/>
              </a:rPr>
              <a:t>Github Link</a:t>
            </a:r>
          </a:p>
        </p:txBody>
      </p:sp>
      <p:sp>
        <p:nvSpPr>
          <p:cNvPr name="TextBox 34" id="34"/>
          <p:cNvSpPr txBox="true"/>
          <p:nvPr/>
        </p:nvSpPr>
        <p:spPr>
          <a:xfrm rot="0">
            <a:off x="9568511" y="5391182"/>
            <a:ext cx="3859419" cy="486442"/>
          </a:xfrm>
          <a:prstGeom prst="rect">
            <a:avLst/>
          </a:prstGeom>
        </p:spPr>
        <p:txBody>
          <a:bodyPr anchor="t" rtlCol="false" tIns="0" lIns="0" bIns="0" rIns="0">
            <a:spAutoFit/>
          </a:bodyPr>
          <a:lstStyle/>
          <a:p>
            <a:pPr algn="ctr">
              <a:lnSpc>
                <a:spcPts val="4001"/>
              </a:lnSpc>
            </a:pPr>
            <a:r>
              <a:rPr lang="en-US" sz="2857" b="true">
                <a:solidFill>
                  <a:srgbClr val="000000"/>
                </a:solidFill>
                <a:latin typeface="Canva Sans Bold"/>
                <a:ea typeface="Canva Sans Bold"/>
                <a:cs typeface="Canva Sans Bold"/>
                <a:sym typeface="Canva Sans Bold"/>
              </a:rPr>
              <a:t>Live Demo</a:t>
            </a:r>
          </a:p>
        </p:txBody>
      </p:sp>
      <p:sp>
        <p:nvSpPr>
          <p:cNvPr name="Freeform 35" id="35"/>
          <p:cNvSpPr/>
          <p:nvPr/>
        </p:nvSpPr>
        <p:spPr>
          <a:xfrm flipH="true" flipV="false" rot="0">
            <a:off x="14670129" y="6880483"/>
            <a:ext cx="1947843" cy="1947843"/>
          </a:xfrm>
          <a:custGeom>
            <a:avLst/>
            <a:gdLst/>
            <a:ahLst/>
            <a:cxnLst/>
            <a:rect r="r" b="b" t="t" l="l"/>
            <a:pathLst>
              <a:path h="1947843" w="1947843">
                <a:moveTo>
                  <a:pt x="1947842" y="0"/>
                </a:moveTo>
                <a:lnTo>
                  <a:pt x="0" y="0"/>
                </a:lnTo>
                <a:lnTo>
                  <a:pt x="0" y="1947842"/>
                </a:lnTo>
                <a:lnTo>
                  <a:pt x="1947842" y="1947842"/>
                </a:lnTo>
                <a:lnTo>
                  <a:pt x="1947842"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32144"/>
            <a:ext cx="18288000" cy="754856"/>
            <a:chOff x="0" y="0"/>
            <a:chExt cx="24384000" cy="1006475"/>
          </a:xfrm>
        </p:grpSpPr>
        <p:sp>
          <p:nvSpPr>
            <p:cNvPr name="Freeform 3" id="3"/>
            <p:cNvSpPr/>
            <p:nvPr/>
          </p:nvSpPr>
          <p:spPr>
            <a:xfrm flipH="false" flipV="false" rot="0">
              <a:off x="0" y="0"/>
              <a:ext cx="24384000" cy="1006475"/>
            </a:xfrm>
            <a:custGeom>
              <a:avLst/>
              <a:gdLst/>
              <a:ahLst/>
              <a:cxnLst/>
              <a:rect r="r" b="b" t="t" l="l"/>
              <a:pathLst>
                <a:path h="1006475" w="24384000">
                  <a:moveTo>
                    <a:pt x="0" y="0"/>
                  </a:moveTo>
                  <a:lnTo>
                    <a:pt x="24384000" y="0"/>
                  </a:lnTo>
                  <a:lnTo>
                    <a:pt x="24384000" y="1006475"/>
                  </a:lnTo>
                  <a:lnTo>
                    <a:pt x="0" y="1006475"/>
                  </a:lnTo>
                  <a:close/>
                </a:path>
              </a:pathLst>
            </a:custGeom>
            <a:solidFill>
              <a:srgbClr val="0070C0"/>
            </a:solidFill>
          </p:spPr>
        </p:sp>
      </p:grpSp>
      <p:grpSp>
        <p:nvGrpSpPr>
          <p:cNvPr name="Group 4" id="4"/>
          <p:cNvGrpSpPr/>
          <p:nvPr/>
        </p:nvGrpSpPr>
        <p:grpSpPr>
          <a:xfrm rot="0">
            <a:off x="914400" y="-71438"/>
            <a:ext cx="16459200" cy="1714500"/>
            <a:chOff x="0" y="0"/>
            <a:chExt cx="21945600" cy="2286000"/>
          </a:xfrm>
        </p:grpSpPr>
        <p:sp>
          <p:nvSpPr>
            <p:cNvPr name="Freeform 5" id="5"/>
            <p:cNvSpPr/>
            <p:nvPr/>
          </p:nvSpPr>
          <p:spPr>
            <a:xfrm flipH="false" flipV="false" rot="0">
              <a:off x="0" y="0"/>
              <a:ext cx="21945600" cy="2286000"/>
            </a:xfrm>
            <a:custGeom>
              <a:avLst/>
              <a:gdLst/>
              <a:ahLst/>
              <a:cxnLst/>
              <a:rect r="r" b="b" t="t" l="l"/>
              <a:pathLst>
                <a:path h="2286000" w="21945600">
                  <a:moveTo>
                    <a:pt x="0" y="0"/>
                  </a:moveTo>
                  <a:lnTo>
                    <a:pt x="21945600" y="0"/>
                  </a:lnTo>
                  <a:lnTo>
                    <a:pt x="21945600" y="2286000"/>
                  </a:lnTo>
                  <a:lnTo>
                    <a:pt x="0" y="2286000"/>
                  </a:lnTo>
                  <a:close/>
                </a:path>
              </a:pathLst>
            </a:custGeom>
            <a:blipFill>
              <a:blip r:embed="rId3">
                <a:alphaModFix amt="0"/>
              </a:blip>
              <a:stretch>
                <a:fillRect l="0" t="-137056" r="0" b="-137056"/>
              </a:stretch>
            </a:blipFill>
          </p:spPr>
        </p:sp>
        <p:sp>
          <p:nvSpPr>
            <p:cNvPr name="TextBox 6" id="6"/>
            <p:cNvSpPr txBox="true"/>
            <p:nvPr/>
          </p:nvSpPr>
          <p:spPr>
            <a:xfrm>
              <a:off x="0" y="-28575"/>
              <a:ext cx="21945600" cy="2314575"/>
            </a:xfrm>
            <a:prstGeom prst="rect">
              <a:avLst/>
            </a:prstGeom>
          </p:spPr>
          <p:txBody>
            <a:bodyPr anchor="ctr" rtlCol="false" tIns="0" lIns="0" bIns="0" rIns="0"/>
            <a:lstStyle/>
            <a:p>
              <a:pPr algn="ctr">
                <a:lnSpc>
                  <a:spcPts val="6480"/>
                </a:lnSpc>
              </a:pPr>
              <a:r>
                <a:rPr lang="en-US" sz="5400" b="true">
                  <a:solidFill>
                    <a:srgbClr val="000000"/>
                  </a:solidFill>
                  <a:latin typeface="Times New Roman Bold"/>
                  <a:ea typeface="Times New Roman Bold"/>
                  <a:cs typeface="Times New Roman Bold"/>
                  <a:sym typeface="Times New Roman Bold"/>
                </a:rPr>
                <a:t>RESEARCH  AND REFERENCES</a:t>
              </a:r>
            </a:p>
          </p:txBody>
        </p:sp>
      </p:grpSp>
      <p:grpSp>
        <p:nvGrpSpPr>
          <p:cNvPr name="Group 7" id="7"/>
          <p:cNvGrpSpPr/>
          <p:nvPr/>
        </p:nvGrpSpPr>
        <p:grpSpPr>
          <a:xfrm rot="0">
            <a:off x="13106400" y="9534525"/>
            <a:ext cx="4267200" cy="547688"/>
            <a:chOff x="0" y="0"/>
            <a:chExt cx="5689600" cy="730250"/>
          </a:xfrm>
        </p:grpSpPr>
        <p:sp>
          <p:nvSpPr>
            <p:cNvPr name="Freeform 8" id="8"/>
            <p:cNvSpPr/>
            <p:nvPr/>
          </p:nvSpPr>
          <p:spPr>
            <a:xfrm flipH="false" flipV="false" rot="0">
              <a:off x="0" y="0"/>
              <a:ext cx="5689600" cy="730250"/>
            </a:xfrm>
            <a:custGeom>
              <a:avLst/>
              <a:gdLst/>
              <a:ahLst/>
              <a:cxnLst/>
              <a:rect r="r" b="b" t="t" l="l"/>
              <a:pathLst>
                <a:path h="730250" w="5689600">
                  <a:moveTo>
                    <a:pt x="0" y="0"/>
                  </a:moveTo>
                  <a:lnTo>
                    <a:pt x="5689600" y="0"/>
                  </a:lnTo>
                  <a:lnTo>
                    <a:pt x="5689600" y="730250"/>
                  </a:lnTo>
                  <a:lnTo>
                    <a:pt x="0" y="730250"/>
                  </a:lnTo>
                  <a:close/>
                </a:path>
              </a:pathLst>
            </a:custGeom>
            <a:blipFill>
              <a:blip r:embed="rId3">
                <a:alphaModFix amt="0"/>
              </a:blip>
              <a:stretch>
                <a:fillRect l="0" t="-101813" r="0" b="-101813"/>
              </a:stretch>
            </a:blipFill>
          </p:spPr>
        </p:sp>
        <p:sp>
          <p:nvSpPr>
            <p:cNvPr name="TextBox 9" id="9"/>
            <p:cNvSpPr txBox="true"/>
            <p:nvPr/>
          </p:nvSpPr>
          <p:spPr>
            <a:xfrm>
              <a:off x="0" y="-19050"/>
              <a:ext cx="5689600" cy="749300"/>
            </a:xfrm>
            <a:prstGeom prst="rect">
              <a:avLst/>
            </a:prstGeom>
          </p:spPr>
          <p:txBody>
            <a:bodyPr anchor="ctr" rtlCol="false" tIns="0" lIns="0" bIns="0" rIns="0"/>
            <a:lstStyle/>
            <a:p>
              <a:pPr algn="r">
                <a:lnSpc>
                  <a:spcPts val="2160"/>
                </a:lnSpc>
              </a:pPr>
              <a:r>
                <a:rPr lang="en-US" b="true" sz="1800">
                  <a:solidFill>
                    <a:srgbClr val="FFFFFF"/>
                  </a:solidFill>
                  <a:latin typeface="Arimo Bold"/>
                  <a:ea typeface="Arimo Bold"/>
                  <a:cs typeface="Arimo Bold"/>
                  <a:sym typeface="Arimo Bold"/>
                </a:rPr>
                <a:t>6</a:t>
              </a:r>
            </a:p>
          </p:txBody>
        </p:sp>
      </p:grpSp>
      <p:grpSp>
        <p:nvGrpSpPr>
          <p:cNvPr name="Group 10" id="10"/>
          <p:cNvGrpSpPr/>
          <p:nvPr/>
        </p:nvGrpSpPr>
        <p:grpSpPr>
          <a:xfrm rot="0">
            <a:off x="6972300" y="9534525"/>
            <a:ext cx="4806001" cy="547688"/>
            <a:chOff x="0" y="0"/>
            <a:chExt cx="6408001" cy="730250"/>
          </a:xfrm>
        </p:grpSpPr>
        <p:sp>
          <p:nvSpPr>
            <p:cNvPr name="Freeform 11" id="11"/>
            <p:cNvSpPr/>
            <p:nvPr/>
          </p:nvSpPr>
          <p:spPr>
            <a:xfrm flipH="false" flipV="false" rot="0">
              <a:off x="0" y="0"/>
              <a:ext cx="6408000" cy="730250"/>
            </a:xfrm>
            <a:custGeom>
              <a:avLst/>
              <a:gdLst/>
              <a:ahLst/>
              <a:cxnLst/>
              <a:rect r="r" b="b" t="t" l="l"/>
              <a:pathLst>
                <a:path h="730250" w="6408000">
                  <a:moveTo>
                    <a:pt x="0" y="0"/>
                  </a:moveTo>
                  <a:lnTo>
                    <a:pt x="6408000" y="0"/>
                  </a:lnTo>
                  <a:lnTo>
                    <a:pt x="6408000" y="730250"/>
                  </a:lnTo>
                  <a:lnTo>
                    <a:pt x="0" y="730250"/>
                  </a:lnTo>
                  <a:close/>
                </a:path>
              </a:pathLst>
            </a:custGeom>
            <a:blipFill>
              <a:blip r:embed="rId3">
                <a:alphaModFix amt="0"/>
              </a:blip>
              <a:stretch>
                <a:fillRect l="0" t="-120982" r="0" b="-120982"/>
              </a:stretch>
            </a:blipFill>
          </p:spPr>
        </p:sp>
        <p:sp>
          <p:nvSpPr>
            <p:cNvPr name="TextBox 12" id="12"/>
            <p:cNvSpPr txBox="true"/>
            <p:nvPr/>
          </p:nvSpPr>
          <p:spPr>
            <a:xfrm>
              <a:off x="0" y="-19050"/>
              <a:ext cx="6408001" cy="749300"/>
            </a:xfrm>
            <a:prstGeom prst="rect">
              <a:avLst/>
            </a:prstGeom>
          </p:spPr>
          <p:txBody>
            <a:bodyPr anchor="ctr" rtlCol="false" tIns="0" lIns="0" bIns="0" rIns="0"/>
            <a:lstStyle/>
            <a:p>
              <a:pPr algn="ctr">
                <a:lnSpc>
                  <a:spcPts val="2160"/>
                </a:lnSpc>
              </a:pPr>
              <a:r>
                <a:rPr lang="en-US" sz="1800">
                  <a:solidFill>
                    <a:srgbClr val="FFFFFF"/>
                  </a:solidFill>
                  <a:latin typeface="Arimo"/>
                  <a:ea typeface="Arimo"/>
                  <a:cs typeface="Arimo"/>
                  <a:sym typeface="Arimo"/>
                </a:rPr>
                <a:t>@SIH Idea submission- Template</a:t>
              </a:r>
            </a:p>
          </p:txBody>
        </p:sp>
      </p:grpSp>
      <p:grpSp>
        <p:nvGrpSpPr>
          <p:cNvPr name="Group 13" id="13"/>
          <p:cNvGrpSpPr/>
          <p:nvPr/>
        </p:nvGrpSpPr>
        <p:grpSpPr>
          <a:xfrm rot="0">
            <a:off x="14670129" y="2248"/>
            <a:ext cx="3374774" cy="1593504"/>
            <a:chOff x="0" y="0"/>
            <a:chExt cx="4499699" cy="2124672"/>
          </a:xfrm>
        </p:grpSpPr>
        <p:sp>
          <p:nvSpPr>
            <p:cNvPr name="Freeform 14" id="14"/>
            <p:cNvSpPr/>
            <p:nvPr/>
          </p:nvSpPr>
          <p:spPr>
            <a:xfrm flipH="false" flipV="false" rot="0">
              <a:off x="0" y="0"/>
              <a:ext cx="4499737" cy="2124710"/>
            </a:xfrm>
            <a:custGeom>
              <a:avLst/>
              <a:gdLst/>
              <a:ahLst/>
              <a:cxnLst/>
              <a:rect r="r" b="b" t="t" l="l"/>
              <a:pathLst>
                <a:path h="2124710" w="4499737">
                  <a:moveTo>
                    <a:pt x="0" y="0"/>
                  </a:moveTo>
                  <a:lnTo>
                    <a:pt x="4499737" y="0"/>
                  </a:lnTo>
                  <a:lnTo>
                    <a:pt x="4499737" y="2124710"/>
                  </a:lnTo>
                  <a:lnTo>
                    <a:pt x="0" y="2124710"/>
                  </a:lnTo>
                  <a:lnTo>
                    <a:pt x="0" y="0"/>
                  </a:lnTo>
                  <a:close/>
                </a:path>
              </a:pathLst>
            </a:custGeom>
            <a:blipFill>
              <a:blip r:embed="rId4"/>
              <a:stretch>
                <a:fillRect l="0" t="0" r="0" b="1"/>
              </a:stretch>
            </a:blipFill>
          </p:spPr>
        </p:sp>
      </p:grpSp>
      <p:grpSp>
        <p:nvGrpSpPr>
          <p:cNvPr name="Group 15" id="15"/>
          <p:cNvGrpSpPr/>
          <p:nvPr/>
        </p:nvGrpSpPr>
        <p:grpSpPr>
          <a:xfrm rot="0">
            <a:off x="1028700" y="1837661"/>
            <a:ext cx="11206240" cy="7694483"/>
            <a:chOff x="0" y="0"/>
            <a:chExt cx="17861688" cy="12264279"/>
          </a:xfrm>
        </p:grpSpPr>
        <p:sp>
          <p:nvSpPr>
            <p:cNvPr name="Freeform 16" id="16"/>
            <p:cNvSpPr/>
            <p:nvPr/>
          </p:nvSpPr>
          <p:spPr>
            <a:xfrm flipH="false" flipV="false" rot="0">
              <a:off x="0" y="0"/>
              <a:ext cx="17861648" cy="12264292"/>
            </a:xfrm>
            <a:custGeom>
              <a:avLst/>
              <a:gdLst/>
              <a:ahLst/>
              <a:cxnLst/>
              <a:rect r="r" b="b" t="t" l="l"/>
              <a:pathLst>
                <a:path h="12264292" w="17861648">
                  <a:moveTo>
                    <a:pt x="0" y="0"/>
                  </a:moveTo>
                  <a:lnTo>
                    <a:pt x="17861648" y="0"/>
                  </a:lnTo>
                  <a:lnTo>
                    <a:pt x="17861648" y="12264292"/>
                  </a:lnTo>
                  <a:lnTo>
                    <a:pt x="0" y="12264292"/>
                  </a:lnTo>
                  <a:close/>
                </a:path>
              </a:pathLst>
            </a:custGeom>
            <a:solidFill>
              <a:srgbClr val="E2EAF5"/>
            </a:solidFill>
            <a:ln w="22878" cap="sq">
              <a:solidFill>
                <a:srgbClr val="191919"/>
              </a:solidFill>
              <a:prstDash val="solid"/>
              <a:miter/>
            </a:ln>
          </p:spPr>
        </p:sp>
      </p:grpSp>
      <p:grpSp>
        <p:nvGrpSpPr>
          <p:cNvPr name="Group 17" id="17"/>
          <p:cNvGrpSpPr/>
          <p:nvPr/>
        </p:nvGrpSpPr>
        <p:grpSpPr>
          <a:xfrm rot="0">
            <a:off x="12445459" y="1837661"/>
            <a:ext cx="4928141" cy="685131"/>
            <a:chOff x="0" y="0"/>
            <a:chExt cx="7854992" cy="1092035"/>
          </a:xfrm>
        </p:grpSpPr>
        <p:sp>
          <p:nvSpPr>
            <p:cNvPr name="Freeform 18" id="18"/>
            <p:cNvSpPr/>
            <p:nvPr/>
          </p:nvSpPr>
          <p:spPr>
            <a:xfrm flipH="false" flipV="false" rot="0">
              <a:off x="0" y="0"/>
              <a:ext cx="7855043" cy="1092073"/>
            </a:xfrm>
            <a:custGeom>
              <a:avLst/>
              <a:gdLst/>
              <a:ahLst/>
              <a:cxnLst/>
              <a:rect r="r" b="b" t="t" l="l"/>
              <a:pathLst>
                <a:path h="1092073" w="7855043">
                  <a:moveTo>
                    <a:pt x="0" y="0"/>
                  </a:moveTo>
                  <a:lnTo>
                    <a:pt x="7855043" y="0"/>
                  </a:lnTo>
                  <a:lnTo>
                    <a:pt x="7855043" y="1092073"/>
                  </a:lnTo>
                  <a:lnTo>
                    <a:pt x="0" y="1092073"/>
                  </a:lnTo>
                  <a:close/>
                </a:path>
              </a:pathLst>
            </a:custGeom>
            <a:solidFill>
              <a:srgbClr val="F4A450"/>
            </a:solidFill>
            <a:ln w="22878" cap="sq">
              <a:solidFill>
                <a:srgbClr val="191919"/>
              </a:solidFill>
              <a:prstDash val="solid"/>
              <a:miter/>
            </a:ln>
          </p:spPr>
        </p:sp>
      </p:grpSp>
      <p:grpSp>
        <p:nvGrpSpPr>
          <p:cNvPr name="Group 19" id="19"/>
          <p:cNvGrpSpPr/>
          <p:nvPr/>
        </p:nvGrpSpPr>
        <p:grpSpPr>
          <a:xfrm rot="0">
            <a:off x="12854131" y="1943821"/>
            <a:ext cx="4110797" cy="516799"/>
            <a:chOff x="0" y="0"/>
            <a:chExt cx="6552222" cy="823729"/>
          </a:xfrm>
        </p:grpSpPr>
        <p:sp>
          <p:nvSpPr>
            <p:cNvPr name="Freeform 20" id="20"/>
            <p:cNvSpPr/>
            <p:nvPr/>
          </p:nvSpPr>
          <p:spPr>
            <a:xfrm flipH="false" flipV="false" rot="0">
              <a:off x="0" y="0"/>
              <a:ext cx="6552223" cy="823729"/>
            </a:xfrm>
            <a:custGeom>
              <a:avLst/>
              <a:gdLst/>
              <a:ahLst/>
              <a:cxnLst/>
              <a:rect r="r" b="b" t="t" l="l"/>
              <a:pathLst>
                <a:path h="823729" w="6552223">
                  <a:moveTo>
                    <a:pt x="0" y="0"/>
                  </a:moveTo>
                  <a:lnTo>
                    <a:pt x="6552223" y="0"/>
                  </a:lnTo>
                  <a:lnTo>
                    <a:pt x="6552223" y="823729"/>
                  </a:lnTo>
                  <a:lnTo>
                    <a:pt x="0" y="823729"/>
                  </a:lnTo>
                  <a:close/>
                </a:path>
              </a:pathLst>
            </a:custGeom>
            <a:blipFill>
              <a:blip r:embed="rId3">
                <a:alphaModFix amt="0"/>
              </a:blip>
              <a:stretch>
                <a:fillRect l="0" t="-110552" r="0" b="-99428"/>
              </a:stretch>
            </a:blipFill>
          </p:spPr>
        </p:sp>
        <p:sp>
          <p:nvSpPr>
            <p:cNvPr name="TextBox 21" id="21"/>
            <p:cNvSpPr txBox="true"/>
            <p:nvPr/>
          </p:nvSpPr>
          <p:spPr>
            <a:xfrm>
              <a:off x="0" y="0"/>
              <a:ext cx="6552222" cy="823729"/>
            </a:xfrm>
            <a:prstGeom prst="rect">
              <a:avLst/>
            </a:prstGeom>
          </p:spPr>
          <p:txBody>
            <a:bodyPr anchor="ctr" rtlCol="false" tIns="0" lIns="0" bIns="0" rIns="0"/>
            <a:lstStyle/>
            <a:p>
              <a:pPr algn="ctr">
                <a:lnSpc>
                  <a:spcPts val="2341"/>
                </a:lnSpc>
              </a:pPr>
              <a:r>
                <a:rPr lang="en-US" sz="1951" b="true">
                  <a:solidFill>
                    <a:srgbClr val="191919"/>
                  </a:solidFill>
                  <a:latin typeface="Aptos Bold"/>
                  <a:ea typeface="Aptos Bold"/>
                  <a:cs typeface="Aptos Bold"/>
                  <a:sym typeface="Aptos Bold"/>
                </a:rPr>
                <a:t>PROTOTYPE LINKS</a:t>
              </a:r>
            </a:p>
          </p:txBody>
        </p:sp>
      </p:grpSp>
      <p:sp>
        <p:nvSpPr>
          <p:cNvPr name="TextBox 22" id="22"/>
          <p:cNvSpPr txBox="true"/>
          <p:nvPr/>
        </p:nvSpPr>
        <p:spPr>
          <a:xfrm rot="0">
            <a:off x="1818188" y="2721333"/>
            <a:ext cx="9951772" cy="308047"/>
          </a:xfrm>
          <a:prstGeom prst="rect">
            <a:avLst/>
          </a:prstGeom>
        </p:spPr>
        <p:txBody>
          <a:bodyPr anchor="t" rtlCol="false" tIns="0" lIns="0" bIns="0" rIns="0">
            <a:spAutoFit/>
          </a:bodyPr>
          <a:lstStyle/>
          <a:p>
            <a:pPr algn="l">
              <a:lnSpc>
                <a:spcPts val="1535"/>
              </a:lnSpc>
            </a:pPr>
            <a:r>
              <a:rPr lang="en-US" sz="1279" b="true">
                <a:solidFill>
                  <a:srgbClr val="191919"/>
                </a:solidFill>
                <a:latin typeface="Calibri (MS) Bold"/>
                <a:ea typeface="Calibri (MS) Bold"/>
                <a:cs typeface="Calibri (MS) Bold"/>
                <a:sym typeface="Calibri (MS) Bold"/>
              </a:rPr>
              <a:t>▶ NASA FIRMS — Fire Information for Resource Management System.</a:t>
            </a:r>
          </a:p>
        </p:txBody>
      </p:sp>
      <p:sp>
        <p:nvSpPr>
          <p:cNvPr name="TextBox 23" id="23"/>
          <p:cNvSpPr txBox="true"/>
          <p:nvPr/>
        </p:nvSpPr>
        <p:spPr>
          <a:xfrm rot="0">
            <a:off x="1826528" y="3057955"/>
            <a:ext cx="9951772" cy="254552"/>
          </a:xfrm>
          <a:prstGeom prst="rect">
            <a:avLst/>
          </a:prstGeom>
        </p:spPr>
        <p:txBody>
          <a:bodyPr anchor="t" rtlCol="false" tIns="0" lIns="0" bIns="0" rIns="0">
            <a:spAutoFit/>
          </a:bodyPr>
          <a:lstStyle/>
          <a:p>
            <a:pPr algn="l">
              <a:lnSpc>
                <a:spcPts val="1250"/>
              </a:lnSpc>
            </a:pPr>
            <a:r>
              <a:rPr lang="en-US" b="true" sz="1042" u="sng">
                <a:solidFill>
                  <a:srgbClr val="0000FF"/>
                </a:solidFill>
                <a:latin typeface="Aptos Bold"/>
                <a:ea typeface="Aptos Bold"/>
                <a:cs typeface="Aptos Bold"/>
                <a:sym typeface="Aptos Bold"/>
                <a:hlinkClick r:id="rId5" tooltip="https://firms.modaps.eosdis.nasa.gov/active_fire/"/>
              </a:rPr>
              <a:t>Available at: firms.modaps.eosdis.nasa.gov/active_fire/</a:t>
            </a:r>
          </a:p>
        </p:txBody>
      </p:sp>
      <p:sp>
        <p:nvSpPr>
          <p:cNvPr name="TextBox 24" id="24"/>
          <p:cNvSpPr txBox="true"/>
          <p:nvPr/>
        </p:nvSpPr>
        <p:spPr>
          <a:xfrm rot="0">
            <a:off x="1818188" y="3388708"/>
            <a:ext cx="9951772" cy="160914"/>
          </a:xfrm>
          <a:prstGeom prst="rect">
            <a:avLst/>
          </a:prstGeom>
        </p:spPr>
        <p:txBody>
          <a:bodyPr anchor="t" rtlCol="false" tIns="0" lIns="0" bIns="0" rIns="0">
            <a:spAutoFit/>
          </a:bodyPr>
          <a:lstStyle/>
          <a:p>
            <a:pPr algn="l">
              <a:lnSpc>
                <a:spcPts val="1234"/>
              </a:lnSpc>
            </a:pPr>
            <a:r>
              <a:rPr lang="en-US" sz="1028">
                <a:solidFill>
                  <a:srgbClr val="191919"/>
                </a:solidFill>
                <a:latin typeface="Aptos"/>
                <a:ea typeface="Aptos"/>
                <a:cs typeface="Aptos"/>
                <a:sym typeface="Aptos"/>
              </a:rPr>
              <a:t>(Active-fire / thermal-anomaly data from MODIS, VIIRS and Landsat; VIIRS products provide ~375 m observations.)</a:t>
            </a:r>
          </a:p>
        </p:txBody>
      </p:sp>
      <p:sp>
        <p:nvSpPr>
          <p:cNvPr name="TextBox 25" id="25"/>
          <p:cNvSpPr txBox="true"/>
          <p:nvPr/>
        </p:nvSpPr>
        <p:spPr>
          <a:xfrm rot="0">
            <a:off x="1818188" y="3814710"/>
            <a:ext cx="9951772" cy="219803"/>
          </a:xfrm>
          <a:prstGeom prst="rect">
            <a:avLst/>
          </a:prstGeom>
        </p:spPr>
        <p:txBody>
          <a:bodyPr anchor="t" rtlCol="false" tIns="0" lIns="0" bIns="0" rIns="0">
            <a:spAutoFit/>
          </a:bodyPr>
          <a:lstStyle/>
          <a:p>
            <a:pPr algn="l">
              <a:lnSpc>
                <a:spcPts val="1535"/>
              </a:lnSpc>
            </a:pPr>
            <a:r>
              <a:rPr lang="en-US" sz="1279" b="true">
                <a:solidFill>
                  <a:srgbClr val="191919"/>
                </a:solidFill>
                <a:latin typeface="Calibri (MS) Bold"/>
                <a:ea typeface="Calibri (MS) Bold"/>
                <a:cs typeface="Calibri (MS) Bold"/>
                <a:sym typeface="Calibri (MS) Bold"/>
              </a:rPr>
              <a:t>▶ Giglio et al. / NASA MODIS &amp; VIIRS Active Fire Research.</a:t>
            </a:r>
          </a:p>
        </p:txBody>
      </p:sp>
      <p:sp>
        <p:nvSpPr>
          <p:cNvPr name="TextBox 26" id="26"/>
          <p:cNvSpPr txBox="true"/>
          <p:nvPr/>
        </p:nvSpPr>
        <p:spPr>
          <a:xfrm rot="0">
            <a:off x="1826528" y="4122757"/>
            <a:ext cx="9951772" cy="254552"/>
          </a:xfrm>
          <a:prstGeom prst="rect">
            <a:avLst/>
          </a:prstGeom>
        </p:spPr>
        <p:txBody>
          <a:bodyPr anchor="t" rtlCol="false" tIns="0" lIns="0" bIns="0" rIns="0">
            <a:spAutoFit/>
          </a:bodyPr>
          <a:lstStyle/>
          <a:p>
            <a:pPr algn="l">
              <a:lnSpc>
                <a:spcPts val="1250"/>
              </a:lnSpc>
            </a:pPr>
            <a:r>
              <a:rPr lang="en-US" b="true" sz="1042" u="sng">
                <a:solidFill>
                  <a:srgbClr val="0000FF"/>
                </a:solidFill>
                <a:latin typeface="Aptos Bold"/>
                <a:ea typeface="Aptos Bold"/>
                <a:cs typeface="Aptos Bold"/>
                <a:sym typeface="Aptos Bold"/>
                <a:hlinkClick r:id="rId6" tooltip="https://doi.org/10.1016/j.rse.2015.11.030"/>
              </a:rPr>
              <a:t>Available at: doi.org/10.1016/j.rse.2015.11.030</a:t>
            </a:r>
          </a:p>
        </p:txBody>
      </p:sp>
      <p:sp>
        <p:nvSpPr>
          <p:cNvPr name="TextBox 27" id="27"/>
          <p:cNvSpPr txBox="true"/>
          <p:nvPr/>
        </p:nvSpPr>
        <p:spPr>
          <a:xfrm rot="0">
            <a:off x="1826528" y="4396089"/>
            <a:ext cx="9951772" cy="254552"/>
          </a:xfrm>
          <a:prstGeom prst="rect">
            <a:avLst/>
          </a:prstGeom>
        </p:spPr>
        <p:txBody>
          <a:bodyPr anchor="t" rtlCol="false" tIns="0" lIns="0" bIns="0" rIns="0">
            <a:spAutoFit/>
          </a:bodyPr>
          <a:lstStyle/>
          <a:p>
            <a:pPr algn="l">
              <a:lnSpc>
                <a:spcPts val="1234"/>
              </a:lnSpc>
            </a:pPr>
            <a:r>
              <a:rPr lang="en-US" sz="1028">
                <a:solidFill>
                  <a:srgbClr val="191919"/>
                </a:solidFill>
                <a:latin typeface="Aptos"/>
                <a:ea typeface="Aptos"/>
                <a:cs typeface="Aptos"/>
                <a:sym typeface="Aptos"/>
              </a:rPr>
              <a:t>(Scientific foundation for satellite active-fire detection and thermal anomaly analysis.)</a:t>
            </a:r>
          </a:p>
        </p:txBody>
      </p:sp>
      <p:sp>
        <p:nvSpPr>
          <p:cNvPr name="TextBox 28" id="28"/>
          <p:cNvSpPr txBox="true"/>
          <p:nvPr/>
        </p:nvSpPr>
        <p:spPr>
          <a:xfrm rot="0">
            <a:off x="1818188" y="4902080"/>
            <a:ext cx="9951772" cy="308047"/>
          </a:xfrm>
          <a:prstGeom prst="rect">
            <a:avLst/>
          </a:prstGeom>
        </p:spPr>
        <p:txBody>
          <a:bodyPr anchor="t" rtlCol="false" tIns="0" lIns="0" bIns="0" rIns="0">
            <a:spAutoFit/>
          </a:bodyPr>
          <a:lstStyle/>
          <a:p>
            <a:pPr algn="l">
              <a:lnSpc>
                <a:spcPts val="1535"/>
              </a:lnSpc>
            </a:pPr>
            <a:r>
              <a:rPr lang="en-US" sz="1279" b="true">
                <a:solidFill>
                  <a:srgbClr val="191919"/>
                </a:solidFill>
                <a:latin typeface="Calibri (MS) Bold"/>
                <a:ea typeface="Calibri (MS) Bold"/>
                <a:cs typeface="Calibri (MS) Bold"/>
                <a:sym typeface="Calibri (MS) Bold"/>
              </a:rPr>
              <a:t>▶ ESA WorldCover.</a:t>
            </a:r>
          </a:p>
        </p:txBody>
      </p:sp>
      <p:sp>
        <p:nvSpPr>
          <p:cNvPr name="TextBox 29" id="29"/>
          <p:cNvSpPr txBox="true"/>
          <p:nvPr/>
        </p:nvSpPr>
        <p:spPr>
          <a:xfrm rot="0">
            <a:off x="1826528" y="5305377"/>
            <a:ext cx="9951772" cy="254552"/>
          </a:xfrm>
          <a:prstGeom prst="rect">
            <a:avLst/>
          </a:prstGeom>
        </p:spPr>
        <p:txBody>
          <a:bodyPr anchor="t" rtlCol="false" tIns="0" lIns="0" bIns="0" rIns="0">
            <a:spAutoFit/>
          </a:bodyPr>
          <a:lstStyle/>
          <a:p>
            <a:pPr algn="l">
              <a:lnSpc>
                <a:spcPts val="1250"/>
              </a:lnSpc>
            </a:pPr>
            <a:r>
              <a:rPr lang="en-US" b="true" sz="1042" u="sng">
                <a:solidFill>
                  <a:srgbClr val="0000FF"/>
                </a:solidFill>
                <a:latin typeface="Aptos Bold"/>
                <a:ea typeface="Aptos Bold"/>
                <a:cs typeface="Aptos Bold"/>
                <a:sym typeface="Aptos Bold"/>
                <a:hlinkClick r:id="rId7" tooltip="https://esa-worldcover.org/en/data-access"/>
              </a:rPr>
              <a:t>Available at: esa-worldcover.org/en/data-access</a:t>
            </a:r>
          </a:p>
        </p:txBody>
      </p:sp>
      <p:sp>
        <p:nvSpPr>
          <p:cNvPr name="TextBox 30" id="30"/>
          <p:cNvSpPr txBox="true"/>
          <p:nvPr/>
        </p:nvSpPr>
        <p:spPr>
          <a:xfrm rot="0">
            <a:off x="1818188" y="5658950"/>
            <a:ext cx="9951772" cy="254552"/>
          </a:xfrm>
          <a:prstGeom prst="rect">
            <a:avLst/>
          </a:prstGeom>
        </p:spPr>
        <p:txBody>
          <a:bodyPr anchor="t" rtlCol="false" tIns="0" lIns="0" bIns="0" rIns="0">
            <a:spAutoFit/>
          </a:bodyPr>
          <a:lstStyle/>
          <a:p>
            <a:pPr algn="l">
              <a:lnSpc>
                <a:spcPts val="1234"/>
              </a:lnSpc>
            </a:pPr>
            <a:r>
              <a:rPr lang="en-US" sz="1028">
                <a:solidFill>
                  <a:srgbClr val="191919"/>
                </a:solidFill>
                <a:latin typeface="Aptos"/>
                <a:ea typeface="Aptos"/>
                <a:cs typeface="Aptos"/>
                <a:sym typeface="Aptos"/>
              </a:rPr>
              <a:t>(Global 10 m land-cover data used to provide environmental and land-use context around thermal events.)</a:t>
            </a:r>
          </a:p>
        </p:txBody>
      </p:sp>
      <p:sp>
        <p:nvSpPr>
          <p:cNvPr name="TextBox 31" id="31"/>
          <p:cNvSpPr txBox="true"/>
          <p:nvPr/>
        </p:nvSpPr>
        <p:spPr>
          <a:xfrm rot="0">
            <a:off x="1818188" y="6142102"/>
            <a:ext cx="9951772" cy="308047"/>
          </a:xfrm>
          <a:prstGeom prst="rect">
            <a:avLst/>
          </a:prstGeom>
        </p:spPr>
        <p:txBody>
          <a:bodyPr anchor="t" rtlCol="false" tIns="0" lIns="0" bIns="0" rIns="0">
            <a:spAutoFit/>
          </a:bodyPr>
          <a:lstStyle/>
          <a:p>
            <a:pPr algn="l">
              <a:lnSpc>
                <a:spcPts val="1535"/>
              </a:lnSpc>
            </a:pPr>
            <a:r>
              <a:rPr lang="en-US" sz="1279" b="true">
                <a:solidFill>
                  <a:srgbClr val="191919"/>
                </a:solidFill>
                <a:latin typeface="Calibri (MS) Bold"/>
                <a:ea typeface="Calibri (MS) Bold"/>
                <a:cs typeface="Calibri (MS) Bold"/>
                <a:sym typeface="Calibri (MS) Bold"/>
              </a:rPr>
              <a:t>▶ Copernicus Sentinel-2.</a:t>
            </a:r>
          </a:p>
        </p:txBody>
      </p:sp>
      <p:sp>
        <p:nvSpPr>
          <p:cNvPr name="TextBox 32" id="32"/>
          <p:cNvSpPr txBox="true"/>
          <p:nvPr/>
        </p:nvSpPr>
        <p:spPr>
          <a:xfrm rot="0">
            <a:off x="1818188" y="6518746"/>
            <a:ext cx="9951772" cy="254552"/>
          </a:xfrm>
          <a:prstGeom prst="rect">
            <a:avLst/>
          </a:prstGeom>
        </p:spPr>
        <p:txBody>
          <a:bodyPr anchor="t" rtlCol="false" tIns="0" lIns="0" bIns="0" rIns="0">
            <a:spAutoFit/>
          </a:bodyPr>
          <a:lstStyle/>
          <a:p>
            <a:pPr algn="l">
              <a:lnSpc>
                <a:spcPts val="1250"/>
              </a:lnSpc>
            </a:pPr>
            <a:r>
              <a:rPr lang="en-US" b="true" sz="1042" u="sng">
                <a:solidFill>
                  <a:srgbClr val="0000FF"/>
                </a:solidFill>
                <a:latin typeface="Aptos Bold"/>
                <a:ea typeface="Aptos Bold"/>
                <a:cs typeface="Aptos Bold"/>
                <a:sym typeface="Aptos Bold"/>
                <a:hlinkClick r:id="rId8" tooltip="https://dataspace.copernicus.eu/data-collections/copernicus-sentinel-missions/sentinel-2"/>
              </a:rPr>
              <a:t>Available at: dataspace.copernicus.eu/data-collections/copernicus-sentinel-missions/sentinel-2</a:t>
            </a:r>
          </a:p>
        </p:txBody>
      </p:sp>
      <p:sp>
        <p:nvSpPr>
          <p:cNvPr name="TextBox 33" id="33"/>
          <p:cNvSpPr txBox="true"/>
          <p:nvPr/>
        </p:nvSpPr>
        <p:spPr>
          <a:xfrm rot="0">
            <a:off x="1818188" y="6808850"/>
            <a:ext cx="9951772" cy="254552"/>
          </a:xfrm>
          <a:prstGeom prst="rect">
            <a:avLst/>
          </a:prstGeom>
        </p:spPr>
        <p:txBody>
          <a:bodyPr anchor="t" rtlCol="false" tIns="0" lIns="0" bIns="0" rIns="0">
            <a:spAutoFit/>
          </a:bodyPr>
          <a:lstStyle/>
          <a:p>
            <a:pPr algn="l">
              <a:lnSpc>
                <a:spcPts val="1234"/>
              </a:lnSpc>
            </a:pPr>
            <a:r>
              <a:rPr lang="en-US" sz="1028">
                <a:solidFill>
                  <a:srgbClr val="191919"/>
                </a:solidFill>
                <a:latin typeface="Aptos"/>
                <a:ea typeface="Aptos"/>
                <a:cs typeface="Aptos"/>
                <a:sym typeface="Aptos"/>
              </a:rPr>
              <a:t>(Multispectral satellite imagery for vegetation, burn-scar and industrial-area contextual analysis.)</a:t>
            </a:r>
          </a:p>
        </p:txBody>
      </p:sp>
      <p:sp>
        <p:nvSpPr>
          <p:cNvPr name="TextBox 34" id="34"/>
          <p:cNvSpPr txBox="true"/>
          <p:nvPr/>
        </p:nvSpPr>
        <p:spPr>
          <a:xfrm rot="0">
            <a:off x="1818188" y="7292003"/>
            <a:ext cx="9951772" cy="308047"/>
          </a:xfrm>
          <a:prstGeom prst="rect">
            <a:avLst/>
          </a:prstGeom>
        </p:spPr>
        <p:txBody>
          <a:bodyPr anchor="t" rtlCol="false" tIns="0" lIns="0" bIns="0" rIns="0">
            <a:spAutoFit/>
          </a:bodyPr>
          <a:lstStyle/>
          <a:p>
            <a:pPr algn="l">
              <a:lnSpc>
                <a:spcPts val="1535"/>
              </a:lnSpc>
            </a:pPr>
            <a:r>
              <a:rPr lang="en-US" sz="1279" b="true">
                <a:solidFill>
                  <a:srgbClr val="191919"/>
                </a:solidFill>
                <a:latin typeface="Calibri (MS) Bold"/>
                <a:ea typeface="Calibri (MS) Bold"/>
                <a:cs typeface="Calibri (MS) Bold"/>
                <a:sym typeface="Calibri (MS) Bold"/>
              </a:rPr>
              <a:t>▶ OpenStreetMap.</a:t>
            </a:r>
          </a:p>
        </p:txBody>
      </p:sp>
      <p:sp>
        <p:nvSpPr>
          <p:cNvPr name="TextBox 35" id="35"/>
          <p:cNvSpPr txBox="true"/>
          <p:nvPr/>
        </p:nvSpPr>
        <p:spPr>
          <a:xfrm rot="0">
            <a:off x="1818188" y="7665776"/>
            <a:ext cx="9951772" cy="254552"/>
          </a:xfrm>
          <a:prstGeom prst="rect">
            <a:avLst/>
          </a:prstGeom>
        </p:spPr>
        <p:txBody>
          <a:bodyPr anchor="t" rtlCol="false" tIns="0" lIns="0" bIns="0" rIns="0">
            <a:spAutoFit/>
          </a:bodyPr>
          <a:lstStyle/>
          <a:p>
            <a:pPr algn="l">
              <a:lnSpc>
                <a:spcPts val="1250"/>
              </a:lnSpc>
            </a:pPr>
            <a:r>
              <a:rPr lang="en-US" b="true" sz="1042" u="sng">
                <a:solidFill>
                  <a:srgbClr val="0000FF"/>
                </a:solidFill>
                <a:latin typeface="Aptos Bold"/>
                <a:ea typeface="Aptos Bold"/>
                <a:cs typeface="Aptos Bold"/>
                <a:sym typeface="Aptos Bold"/>
                <a:hlinkClick r:id="rId9" tooltip="https://www.openstreetmap.org/"/>
              </a:rPr>
              <a:t>Available at: www.openstreetmap.org/</a:t>
            </a:r>
          </a:p>
        </p:txBody>
      </p:sp>
      <p:sp>
        <p:nvSpPr>
          <p:cNvPr name="TextBox 36" id="36"/>
          <p:cNvSpPr txBox="true"/>
          <p:nvPr/>
        </p:nvSpPr>
        <p:spPr>
          <a:xfrm rot="0">
            <a:off x="1818188" y="7990080"/>
            <a:ext cx="9951772" cy="254552"/>
          </a:xfrm>
          <a:prstGeom prst="rect">
            <a:avLst/>
          </a:prstGeom>
        </p:spPr>
        <p:txBody>
          <a:bodyPr anchor="t" rtlCol="false" tIns="0" lIns="0" bIns="0" rIns="0">
            <a:spAutoFit/>
          </a:bodyPr>
          <a:lstStyle/>
          <a:p>
            <a:pPr algn="l">
              <a:lnSpc>
                <a:spcPts val="1234"/>
              </a:lnSpc>
            </a:pPr>
            <a:r>
              <a:rPr lang="en-US" sz="1028">
                <a:solidFill>
                  <a:srgbClr val="191919"/>
                </a:solidFill>
                <a:latin typeface="Aptos"/>
                <a:ea typeface="Aptos"/>
                <a:cs typeface="Aptos"/>
                <a:sym typeface="Aptos"/>
              </a:rPr>
              <a:t>(Open geospatial infrastructure data for industrial facilities, roads, settlements and nearby assets.)</a:t>
            </a:r>
          </a:p>
        </p:txBody>
      </p:sp>
      <p:sp>
        <p:nvSpPr>
          <p:cNvPr name="TextBox 37" id="37"/>
          <p:cNvSpPr txBox="true"/>
          <p:nvPr/>
        </p:nvSpPr>
        <p:spPr>
          <a:xfrm rot="0">
            <a:off x="1818188" y="8469965"/>
            <a:ext cx="9951772" cy="308047"/>
          </a:xfrm>
          <a:prstGeom prst="rect">
            <a:avLst/>
          </a:prstGeom>
        </p:spPr>
        <p:txBody>
          <a:bodyPr anchor="t" rtlCol="false" tIns="0" lIns="0" bIns="0" rIns="0">
            <a:spAutoFit/>
          </a:bodyPr>
          <a:lstStyle/>
          <a:p>
            <a:pPr algn="l">
              <a:lnSpc>
                <a:spcPts val="1535"/>
              </a:lnSpc>
            </a:pPr>
            <a:r>
              <a:rPr lang="en-US" sz="1279" b="true">
                <a:solidFill>
                  <a:srgbClr val="191919"/>
                </a:solidFill>
                <a:latin typeface="Calibri (MS) Bold"/>
                <a:ea typeface="Calibri (MS) Bold"/>
                <a:cs typeface="Calibri (MS) Bold"/>
                <a:sym typeface="Calibri (MS) Bold"/>
              </a:rPr>
              <a:t>▶ Lundberg &amp; Lee, 2017 — A Unified Approach to Interpreting Model Predictions.</a:t>
            </a:r>
          </a:p>
        </p:txBody>
      </p:sp>
      <p:sp>
        <p:nvSpPr>
          <p:cNvPr name="TextBox 38" id="38"/>
          <p:cNvSpPr txBox="true"/>
          <p:nvPr/>
        </p:nvSpPr>
        <p:spPr>
          <a:xfrm rot="0">
            <a:off x="1818188" y="8782241"/>
            <a:ext cx="9951772" cy="254552"/>
          </a:xfrm>
          <a:prstGeom prst="rect">
            <a:avLst/>
          </a:prstGeom>
        </p:spPr>
        <p:txBody>
          <a:bodyPr anchor="t" rtlCol="false" tIns="0" lIns="0" bIns="0" rIns="0">
            <a:spAutoFit/>
          </a:bodyPr>
          <a:lstStyle/>
          <a:p>
            <a:pPr algn="l">
              <a:lnSpc>
                <a:spcPts val="1250"/>
              </a:lnSpc>
            </a:pPr>
            <a:r>
              <a:rPr lang="en-US" b="true" sz="1042" u="sng">
                <a:solidFill>
                  <a:srgbClr val="0000FF"/>
                </a:solidFill>
                <a:latin typeface="Aptos Bold"/>
                <a:ea typeface="Aptos Bold"/>
                <a:cs typeface="Aptos Bold"/>
                <a:sym typeface="Aptos Bold"/>
                <a:hlinkClick r:id="rId10" tooltip="https://proceedings.neurips.cc/paper/2017/hash/8a20a8621978632d76c43dfd28b67767-Abstract.html"/>
              </a:rPr>
              <a:t>Available at: proceedings.neurips.cc/paper/2017/hash/8a20a8621978632d76c43dfd28b67767-Abstract.html</a:t>
            </a:r>
          </a:p>
        </p:txBody>
      </p:sp>
      <p:sp>
        <p:nvSpPr>
          <p:cNvPr name="TextBox 39" id="39"/>
          <p:cNvSpPr txBox="true"/>
          <p:nvPr/>
        </p:nvSpPr>
        <p:spPr>
          <a:xfrm rot="0">
            <a:off x="1818188" y="9108121"/>
            <a:ext cx="9951772" cy="254552"/>
          </a:xfrm>
          <a:prstGeom prst="rect">
            <a:avLst/>
          </a:prstGeom>
        </p:spPr>
        <p:txBody>
          <a:bodyPr anchor="t" rtlCol="false" tIns="0" lIns="0" bIns="0" rIns="0">
            <a:spAutoFit/>
          </a:bodyPr>
          <a:lstStyle/>
          <a:p>
            <a:pPr algn="l">
              <a:lnSpc>
                <a:spcPts val="1234"/>
              </a:lnSpc>
            </a:pPr>
            <a:r>
              <a:rPr lang="en-US" sz="1028">
                <a:solidFill>
                  <a:srgbClr val="191919"/>
                </a:solidFill>
                <a:latin typeface="Aptos"/>
                <a:ea typeface="Aptos"/>
                <a:cs typeface="Aptos"/>
                <a:sym typeface="Aptos"/>
              </a:rPr>
              <a:t>(SHAP-based explainability for interpreting machine-learning predictions.)</a:t>
            </a:r>
          </a:p>
        </p:txBody>
      </p:sp>
      <p:grpSp>
        <p:nvGrpSpPr>
          <p:cNvPr name="Group 40" id="40"/>
          <p:cNvGrpSpPr/>
          <p:nvPr/>
        </p:nvGrpSpPr>
        <p:grpSpPr>
          <a:xfrm rot="0">
            <a:off x="12445459" y="2503654"/>
            <a:ext cx="4928141" cy="2602738"/>
            <a:chOff x="0" y="0"/>
            <a:chExt cx="7854992" cy="4148518"/>
          </a:xfrm>
        </p:grpSpPr>
        <p:sp>
          <p:nvSpPr>
            <p:cNvPr name="Freeform 41" id="41"/>
            <p:cNvSpPr/>
            <p:nvPr/>
          </p:nvSpPr>
          <p:spPr>
            <a:xfrm flipH="false" flipV="false" rot="0">
              <a:off x="0" y="0"/>
              <a:ext cx="7855043" cy="4148582"/>
            </a:xfrm>
            <a:custGeom>
              <a:avLst/>
              <a:gdLst/>
              <a:ahLst/>
              <a:cxnLst/>
              <a:rect r="r" b="b" t="t" l="l"/>
              <a:pathLst>
                <a:path h="4148582" w="7855043">
                  <a:moveTo>
                    <a:pt x="0" y="0"/>
                  </a:moveTo>
                  <a:lnTo>
                    <a:pt x="7855043" y="0"/>
                  </a:lnTo>
                  <a:lnTo>
                    <a:pt x="7855043" y="4148582"/>
                  </a:lnTo>
                  <a:lnTo>
                    <a:pt x="0" y="4148582"/>
                  </a:lnTo>
                  <a:close/>
                </a:path>
              </a:pathLst>
            </a:custGeom>
            <a:solidFill>
              <a:srgbClr val="E2EAF5"/>
            </a:solidFill>
            <a:ln w="22878" cap="sq">
              <a:solidFill>
                <a:srgbClr val="191919"/>
              </a:solidFill>
              <a:prstDash val="solid"/>
              <a:miter/>
            </a:ln>
          </p:spPr>
        </p:sp>
      </p:grpSp>
      <p:sp>
        <p:nvSpPr>
          <p:cNvPr name="TextBox 42" id="42"/>
          <p:cNvSpPr txBox="true"/>
          <p:nvPr/>
        </p:nvSpPr>
        <p:spPr>
          <a:xfrm rot="0">
            <a:off x="12841556" y="2861506"/>
            <a:ext cx="3464062" cy="290954"/>
          </a:xfrm>
          <a:prstGeom prst="rect">
            <a:avLst/>
          </a:prstGeom>
        </p:spPr>
        <p:txBody>
          <a:bodyPr anchor="t" rtlCol="false" tIns="0" lIns="0" bIns="0" rIns="0">
            <a:spAutoFit/>
          </a:bodyPr>
          <a:lstStyle/>
          <a:p>
            <a:pPr algn="ctr">
              <a:lnSpc>
                <a:spcPts val="1687"/>
              </a:lnSpc>
            </a:pPr>
            <a:r>
              <a:rPr lang="en-US" sz="1406" b="true">
                <a:solidFill>
                  <a:srgbClr val="191919"/>
                </a:solidFill>
                <a:latin typeface="Aptos Bold"/>
                <a:ea typeface="Aptos Bold"/>
                <a:cs typeface="Aptos Bold"/>
                <a:sym typeface="Aptos Bold"/>
              </a:rPr>
              <a:t>Project Repository</a:t>
            </a:r>
          </a:p>
        </p:txBody>
      </p:sp>
      <p:sp>
        <p:nvSpPr>
          <p:cNvPr name="TextBox 43" id="43"/>
          <p:cNvSpPr txBox="true"/>
          <p:nvPr/>
        </p:nvSpPr>
        <p:spPr>
          <a:xfrm rot="0">
            <a:off x="12841556" y="3288316"/>
            <a:ext cx="3464062" cy="200753"/>
          </a:xfrm>
          <a:prstGeom prst="rect">
            <a:avLst/>
          </a:prstGeom>
        </p:spPr>
        <p:txBody>
          <a:bodyPr anchor="t" rtlCol="false" tIns="0" lIns="0" bIns="0" rIns="0">
            <a:spAutoFit/>
          </a:bodyPr>
          <a:lstStyle/>
          <a:p>
            <a:pPr algn="ctr">
              <a:lnSpc>
                <a:spcPts val="1506"/>
              </a:lnSpc>
            </a:pPr>
            <a:r>
              <a:rPr lang="en-US" sz="1255" b="true">
                <a:solidFill>
                  <a:srgbClr val="0066BE"/>
                </a:solidFill>
                <a:latin typeface="Aptos Bold"/>
                <a:ea typeface="Aptos Bold"/>
                <a:cs typeface="Aptos Bold"/>
                <a:sym typeface="Aptos Bold"/>
              </a:rPr>
              <a:t>ADD GITHUB / GITLAB LINK</a:t>
            </a:r>
          </a:p>
        </p:txBody>
      </p:sp>
      <p:sp>
        <p:nvSpPr>
          <p:cNvPr name="TextBox 44" id="44"/>
          <p:cNvSpPr txBox="true"/>
          <p:nvPr/>
        </p:nvSpPr>
        <p:spPr>
          <a:xfrm rot="0">
            <a:off x="12841556" y="3986805"/>
            <a:ext cx="3464062" cy="290954"/>
          </a:xfrm>
          <a:prstGeom prst="rect">
            <a:avLst/>
          </a:prstGeom>
        </p:spPr>
        <p:txBody>
          <a:bodyPr anchor="t" rtlCol="false" tIns="0" lIns="0" bIns="0" rIns="0">
            <a:spAutoFit/>
          </a:bodyPr>
          <a:lstStyle/>
          <a:p>
            <a:pPr algn="ctr">
              <a:lnSpc>
                <a:spcPts val="1687"/>
              </a:lnSpc>
            </a:pPr>
            <a:r>
              <a:rPr lang="en-US" sz="1406" b="true">
                <a:solidFill>
                  <a:srgbClr val="191919"/>
                </a:solidFill>
                <a:latin typeface="Aptos Bold"/>
                <a:ea typeface="Aptos Bold"/>
                <a:cs typeface="Aptos Bold"/>
                <a:sym typeface="Aptos Bold"/>
              </a:rPr>
              <a:t>Prototype / Demo</a:t>
            </a:r>
          </a:p>
        </p:txBody>
      </p:sp>
      <p:sp>
        <p:nvSpPr>
          <p:cNvPr name="TextBox 45" id="45"/>
          <p:cNvSpPr txBox="true"/>
          <p:nvPr/>
        </p:nvSpPr>
        <p:spPr>
          <a:xfrm rot="0">
            <a:off x="12841556" y="4402142"/>
            <a:ext cx="3464062" cy="369377"/>
          </a:xfrm>
          <a:prstGeom prst="rect">
            <a:avLst/>
          </a:prstGeom>
        </p:spPr>
        <p:txBody>
          <a:bodyPr anchor="t" rtlCol="false" tIns="0" lIns="0" bIns="0" rIns="0">
            <a:spAutoFit/>
          </a:bodyPr>
          <a:lstStyle/>
          <a:p>
            <a:pPr algn="ctr">
              <a:lnSpc>
                <a:spcPts val="1506"/>
              </a:lnSpc>
            </a:pPr>
            <a:r>
              <a:rPr lang="en-US" sz="1255" b="true">
                <a:solidFill>
                  <a:srgbClr val="0066BE"/>
                </a:solidFill>
                <a:latin typeface="Aptos Bold"/>
                <a:ea typeface="Aptos Bold"/>
                <a:cs typeface="Aptos Bold"/>
                <a:sym typeface="Aptos Bold"/>
              </a:rPr>
              <a:t>ADD LIVE DEMO LINK</a:t>
            </a:r>
          </a:p>
        </p:txBody>
      </p:sp>
      <p:grpSp>
        <p:nvGrpSpPr>
          <p:cNvPr name="Group 46" id="46"/>
          <p:cNvGrpSpPr/>
          <p:nvPr/>
        </p:nvGrpSpPr>
        <p:grpSpPr>
          <a:xfrm rot="0">
            <a:off x="12445459" y="5316910"/>
            <a:ext cx="4928141" cy="3923250"/>
            <a:chOff x="0" y="0"/>
            <a:chExt cx="7854992" cy="6253290"/>
          </a:xfrm>
        </p:grpSpPr>
        <p:sp>
          <p:nvSpPr>
            <p:cNvPr name="Freeform 47" id="47"/>
            <p:cNvSpPr/>
            <p:nvPr/>
          </p:nvSpPr>
          <p:spPr>
            <a:xfrm flipH="false" flipV="false" rot="0">
              <a:off x="0" y="0"/>
              <a:ext cx="7855043" cy="6253226"/>
            </a:xfrm>
            <a:custGeom>
              <a:avLst/>
              <a:gdLst/>
              <a:ahLst/>
              <a:cxnLst/>
              <a:rect r="r" b="b" t="t" l="l"/>
              <a:pathLst>
                <a:path h="6253226" w="7855043">
                  <a:moveTo>
                    <a:pt x="0" y="0"/>
                  </a:moveTo>
                  <a:lnTo>
                    <a:pt x="7855043" y="0"/>
                  </a:lnTo>
                  <a:lnTo>
                    <a:pt x="7855043" y="6253226"/>
                  </a:lnTo>
                  <a:lnTo>
                    <a:pt x="0" y="6253226"/>
                  </a:lnTo>
                  <a:close/>
                </a:path>
              </a:pathLst>
            </a:custGeom>
            <a:solidFill>
              <a:srgbClr val="FFFFFF"/>
            </a:solidFill>
            <a:ln w="22878" cap="sq">
              <a:solidFill>
                <a:srgbClr val="191919"/>
              </a:solidFill>
              <a:prstDash val="solid"/>
              <a:miter/>
            </a:ln>
          </p:spPr>
        </p:sp>
      </p:grpSp>
      <p:sp>
        <p:nvSpPr>
          <p:cNvPr name="TextBox 48" id="48"/>
          <p:cNvSpPr txBox="true"/>
          <p:nvPr/>
        </p:nvSpPr>
        <p:spPr>
          <a:xfrm rot="0">
            <a:off x="12761177" y="5550405"/>
            <a:ext cx="3613332" cy="277516"/>
          </a:xfrm>
          <a:prstGeom prst="rect">
            <a:avLst/>
          </a:prstGeom>
        </p:spPr>
        <p:txBody>
          <a:bodyPr anchor="t" rtlCol="false" tIns="0" lIns="0" bIns="0" rIns="0">
            <a:spAutoFit/>
          </a:bodyPr>
          <a:lstStyle/>
          <a:p>
            <a:pPr algn="ctr">
              <a:lnSpc>
                <a:spcPts val="1627"/>
              </a:lnSpc>
            </a:pPr>
            <a:r>
              <a:rPr lang="en-US" sz="1356" b="true">
                <a:solidFill>
                  <a:srgbClr val="054C6E"/>
                </a:solidFill>
                <a:latin typeface="Aptos Bold"/>
                <a:ea typeface="Aptos Bold"/>
                <a:cs typeface="Aptos Bold"/>
                <a:sym typeface="Aptos Bold"/>
              </a:rPr>
              <a:t>RESEARCH &amp; DATA STACK</a:t>
            </a:r>
          </a:p>
        </p:txBody>
      </p:sp>
      <p:grpSp>
        <p:nvGrpSpPr>
          <p:cNvPr name="Group 49" id="49"/>
          <p:cNvGrpSpPr/>
          <p:nvPr/>
        </p:nvGrpSpPr>
        <p:grpSpPr>
          <a:xfrm rot="0">
            <a:off x="12711154" y="6053395"/>
            <a:ext cx="1106806" cy="567120"/>
            <a:chOff x="0" y="0"/>
            <a:chExt cx="1764144" cy="903935"/>
          </a:xfrm>
        </p:grpSpPr>
        <p:sp>
          <p:nvSpPr>
            <p:cNvPr name="Freeform 50" id="50"/>
            <p:cNvSpPr/>
            <p:nvPr/>
          </p:nvSpPr>
          <p:spPr>
            <a:xfrm flipH="false" flipV="false" rot="0">
              <a:off x="0" y="0"/>
              <a:ext cx="1764157" cy="903859"/>
            </a:xfrm>
            <a:custGeom>
              <a:avLst/>
              <a:gdLst/>
              <a:ahLst/>
              <a:cxnLst/>
              <a:rect r="r" b="b" t="t" l="l"/>
              <a:pathLst>
                <a:path h="903859" w="1764157">
                  <a:moveTo>
                    <a:pt x="0" y="150622"/>
                  </a:moveTo>
                  <a:cubicBezTo>
                    <a:pt x="0" y="67437"/>
                    <a:pt x="67437" y="0"/>
                    <a:pt x="150622" y="0"/>
                  </a:cubicBezTo>
                  <a:lnTo>
                    <a:pt x="1613535" y="0"/>
                  </a:lnTo>
                  <a:cubicBezTo>
                    <a:pt x="1696720" y="0"/>
                    <a:pt x="1764157" y="67437"/>
                    <a:pt x="1764157" y="150622"/>
                  </a:cubicBezTo>
                  <a:lnTo>
                    <a:pt x="1764157" y="753237"/>
                  </a:lnTo>
                  <a:cubicBezTo>
                    <a:pt x="1764157" y="836422"/>
                    <a:pt x="1696720" y="903859"/>
                    <a:pt x="1613535" y="903859"/>
                  </a:cubicBezTo>
                  <a:lnTo>
                    <a:pt x="150622" y="903859"/>
                  </a:lnTo>
                  <a:cubicBezTo>
                    <a:pt x="67437" y="903986"/>
                    <a:pt x="0" y="836422"/>
                    <a:pt x="0" y="753237"/>
                  </a:cubicBezTo>
                  <a:close/>
                </a:path>
              </a:pathLst>
            </a:custGeom>
            <a:solidFill>
              <a:srgbClr val="E2EAF5"/>
            </a:solidFill>
            <a:ln w="19065" cap="sq">
              <a:solidFill>
                <a:srgbClr val="054C6E"/>
              </a:solidFill>
              <a:prstDash val="solid"/>
              <a:miter/>
            </a:ln>
          </p:spPr>
        </p:sp>
      </p:grpSp>
      <p:grpSp>
        <p:nvGrpSpPr>
          <p:cNvPr name="Group 51" id="51"/>
          <p:cNvGrpSpPr/>
          <p:nvPr/>
        </p:nvGrpSpPr>
        <p:grpSpPr>
          <a:xfrm rot="0">
            <a:off x="12765065" y="6141750"/>
            <a:ext cx="998993" cy="321519"/>
            <a:chOff x="0" y="0"/>
            <a:chExt cx="1592301" cy="512470"/>
          </a:xfrm>
        </p:grpSpPr>
        <p:sp>
          <p:nvSpPr>
            <p:cNvPr name="Freeform 52" id="52"/>
            <p:cNvSpPr/>
            <p:nvPr/>
          </p:nvSpPr>
          <p:spPr>
            <a:xfrm flipH="false" flipV="false" rot="0">
              <a:off x="0" y="0"/>
              <a:ext cx="1592300" cy="512464"/>
            </a:xfrm>
            <a:custGeom>
              <a:avLst/>
              <a:gdLst/>
              <a:ahLst/>
              <a:cxnLst/>
              <a:rect r="r" b="b" t="t" l="l"/>
              <a:pathLst>
                <a:path h="512464" w="1592300">
                  <a:moveTo>
                    <a:pt x="0" y="0"/>
                  </a:moveTo>
                  <a:lnTo>
                    <a:pt x="1592300" y="0"/>
                  </a:lnTo>
                  <a:lnTo>
                    <a:pt x="1592300" y="512464"/>
                  </a:lnTo>
                  <a:lnTo>
                    <a:pt x="0" y="512464"/>
                  </a:lnTo>
                  <a:close/>
                </a:path>
              </a:pathLst>
            </a:custGeom>
            <a:blipFill>
              <a:blip r:embed="rId3">
                <a:alphaModFix amt="0"/>
              </a:blip>
              <a:stretch>
                <a:fillRect l="0" t="-10542" r="0" b="-10543"/>
              </a:stretch>
            </a:blipFill>
          </p:spPr>
        </p:sp>
        <p:sp>
          <p:nvSpPr>
            <p:cNvPr name="TextBox 53" id="53"/>
            <p:cNvSpPr txBox="true"/>
            <p:nvPr/>
          </p:nvSpPr>
          <p:spPr>
            <a:xfrm>
              <a:off x="0" y="0"/>
              <a:ext cx="1592301" cy="512470"/>
            </a:xfrm>
            <a:prstGeom prst="rect">
              <a:avLst/>
            </a:prstGeom>
          </p:spPr>
          <p:txBody>
            <a:bodyPr anchor="ctr" rtlCol="false" tIns="0" lIns="0" bIns="0" rIns="0"/>
            <a:lstStyle/>
            <a:p>
              <a:pPr algn="ctr">
                <a:lnSpc>
                  <a:spcPts val="1369"/>
                </a:lnSpc>
              </a:pPr>
              <a:r>
                <a:rPr lang="en-US" sz="1140" b="true">
                  <a:solidFill>
                    <a:srgbClr val="054C6E"/>
                  </a:solidFill>
                  <a:latin typeface="Aptos Bold"/>
                  <a:ea typeface="Aptos Bold"/>
                  <a:cs typeface="Aptos Bold"/>
                  <a:sym typeface="Aptos Bold"/>
                </a:rPr>
                <a:t>NASA</a:t>
              </a:r>
            </a:p>
          </p:txBody>
        </p:sp>
      </p:grpSp>
      <p:grpSp>
        <p:nvGrpSpPr>
          <p:cNvPr name="Group 54" id="54"/>
          <p:cNvGrpSpPr/>
          <p:nvPr/>
        </p:nvGrpSpPr>
        <p:grpSpPr>
          <a:xfrm rot="0">
            <a:off x="13982226" y="6084334"/>
            <a:ext cx="2353950" cy="482270"/>
            <a:chOff x="0" y="0"/>
            <a:chExt cx="3751974" cy="768693"/>
          </a:xfrm>
        </p:grpSpPr>
        <p:sp>
          <p:nvSpPr>
            <p:cNvPr name="Freeform 55" id="55"/>
            <p:cNvSpPr/>
            <p:nvPr/>
          </p:nvSpPr>
          <p:spPr>
            <a:xfrm flipH="false" flipV="false" rot="0">
              <a:off x="0" y="0"/>
              <a:ext cx="3751969" cy="768697"/>
            </a:xfrm>
            <a:custGeom>
              <a:avLst/>
              <a:gdLst/>
              <a:ahLst/>
              <a:cxnLst/>
              <a:rect r="r" b="b" t="t" l="l"/>
              <a:pathLst>
                <a:path h="768697" w="3751969">
                  <a:moveTo>
                    <a:pt x="0" y="0"/>
                  </a:moveTo>
                  <a:lnTo>
                    <a:pt x="3751969" y="0"/>
                  </a:lnTo>
                  <a:lnTo>
                    <a:pt x="3751969" y="768697"/>
                  </a:lnTo>
                  <a:lnTo>
                    <a:pt x="0" y="768697"/>
                  </a:lnTo>
                  <a:close/>
                </a:path>
              </a:pathLst>
            </a:custGeom>
            <a:blipFill>
              <a:blip r:embed="rId3">
                <a:alphaModFix amt="0"/>
              </a:blip>
              <a:stretch>
                <a:fillRect l="0" t="-45105" r="0" b="-45105"/>
              </a:stretch>
            </a:blipFill>
          </p:spPr>
        </p:sp>
        <p:sp>
          <p:nvSpPr>
            <p:cNvPr name="TextBox 56" id="56"/>
            <p:cNvSpPr txBox="true"/>
            <p:nvPr/>
          </p:nvSpPr>
          <p:spPr>
            <a:xfrm>
              <a:off x="0" y="0"/>
              <a:ext cx="3751974" cy="768693"/>
            </a:xfrm>
            <a:prstGeom prst="rect">
              <a:avLst/>
            </a:prstGeom>
          </p:spPr>
          <p:txBody>
            <a:bodyPr anchor="ctr" rtlCol="false" tIns="0" lIns="0" bIns="0" rIns="0"/>
            <a:lstStyle/>
            <a:p>
              <a:pPr algn="l">
                <a:lnSpc>
                  <a:spcPts val="1495"/>
                </a:lnSpc>
              </a:pPr>
              <a:r>
                <a:rPr lang="en-US" sz="1245" b="true">
                  <a:solidFill>
                    <a:srgbClr val="191919"/>
                  </a:solidFill>
                  <a:latin typeface="Aptos Bold"/>
                  <a:ea typeface="Aptos Bold"/>
                  <a:cs typeface="Aptos Bold"/>
                  <a:sym typeface="Aptos Bold"/>
                </a:rPr>
                <a:t>FIRMS thermal anomalies</a:t>
              </a:r>
            </a:p>
          </p:txBody>
        </p:sp>
      </p:grpSp>
      <p:grpSp>
        <p:nvGrpSpPr>
          <p:cNvPr name="Group 57" id="57"/>
          <p:cNvGrpSpPr/>
          <p:nvPr/>
        </p:nvGrpSpPr>
        <p:grpSpPr>
          <a:xfrm rot="0">
            <a:off x="12711154" y="6684942"/>
            <a:ext cx="1106806" cy="567120"/>
            <a:chOff x="0" y="0"/>
            <a:chExt cx="1764144" cy="903935"/>
          </a:xfrm>
        </p:grpSpPr>
        <p:sp>
          <p:nvSpPr>
            <p:cNvPr name="Freeform 58" id="58"/>
            <p:cNvSpPr/>
            <p:nvPr/>
          </p:nvSpPr>
          <p:spPr>
            <a:xfrm flipH="false" flipV="false" rot="0">
              <a:off x="0" y="0"/>
              <a:ext cx="1764157" cy="903859"/>
            </a:xfrm>
            <a:custGeom>
              <a:avLst/>
              <a:gdLst/>
              <a:ahLst/>
              <a:cxnLst/>
              <a:rect r="r" b="b" t="t" l="l"/>
              <a:pathLst>
                <a:path h="903859" w="1764157">
                  <a:moveTo>
                    <a:pt x="0" y="150622"/>
                  </a:moveTo>
                  <a:cubicBezTo>
                    <a:pt x="0" y="67437"/>
                    <a:pt x="67437" y="0"/>
                    <a:pt x="150622" y="0"/>
                  </a:cubicBezTo>
                  <a:lnTo>
                    <a:pt x="1613535" y="0"/>
                  </a:lnTo>
                  <a:cubicBezTo>
                    <a:pt x="1696720" y="0"/>
                    <a:pt x="1764157" y="67437"/>
                    <a:pt x="1764157" y="150622"/>
                  </a:cubicBezTo>
                  <a:lnTo>
                    <a:pt x="1764157" y="753237"/>
                  </a:lnTo>
                  <a:cubicBezTo>
                    <a:pt x="1764157" y="836422"/>
                    <a:pt x="1696720" y="903859"/>
                    <a:pt x="1613535" y="903859"/>
                  </a:cubicBezTo>
                  <a:lnTo>
                    <a:pt x="150622" y="903859"/>
                  </a:lnTo>
                  <a:cubicBezTo>
                    <a:pt x="67437" y="903986"/>
                    <a:pt x="0" y="836422"/>
                    <a:pt x="0" y="753237"/>
                  </a:cubicBezTo>
                  <a:close/>
                </a:path>
              </a:pathLst>
            </a:custGeom>
            <a:solidFill>
              <a:srgbClr val="E2EAF5"/>
            </a:solidFill>
            <a:ln w="19065" cap="sq">
              <a:solidFill>
                <a:srgbClr val="054C6E"/>
              </a:solidFill>
              <a:prstDash val="solid"/>
              <a:miter/>
            </a:ln>
          </p:spPr>
        </p:sp>
      </p:grpSp>
      <p:grpSp>
        <p:nvGrpSpPr>
          <p:cNvPr name="Group 59" id="59"/>
          <p:cNvGrpSpPr/>
          <p:nvPr/>
        </p:nvGrpSpPr>
        <p:grpSpPr>
          <a:xfrm rot="0">
            <a:off x="12765065" y="6773298"/>
            <a:ext cx="998993" cy="321519"/>
            <a:chOff x="0" y="0"/>
            <a:chExt cx="1592301" cy="512470"/>
          </a:xfrm>
        </p:grpSpPr>
        <p:sp>
          <p:nvSpPr>
            <p:cNvPr name="Freeform 60" id="60"/>
            <p:cNvSpPr/>
            <p:nvPr/>
          </p:nvSpPr>
          <p:spPr>
            <a:xfrm flipH="false" flipV="false" rot="0">
              <a:off x="0" y="0"/>
              <a:ext cx="1592300" cy="512464"/>
            </a:xfrm>
            <a:custGeom>
              <a:avLst/>
              <a:gdLst/>
              <a:ahLst/>
              <a:cxnLst/>
              <a:rect r="r" b="b" t="t" l="l"/>
              <a:pathLst>
                <a:path h="512464" w="1592300">
                  <a:moveTo>
                    <a:pt x="0" y="0"/>
                  </a:moveTo>
                  <a:lnTo>
                    <a:pt x="1592300" y="0"/>
                  </a:lnTo>
                  <a:lnTo>
                    <a:pt x="1592300" y="512464"/>
                  </a:lnTo>
                  <a:lnTo>
                    <a:pt x="0" y="512464"/>
                  </a:lnTo>
                  <a:close/>
                </a:path>
              </a:pathLst>
            </a:custGeom>
            <a:blipFill>
              <a:blip r:embed="rId3">
                <a:alphaModFix amt="0"/>
              </a:blip>
              <a:stretch>
                <a:fillRect l="0" t="-10542" r="0" b="-10543"/>
              </a:stretch>
            </a:blipFill>
          </p:spPr>
        </p:sp>
        <p:sp>
          <p:nvSpPr>
            <p:cNvPr name="TextBox 61" id="61"/>
            <p:cNvSpPr txBox="true"/>
            <p:nvPr/>
          </p:nvSpPr>
          <p:spPr>
            <a:xfrm>
              <a:off x="0" y="0"/>
              <a:ext cx="1592301" cy="512470"/>
            </a:xfrm>
            <a:prstGeom prst="rect">
              <a:avLst/>
            </a:prstGeom>
          </p:spPr>
          <p:txBody>
            <a:bodyPr anchor="ctr" rtlCol="false" tIns="0" lIns="0" bIns="0" rIns="0"/>
            <a:lstStyle/>
            <a:p>
              <a:pPr algn="ctr">
                <a:lnSpc>
                  <a:spcPts val="1369"/>
                </a:lnSpc>
              </a:pPr>
              <a:r>
                <a:rPr lang="en-US" sz="1140" b="true">
                  <a:solidFill>
                    <a:srgbClr val="054C6E"/>
                  </a:solidFill>
                  <a:latin typeface="Aptos Bold"/>
                  <a:ea typeface="Aptos Bold"/>
                  <a:cs typeface="Aptos Bold"/>
                  <a:sym typeface="Aptos Bold"/>
                </a:rPr>
                <a:t>ESA</a:t>
              </a:r>
            </a:p>
          </p:txBody>
        </p:sp>
      </p:grpSp>
      <p:grpSp>
        <p:nvGrpSpPr>
          <p:cNvPr name="Group 62" id="62"/>
          <p:cNvGrpSpPr/>
          <p:nvPr/>
        </p:nvGrpSpPr>
        <p:grpSpPr>
          <a:xfrm rot="0">
            <a:off x="13982226" y="6715882"/>
            <a:ext cx="2353950" cy="482270"/>
            <a:chOff x="0" y="0"/>
            <a:chExt cx="3751974" cy="768693"/>
          </a:xfrm>
        </p:grpSpPr>
        <p:sp>
          <p:nvSpPr>
            <p:cNvPr name="Freeform 63" id="63"/>
            <p:cNvSpPr/>
            <p:nvPr/>
          </p:nvSpPr>
          <p:spPr>
            <a:xfrm flipH="false" flipV="false" rot="0">
              <a:off x="0" y="0"/>
              <a:ext cx="3751969" cy="768697"/>
            </a:xfrm>
            <a:custGeom>
              <a:avLst/>
              <a:gdLst/>
              <a:ahLst/>
              <a:cxnLst/>
              <a:rect r="r" b="b" t="t" l="l"/>
              <a:pathLst>
                <a:path h="768697" w="3751969">
                  <a:moveTo>
                    <a:pt x="0" y="0"/>
                  </a:moveTo>
                  <a:lnTo>
                    <a:pt x="3751969" y="0"/>
                  </a:lnTo>
                  <a:lnTo>
                    <a:pt x="3751969" y="768697"/>
                  </a:lnTo>
                  <a:lnTo>
                    <a:pt x="0" y="768697"/>
                  </a:lnTo>
                  <a:close/>
                </a:path>
              </a:pathLst>
            </a:custGeom>
            <a:blipFill>
              <a:blip r:embed="rId3">
                <a:alphaModFix amt="0"/>
              </a:blip>
              <a:stretch>
                <a:fillRect l="0" t="-45105" r="0" b="-45105"/>
              </a:stretch>
            </a:blipFill>
          </p:spPr>
        </p:sp>
        <p:sp>
          <p:nvSpPr>
            <p:cNvPr name="TextBox 64" id="64"/>
            <p:cNvSpPr txBox="true"/>
            <p:nvPr/>
          </p:nvSpPr>
          <p:spPr>
            <a:xfrm>
              <a:off x="0" y="0"/>
              <a:ext cx="3751974" cy="768693"/>
            </a:xfrm>
            <a:prstGeom prst="rect">
              <a:avLst/>
            </a:prstGeom>
          </p:spPr>
          <p:txBody>
            <a:bodyPr anchor="ctr" rtlCol="false" tIns="0" lIns="0" bIns="0" rIns="0"/>
            <a:lstStyle/>
            <a:p>
              <a:pPr algn="l">
                <a:lnSpc>
                  <a:spcPts val="1495"/>
                </a:lnSpc>
              </a:pPr>
              <a:r>
                <a:rPr lang="en-US" sz="1245" b="true">
                  <a:solidFill>
                    <a:srgbClr val="191919"/>
                  </a:solidFill>
                  <a:latin typeface="Aptos Bold"/>
                  <a:ea typeface="Aptos Bold"/>
                  <a:cs typeface="Aptos Bold"/>
                  <a:sym typeface="Aptos Bold"/>
                </a:rPr>
                <a:t>WorldCover land cover</a:t>
              </a:r>
            </a:p>
          </p:txBody>
        </p:sp>
      </p:grpSp>
      <p:grpSp>
        <p:nvGrpSpPr>
          <p:cNvPr name="Group 65" id="65"/>
          <p:cNvGrpSpPr/>
          <p:nvPr/>
        </p:nvGrpSpPr>
        <p:grpSpPr>
          <a:xfrm rot="0">
            <a:off x="12711154" y="7316490"/>
            <a:ext cx="1106806" cy="567120"/>
            <a:chOff x="0" y="0"/>
            <a:chExt cx="1764144" cy="903935"/>
          </a:xfrm>
        </p:grpSpPr>
        <p:sp>
          <p:nvSpPr>
            <p:cNvPr name="Freeform 66" id="66"/>
            <p:cNvSpPr/>
            <p:nvPr/>
          </p:nvSpPr>
          <p:spPr>
            <a:xfrm flipH="false" flipV="false" rot="0">
              <a:off x="0" y="0"/>
              <a:ext cx="1764157" cy="903859"/>
            </a:xfrm>
            <a:custGeom>
              <a:avLst/>
              <a:gdLst/>
              <a:ahLst/>
              <a:cxnLst/>
              <a:rect r="r" b="b" t="t" l="l"/>
              <a:pathLst>
                <a:path h="903859" w="1764157">
                  <a:moveTo>
                    <a:pt x="0" y="150622"/>
                  </a:moveTo>
                  <a:cubicBezTo>
                    <a:pt x="0" y="67437"/>
                    <a:pt x="67437" y="0"/>
                    <a:pt x="150622" y="0"/>
                  </a:cubicBezTo>
                  <a:lnTo>
                    <a:pt x="1613535" y="0"/>
                  </a:lnTo>
                  <a:cubicBezTo>
                    <a:pt x="1696720" y="0"/>
                    <a:pt x="1764157" y="67437"/>
                    <a:pt x="1764157" y="150622"/>
                  </a:cubicBezTo>
                  <a:lnTo>
                    <a:pt x="1764157" y="753237"/>
                  </a:lnTo>
                  <a:cubicBezTo>
                    <a:pt x="1764157" y="836422"/>
                    <a:pt x="1696720" y="903859"/>
                    <a:pt x="1613535" y="903859"/>
                  </a:cubicBezTo>
                  <a:lnTo>
                    <a:pt x="150622" y="903859"/>
                  </a:lnTo>
                  <a:cubicBezTo>
                    <a:pt x="67437" y="903986"/>
                    <a:pt x="0" y="836422"/>
                    <a:pt x="0" y="753237"/>
                  </a:cubicBezTo>
                  <a:close/>
                </a:path>
              </a:pathLst>
            </a:custGeom>
            <a:solidFill>
              <a:srgbClr val="E2EAF5"/>
            </a:solidFill>
            <a:ln w="19065" cap="sq">
              <a:solidFill>
                <a:srgbClr val="054C6E"/>
              </a:solidFill>
              <a:prstDash val="solid"/>
              <a:miter/>
            </a:ln>
          </p:spPr>
        </p:sp>
      </p:grpSp>
      <p:grpSp>
        <p:nvGrpSpPr>
          <p:cNvPr name="Group 67" id="67"/>
          <p:cNvGrpSpPr/>
          <p:nvPr/>
        </p:nvGrpSpPr>
        <p:grpSpPr>
          <a:xfrm rot="0">
            <a:off x="12765065" y="7404846"/>
            <a:ext cx="998993" cy="321519"/>
            <a:chOff x="0" y="0"/>
            <a:chExt cx="1592301" cy="512470"/>
          </a:xfrm>
        </p:grpSpPr>
        <p:sp>
          <p:nvSpPr>
            <p:cNvPr name="Freeform 68" id="68"/>
            <p:cNvSpPr/>
            <p:nvPr/>
          </p:nvSpPr>
          <p:spPr>
            <a:xfrm flipH="false" flipV="false" rot="0">
              <a:off x="0" y="0"/>
              <a:ext cx="1592300" cy="512464"/>
            </a:xfrm>
            <a:custGeom>
              <a:avLst/>
              <a:gdLst/>
              <a:ahLst/>
              <a:cxnLst/>
              <a:rect r="r" b="b" t="t" l="l"/>
              <a:pathLst>
                <a:path h="512464" w="1592300">
                  <a:moveTo>
                    <a:pt x="0" y="0"/>
                  </a:moveTo>
                  <a:lnTo>
                    <a:pt x="1592300" y="0"/>
                  </a:lnTo>
                  <a:lnTo>
                    <a:pt x="1592300" y="512464"/>
                  </a:lnTo>
                  <a:lnTo>
                    <a:pt x="0" y="512464"/>
                  </a:lnTo>
                  <a:close/>
                </a:path>
              </a:pathLst>
            </a:custGeom>
            <a:blipFill>
              <a:blip r:embed="rId3">
                <a:alphaModFix amt="0"/>
              </a:blip>
              <a:stretch>
                <a:fillRect l="0" t="-10542" r="0" b="-10543"/>
              </a:stretch>
            </a:blipFill>
          </p:spPr>
        </p:sp>
        <p:sp>
          <p:nvSpPr>
            <p:cNvPr name="TextBox 69" id="69"/>
            <p:cNvSpPr txBox="true"/>
            <p:nvPr/>
          </p:nvSpPr>
          <p:spPr>
            <a:xfrm>
              <a:off x="0" y="0"/>
              <a:ext cx="1592301" cy="512470"/>
            </a:xfrm>
            <a:prstGeom prst="rect">
              <a:avLst/>
            </a:prstGeom>
          </p:spPr>
          <p:txBody>
            <a:bodyPr anchor="ctr" rtlCol="false" tIns="0" lIns="0" bIns="0" rIns="0"/>
            <a:lstStyle/>
            <a:p>
              <a:pPr algn="ctr">
                <a:lnSpc>
                  <a:spcPts val="1369"/>
                </a:lnSpc>
              </a:pPr>
              <a:r>
                <a:rPr lang="en-US" sz="1140" b="true">
                  <a:solidFill>
                    <a:srgbClr val="054C6E"/>
                  </a:solidFill>
                  <a:latin typeface="Aptos Bold"/>
                  <a:ea typeface="Aptos Bold"/>
                  <a:cs typeface="Aptos Bold"/>
                  <a:sym typeface="Aptos Bold"/>
                </a:rPr>
                <a:t>COPERNICUS</a:t>
              </a:r>
            </a:p>
          </p:txBody>
        </p:sp>
      </p:grpSp>
      <p:grpSp>
        <p:nvGrpSpPr>
          <p:cNvPr name="Group 70" id="70"/>
          <p:cNvGrpSpPr/>
          <p:nvPr/>
        </p:nvGrpSpPr>
        <p:grpSpPr>
          <a:xfrm rot="0">
            <a:off x="13982226" y="7347429"/>
            <a:ext cx="2353950" cy="482270"/>
            <a:chOff x="0" y="0"/>
            <a:chExt cx="3751974" cy="768693"/>
          </a:xfrm>
        </p:grpSpPr>
        <p:sp>
          <p:nvSpPr>
            <p:cNvPr name="Freeform 71" id="71"/>
            <p:cNvSpPr/>
            <p:nvPr/>
          </p:nvSpPr>
          <p:spPr>
            <a:xfrm flipH="false" flipV="false" rot="0">
              <a:off x="0" y="0"/>
              <a:ext cx="3751969" cy="768697"/>
            </a:xfrm>
            <a:custGeom>
              <a:avLst/>
              <a:gdLst/>
              <a:ahLst/>
              <a:cxnLst/>
              <a:rect r="r" b="b" t="t" l="l"/>
              <a:pathLst>
                <a:path h="768697" w="3751969">
                  <a:moveTo>
                    <a:pt x="0" y="0"/>
                  </a:moveTo>
                  <a:lnTo>
                    <a:pt x="3751969" y="0"/>
                  </a:lnTo>
                  <a:lnTo>
                    <a:pt x="3751969" y="768697"/>
                  </a:lnTo>
                  <a:lnTo>
                    <a:pt x="0" y="768697"/>
                  </a:lnTo>
                  <a:close/>
                </a:path>
              </a:pathLst>
            </a:custGeom>
            <a:blipFill>
              <a:blip r:embed="rId3">
                <a:alphaModFix amt="0"/>
              </a:blip>
              <a:stretch>
                <a:fillRect l="0" t="-45105" r="0" b="-45105"/>
              </a:stretch>
            </a:blipFill>
          </p:spPr>
        </p:sp>
        <p:sp>
          <p:nvSpPr>
            <p:cNvPr name="TextBox 72" id="72"/>
            <p:cNvSpPr txBox="true"/>
            <p:nvPr/>
          </p:nvSpPr>
          <p:spPr>
            <a:xfrm>
              <a:off x="0" y="0"/>
              <a:ext cx="3751974" cy="768693"/>
            </a:xfrm>
            <a:prstGeom prst="rect">
              <a:avLst/>
            </a:prstGeom>
          </p:spPr>
          <p:txBody>
            <a:bodyPr anchor="ctr" rtlCol="false" tIns="0" lIns="0" bIns="0" rIns="0"/>
            <a:lstStyle/>
            <a:p>
              <a:pPr algn="l">
                <a:lnSpc>
                  <a:spcPts val="1495"/>
                </a:lnSpc>
              </a:pPr>
              <a:r>
                <a:rPr lang="en-US" sz="1245" b="true">
                  <a:solidFill>
                    <a:srgbClr val="191919"/>
                  </a:solidFill>
                  <a:latin typeface="Aptos Bold"/>
                  <a:ea typeface="Aptos Bold"/>
                  <a:cs typeface="Aptos Bold"/>
                  <a:sym typeface="Aptos Bold"/>
                </a:rPr>
                <a:t>Sentinel-2 imagery</a:t>
              </a:r>
            </a:p>
          </p:txBody>
        </p:sp>
      </p:grpSp>
      <p:grpSp>
        <p:nvGrpSpPr>
          <p:cNvPr name="Group 73" id="73"/>
          <p:cNvGrpSpPr/>
          <p:nvPr/>
        </p:nvGrpSpPr>
        <p:grpSpPr>
          <a:xfrm rot="0">
            <a:off x="12711154" y="7948038"/>
            <a:ext cx="1106806" cy="567120"/>
            <a:chOff x="0" y="0"/>
            <a:chExt cx="1764144" cy="903935"/>
          </a:xfrm>
        </p:grpSpPr>
        <p:sp>
          <p:nvSpPr>
            <p:cNvPr name="Freeform 74" id="74"/>
            <p:cNvSpPr/>
            <p:nvPr/>
          </p:nvSpPr>
          <p:spPr>
            <a:xfrm flipH="false" flipV="false" rot="0">
              <a:off x="0" y="0"/>
              <a:ext cx="1764157" cy="903859"/>
            </a:xfrm>
            <a:custGeom>
              <a:avLst/>
              <a:gdLst/>
              <a:ahLst/>
              <a:cxnLst/>
              <a:rect r="r" b="b" t="t" l="l"/>
              <a:pathLst>
                <a:path h="903859" w="1764157">
                  <a:moveTo>
                    <a:pt x="0" y="150622"/>
                  </a:moveTo>
                  <a:cubicBezTo>
                    <a:pt x="0" y="67437"/>
                    <a:pt x="67437" y="0"/>
                    <a:pt x="150622" y="0"/>
                  </a:cubicBezTo>
                  <a:lnTo>
                    <a:pt x="1613535" y="0"/>
                  </a:lnTo>
                  <a:cubicBezTo>
                    <a:pt x="1696720" y="0"/>
                    <a:pt x="1764157" y="67437"/>
                    <a:pt x="1764157" y="150622"/>
                  </a:cubicBezTo>
                  <a:lnTo>
                    <a:pt x="1764157" y="753237"/>
                  </a:lnTo>
                  <a:cubicBezTo>
                    <a:pt x="1764157" y="836422"/>
                    <a:pt x="1696720" y="903859"/>
                    <a:pt x="1613535" y="903859"/>
                  </a:cubicBezTo>
                  <a:lnTo>
                    <a:pt x="150622" y="903859"/>
                  </a:lnTo>
                  <a:cubicBezTo>
                    <a:pt x="67437" y="903986"/>
                    <a:pt x="0" y="836422"/>
                    <a:pt x="0" y="753237"/>
                  </a:cubicBezTo>
                  <a:close/>
                </a:path>
              </a:pathLst>
            </a:custGeom>
            <a:solidFill>
              <a:srgbClr val="E2EAF5"/>
            </a:solidFill>
            <a:ln w="19065" cap="sq">
              <a:solidFill>
                <a:srgbClr val="054C6E"/>
              </a:solidFill>
              <a:prstDash val="solid"/>
              <a:miter/>
            </a:ln>
          </p:spPr>
        </p:sp>
      </p:grpSp>
      <p:grpSp>
        <p:nvGrpSpPr>
          <p:cNvPr name="Group 75" id="75"/>
          <p:cNvGrpSpPr/>
          <p:nvPr/>
        </p:nvGrpSpPr>
        <p:grpSpPr>
          <a:xfrm rot="0">
            <a:off x="12765065" y="8036393"/>
            <a:ext cx="998993" cy="321519"/>
            <a:chOff x="0" y="0"/>
            <a:chExt cx="1592301" cy="512470"/>
          </a:xfrm>
        </p:grpSpPr>
        <p:sp>
          <p:nvSpPr>
            <p:cNvPr name="Freeform 76" id="76"/>
            <p:cNvSpPr/>
            <p:nvPr/>
          </p:nvSpPr>
          <p:spPr>
            <a:xfrm flipH="false" flipV="false" rot="0">
              <a:off x="0" y="0"/>
              <a:ext cx="1592300" cy="512464"/>
            </a:xfrm>
            <a:custGeom>
              <a:avLst/>
              <a:gdLst/>
              <a:ahLst/>
              <a:cxnLst/>
              <a:rect r="r" b="b" t="t" l="l"/>
              <a:pathLst>
                <a:path h="512464" w="1592300">
                  <a:moveTo>
                    <a:pt x="0" y="0"/>
                  </a:moveTo>
                  <a:lnTo>
                    <a:pt x="1592300" y="0"/>
                  </a:lnTo>
                  <a:lnTo>
                    <a:pt x="1592300" y="512464"/>
                  </a:lnTo>
                  <a:lnTo>
                    <a:pt x="0" y="512464"/>
                  </a:lnTo>
                  <a:close/>
                </a:path>
              </a:pathLst>
            </a:custGeom>
            <a:blipFill>
              <a:blip r:embed="rId3">
                <a:alphaModFix amt="0"/>
              </a:blip>
              <a:stretch>
                <a:fillRect l="0" t="-10542" r="0" b="-10543"/>
              </a:stretch>
            </a:blipFill>
          </p:spPr>
        </p:sp>
        <p:sp>
          <p:nvSpPr>
            <p:cNvPr name="TextBox 77" id="77"/>
            <p:cNvSpPr txBox="true"/>
            <p:nvPr/>
          </p:nvSpPr>
          <p:spPr>
            <a:xfrm>
              <a:off x="0" y="0"/>
              <a:ext cx="1592301" cy="512470"/>
            </a:xfrm>
            <a:prstGeom prst="rect">
              <a:avLst/>
            </a:prstGeom>
          </p:spPr>
          <p:txBody>
            <a:bodyPr anchor="ctr" rtlCol="false" tIns="0" lIns="0" bIns="0" rIns="0"/>
            <a:lstStyle/>
            <a:p>
              <a:pPr algn="ctr">
                <a:lnSpc>
                  <a:spcPts val="1369"/>
                </a:lnSpc>
              </a:pPr>
              <a:r>
                <a:rPr lang="en-US" sz="1140" b="true">
                  <a:solidFill>
                    <a:srgbClr val="054C6E"/>
                  </a:solidFill>
                  <a:latin typeface="Aptos Bold"/>
                  <a:ea typeface="Aptos Bold"/>
                  <a:cs typeface="Aptos Bold"/>
                  <a:sym typeface="Aptos Bold"/>
                </a:rPr>
                <a:t>OSM</a:t>
              </a:r>
            </a:p>
          </p:txBody>
        </p:sp>
      </p:grpSp>
      <p:grpSp>
        <p:nvGrpSpPr>
          <p:cNvPr name="Group 78" id="78"/>
          <p:cNvGrpSpPr/>
          <p:nvPr/>
        </p:nvGrpSpPr>
        <p:grpSpPr>
          <a:xfrm rot="0">
            <a:off x="13982226" y="7978977"/>
            <a:ext cx="2353950" cy="482270"/>
            <a:chOff x="0" y="0"/>
            <a:chExt cx="3751974" cy="768693"/>
          </a:xfrm>
        </p:grpSpPr>
        <p:sp>
          <p:nvSpPr>
            <p:cNvPr name="Freeform 79" id="79"/>
            <p:cNvSpPr/>
            <p:nvPr/>
          </p:nvSpPr>
          <p:spPr>
            <a:xfrm flipH="false" flipV="false" rot="0">
              <a:off x="0" y="0"/>
              <a:ext cx="3751969" cy="768697"/>
            </a:xfrm>
            <a:custGeom>
              <a:avLst/>
              <a:gdLst/>
              <a:ahLst/>
              <a:cxnLst/>
              <a:rect r="r" b="b" t="t" l="l"/>
              <a:pathLst>
                <a:path h="768697" w="3751969">
                  <a:moveTo>
                    <a:pt x="0" y="0"/>
                  </a:moveTo>
                  <a:lnTo>
                    <a:pt x="3751969" y="0"/>
                  </a:lnTo>
                  <a:lnTo>
                    <a:pt x="3751969" y="768697"/>
                  </a:lnTo>
                  <a:lnTo>
                    <a:pt x="0" y="768697"/>
                  </a:lnTo>
                  <a:close/>
                </a:path>
              </a:pathLst>
            </a:custGeom>
            <a:blipFill>
              <a:blip r:embed="rId3">
                <a:alphaModFix amt="0"/>
              </a:blip>
              <a:stretch>
                <a:fillRect l="0" t="-45105" r="0" b="-45105"/>
              </a:stretch>
            </a:blipFill>
          </p:spPr>
        </p:sp>
        <p:sp>
          <p:nvSpPr>
            <p:cNvPr name="TextBox 80" id="80"/>
            <p:cNvSpPr txBox="true"/>
            <p:nvPr/>
          </p:nvSpPr>
          <p:spPr>
            <a:xfrm>
              <a:off x="0" y="0"/>
              <a:ext cx="3751974" cy="768693"/>
            </a:xfrm>
            <a:prstGeom prst="rect">
              <a:avLst/>
            </a:prstGeom>
          </p:spPr>
          <p:txBody>
            <a:bodyPr anchor="ctr" rtlCol="false" tIns="0" lIns="0" bIns="0" rIns="0"/>
            <a:lstStyle/>
            <a:p>
              <a:pPr algn="l">
                <a:lnSpc>
                  <a:spcPts val="1495"/>
                </a:lnSpc>
              </a:pPr>
              <a:r>
                <a:rPr lang="en-US" sz="1245" b="true">
                  <a:solidFill>
                    <a:srgbClr val="191919"/>
                  </a:solidFill>
                  <a:latin typeface="Aptos Bold"/>
                  <a:ea typeface="Aptos Bold"/>
                  <a:cs typeface="Aptos Bold"/>
                  <a:sym typeface="Aptos Bold"/>
                </a:rPr>
                <a:t>Industrial / infrastructure context</a:t>
              </a:r>
            </a:p>
          </p:txBody>
        </p:sp>
      </p:grpSp>
      <p:grpSp>
        <p:nvGrpSpPr>
          <p:cNvPr name="Group 81" id="81"/>
          <p:cNvGrpSpPr/>
          <p:nvPr/>
        </p:nvGrpSpPr>
        <p:grpSpPr>
          <a:xfrm rot="0">
            <a:off x="12711154" y="8579585"/>
            <a:ext cx="1106806" cy="567120"/>
            <a:chOff x="0" y="0"/>
            <a:chExt cx="1764144" cy="903935"/>
          </a:xfrm>
        </p:grpSpPr>
        <p:sp>
          <p:nvSpPr>
            <p:cNvPr name="Freeform 82" id="82"/>
            <p:cNvSpPr/>
            <p:nvPr/>
          </p:nvSpPr>
          <p:spPr>
            <a:xfrm flipH="false" flipV="false" rot="0">
              <a:off x="0" y="0"/>
              <a:ext cx="1764157" cy="903859"/>
            </a:xfrm>
            <a:custGeom>
              <a:avLst/>
              <a:gdLst/>
              <a:ahLst/>
              <a:cxnLst/>
              <a:rect r="r" b="b" t="t" l="l"/>
              <a:pathLst>
                <a:path h="903859" w="1764157">
                  <a:moveTo>
                    <a:pt x="0" y="150622"/>
                  </a:moveTo>
                  <a:cubicBezTo>
                    <a:pt x="0" y="67437"/>
                    <a:pt x="67437" y="0"/>
                    <a:pt x="150622" y="0"/>
                  </a:cubicBezTo>
                  <a:lnTo>
                    <a:pt x="1613535" y="0"/>
                  </a:lnTo>
                  <a:cubicBezTo>
                    <a:pt x="1696720" y="0"/>
                    <a:pt x="1764157" y="67437"/>
                    <a:pt x="1764157" y="150622"/>
                  </a:cubicBezTo>
                  <a:lnTo>
                    <a:pt x="1764157" y="753237"/>
                  </a:lnTo>
                  <a:cubicBezTo>
                    <a:pt x="1764157" y="836422"/>
                    <a:pt x="1696720" y="903859"/>
                    <a:pt x="1613535" y="903859"/>
                  </a:cubicBezTo>
                  <a:lnTo>
                    <a:pt x="150622" y="903859"/>
                  </a:lnTo>
                  <a:cubicBezTo>
                    <a:pt x="67437" y="903986"/>
                    <a:pt x="0" y="836422"/>
                    <a:pt x="0" y="753237"/>
                  </a:cubicBezTo>
                  <a:close/>
                </a:path>
              </a:pathLst>
            </a:custGeom>
            <a:solidFill>
              <a:srgbClr val="E2EAF5"/>
            </a:solidFill>
            <a:ln w="19065" cap="sq">
              <a:solidFill>
                <a:srgbClr val="054C6E"/>
              </a:solidFill>
              <a:prstDash val="solid"/>
              <a:miter/>
            </a:ln>
          </p:spPr>
        </p:sp>
      </p:grpSp>
      <p:grpSp>
        <p:nvGrpSpPr>
          <p:cNvPr name="Group 83" id="83"/>
          <p:cNvGrpSpPr/>
          <p:nvPr/>
        </p:nvGrpSpPr>
        <p:grpSpPr>
          <a:xfrm rot="0">
            <a:off x="12765065" y="8667941"/>
            <a:ext cx="998993" cy="321519"/>
            <a:chOff x="0" y="0"/>
            <a:chExt cx="1592301" cy="512470"/>
          </a:xfrm>
        </p:grpSpPr>
        <p:sp>
          <p:nvSpPr>
            <p:cNvPr name="Freeform 84" id="84"/>
            <p:cNvSpPr/>
            <p:nvPr/>
          </p:nvSpPr>
          <p:spPr>
            <a:xfrm flipH="false" flipV="false" rot="0">
              <a:off x="0" y="0"/>
              <a:ext cx="1592300" cy="512464"/>
            </a:xfrm>
            <a:custGeom>
              <a:avLst/>
              <a:gdLst/>
              <a:ahLst/>
              <a:cxnLst/>
              <a:rect r="r" b="b" t="t" l="l"/>
              <a:pathLst>
                <a:path h="512464" w="1592300">
                  <a:moveTo>
                    <a:pt x="0" y="0"/>
                  </a:moveTo>
                  <a:lnTo>
                    <a:pt x="1592300" y="0"/>
                  </a:lnTo>
                  <a:lnTo>
                    <a:pt x="1592300" y="512464"/>
                  </a:lnTo>
                  <a:lnTo>
                    <a:pt x="0" y="512464"/>
                  </a:lnTo>
                  <a:close/>
                </a:path>
              </a:pathLst>
            </a:custGeom>
            <a:blipFill>
              <a:blip r:embed="rId3">
                <a:alphaModFix amt="0"/>
              </a:blip>
              <a:stretch>
                <a:fillRect l="0" t="-10542" r="0" b="-10543"/>
              </a:stretch>
            </a:blipFill>
          </p:spPr>
        </p:sp>
        <p:sp>
          <p:nvSpPr>
            <p:cNvPr name="TextBox 85" id="85"/>
            <p:cNvSpPr txBox="true"/>
            <p:nvPr/>
          </p:nvSpPr>
          <p:spPr>
            <a:xfrm>
              <a:off x="0" y="0"/>
              <a:ext cx="1592301" cy="512470"/>
            </a:xfrm>
            <a:prstGeom prst="rect">
              <a:avLst/>
            </a:prstGeom>
          </p:spPr>
          <p:txBody>
            <a:bodyPr anchor="ctr" rtlCol="false" tIns="0" lIns="0" bIns="0" rIns="0"/>
            <a:lstStyle/>
            <a:p>
              <a:pPr algn="ctr">
                <a:lnSpc>
                  <a:spcPts val="1369"/>
                </a:lnSpc>
              </a:pPr>
              <a:r>
                <a:rPr lang="en-US" sz="1140" b="true">
                  <a:solidFill>
                    <a:srgbClr val="054C6E"/>
                  </a:solidFill>
                  <a:latin typeface="Aptos Bold"/>
                  <a:ea typeface="Aptos Bold"/>
                  <a:cs typeface="Aptos Bold"/>
                  <a:sym typeface="Aptos Bold"/>
                </a:rPr>
                <a:t>FSI</a:t>
              </a:r>
            </a:p>
          </p:txBody>
        </p:sp>
      </p:grpSp>
      <p:grpSp>
        <p:nvGrpSpPr>
          <p:cNvPr name="Group 86" id="86"/>
          <p:cNvGrpSpPr/>
          <p:nvPr/>
        </p:nvGrpSpPr>
        <p:grpSpPr>
          <a:xfrm rot="0">
            <a:off x="13982226" y="8610525"/>
            <a:ext cx="2353950" cy="482270"/>
            <a:chOff x="0" y="0"/>
            <a:chExt cx="3751974" cy="768693"/>
          </a:xfrm>
        </p:grpSpPr>
        <p:sp>
          <p:nvSpPr>
            <p:cNvPr name="Freeform 87" id="87"/>
            <p:cNvSpPr/>
            <p:nvPr/>
          </p:nvSpPr>
          <p:spPr>
            <a:xfrm flipH="false" flipV="false" rot="0">
              <a:off x="0" y="0"/>
              <a:ext cx="3751969" cy="768697"/>
            </a:xfrm>
            <a:custGeom>
              <a:avLst/>
              <a:gdLst/>
              <a:ahLst/>
              <a:cxnLst/>
              <a:rect r="r" b="b" t="t" l="l"/>
              <a:pathLst>
                <a:path h="768697" w="3751969">
                  <a:moveTo>
                    <a:pt x="0" y="0"/>
                  </a:moveTo>
                  <a:lnTo>
                    <a:pt x="3751969" y="0"/>
                  </a:lnTo>
                  <a:lnTo>
                    <a:pt x="3751969" y="768697"/>
                  </a:lnTo>
                  <a:lnTo>
                    <a:pt x="0" y="768697"/>
                  </a:lnTo>
                  <a:close/>
                </a:path>
              </a:pathLst>
            </a:custGeom>
            <a:blipFill>
              <a:blip r:embed="rId3">
                <a:alphaModFix amt="0"/>
              </a:blip>
              <a:stretch>
                <a:fillRect l="0" t="-45105" r="0" b="-45105"/>
              </a:stretch>
            </a:blipFill>
          </p:spPr>
        </p:sp>
        <p:sp>
          <p:nvSpPr>
            <p:cNvPr name="TextBox 88" id="88"/>
            <p:cNvSpPr txBox="true"/>
            <p:nvPr/>
          </p:nvSpPr>
          <p:spPr>
            <a:xfrm>
              <a:off x="0" y="0"/>
              <a:ext cx="3751974" cy="768693"/>
            </a:xfrm>
            <a:prstGeom prst="rect">
              <a:avLst/>
            </a:prstGeom>
          </p:spPr>
          <p:txBody>
            <a:bodyPr anchor="ctr" rtlCol="false" tIns="0" lIns="0" bIns="0" rIns="0"/>
            <a:lstStyle/>
            <a:p>
              <a:pPr algn="l">
                <a:lnSpc>
                  <a:spcPts val="1495"/>
                </a:lnSpc>
              </a:pPr>
              <a:r>
                <a:rPr lang="en-US" sz="1245" b="true">
                  <a:solidFill>
                    <a:srgbClr val="191919"/>
                  </a:solidFill>
                  <a:latin typeface="Aptos Bold"/>
                  <a:ea typeface="Aptos Bold"/>
                  <a:cs typeface="Aptos Bold"/>
                  <a:sym typeface="Aptos Bold"/>
                </a:rPr>
                <a:t>Forest-fire validation</a:t>
              </a:r>
            </a:p>
          </p:txBody>
        </p:sp>
      </p:grpSp>
      <p:grpSp>
        <p:nvGrpSpPr>
          <p:cNvPr name="Group 89" id="89"/>
          <p:cNvGrpSpPr/>
          <p:nvPr/>
        </p:nvGrpSpPr>
        <p:grpSpPr>
          <a:xfrm rot="0">
            <a:off x="1489076" y="10206620"/>
            <a:ext cx="15309849" cy="80380"/>
            <a:chOff x="0" y="0"/>
            <a:chExt cx="24402453" cy="128118"/>
          </a:xfrm>
        </p:grpSpPr>
        <p:sp>
          <p:nvSpPr>
            <p:cNvPr name="Freeform 90" id="90"/>
            <p:cNvSpPr/>
            <p:nvPr/>
          </p:nvSpPr>
          <p:spPr>
            <a:xfrm flipH="false" flipV="false" rot="0">
              <a:off x="0" y="0"/>
              <a:ext cx="24402414" cy="128143"/>
            </a:xfrm>
            <a:custGeom>
              <a:avLst/>
              <a:gdLst/>
              <a:ahLst/>
              <a:cxnLst/>
              <a:rect r="r" b="b" t="t" l="l"/>
              <a:pathLst>
                <a:path h="128143" w="24402414">
                  <a:moveTo>
                    <a:pt x="0" y="0"/>
                  </a:moveTo>
                  <a:lnTo>
                    <a:pt x="24402414" y="0"/>
                  </a:lnTo>
                  <a:lnTo>
                    <a:pt x="24402414" y="128143"/>
                  </a:lnTo>
                  <a:lnTo>
                    <a:pt x="0" y="128143"/>
                  </a:lnTo>
                  <a:close/>
                </a:path>
              </a:pathLst>
            </a:custGeom>
            <a:solidFill>
              <a:srgbClr val="054C6E"/>
            </a:solidFill>
          </p:spPr>
        </p:sp>
      </p:grpSp>
      <p:grpSp>
        <p:nvGrpSpPr>
          <p:cNvPr name="Group 91" id="91"/>
          <p:cNvGrpSpPr/>
          <p:nvPr/>
        </p:nvGrpSpPr>
        <p:grpSpPr>
          <a:xfrm rot="0">
            <a:off x="1028700" y="1864752"/>
            <a:ext cx="11206240" cy="685131"/>
            <a:chOff x="0" y="0"/>
            <a:chExt cx="17861688" cy="1092035"/>
          </a:xfrm>
        </p:grpSpPr>
        <p:sp>
          <p:nvSpPr>
            <p:cNvPr name="Freeform 92" id="92"/>
            <p:cNvSpPr/>
            <p:nvPr/>
          </p:nvSpPr>
          <p:spPr>
            <a:xfrm flipH="false" flipV="false" rot="0">
              <a:off x="0" y="0"/>
              <a:ext cx="17861739" cy="1092073"/>
            </a:xfrm>
            <a:custGeom>
              <a:avLst/>
              <a:gdLst/>
              <a:ahLst/>
              <a:cxnLst/>
              <a:rect r="r" b="b" t="t" l="l"/>
              <a:pathLst>
                <a:path h="1092073" w="17861739">
                  <a:moveTo>
                    <a:pt x="0" y="0"/>
                  </a:moveTo>
                  <a:lnTo>
                    <a:pt x="17861739" y="0"/>
                  </a:lnTo>
                  <a:lnTo>
                    <a:pt x="17861739" y="1092073"/>
                  </a:lnTo>
                  <a:lnTo>
                    <a:pt x="0" y="1092073"/>
                  </a:lnTo>
                  <a:close/>
                </a:path>
              </a:pathLst>
            </a:custGeom>
            <a:solidFill>
              <a:srgbClr val="F4A450"/>
            </a:solidFill>
            <a:ln w="22878" cap="sq">
              <a:solidFill>
                <a:srgbClr val="191919"/>
              </a:solidFill>
              <a:prstDash val="solid"/>
              <a:miter/>
            </a:ln>
          </p:spPr>
        </p:sp>
      </p:grpSp>
      <p:sp>
        <p:nvSpPr>
          <p:cNvPr name="TextBox 93" id="93"/>
          <p:cNvSpPr txBox="true"/>
          <p:nvPr/>
        </p:nvSpPr>
        <p:spPr>
          <a:xfrm rot="0">
            <a:off x="4522570" y="2045058"/>
            <a:ext cx="3763764" cy="323850"/>
          </a:xfrm>
          <a:prstGeom prst="rect">
            <a:avLst/>
          </a:prstGeom>
        </p:spPr>
        <p:txBody>
          <a:bodyPr anchor="t" rtlCol="false" tIns="0" lIns="0" bIns="0" rIns="0">
            <a:spAutoFit/>
          </a:bodyPr>
          <a:lstStyle/>
          <a:p>
            <a:pPr algn="ctr">
              <a:lnSpc>
                <a:spcPts val="2695"/>
              </a:lnSpc>
              <a:spcBef>
                <a:spcPct val="0"/>
              </a:spcBef>
            </a:pPr>
            <a:r>
              <a:rPr lang="en-US" b="true" sz="2245">
                <a:solidFill>
                  <a:srgbClr val="000000"/>
                </a:solidFill>
                <a:latin typeface="Aptos Bold"/>
                <a:ea typeface="Aptos Bold"/>
                <a:cs typeface="Aptos Bold"/>
                <a:sym typeface="Aptos Bold"/>
              </a:rPr>
              <a:t>RESEARCH &amp; DATA SOURCES</a:t>
            </a:r>
          </a:p>
        </p:txBody>
      </p:sp>
      <p:grpSp>
        <p:nvGrpSpPr>
          <p:cNvPr name="Group 94" id="94"/>
          <p:cNvGrpSpPr/>
          <p:nvPr/>
        </p:nvGrpSpPr>
        <p:grpSpPr>
          <a:xfrm rot="0">
            <a:off x="256860" y="174449"/>
            <a:ext cx="1915887" cy="1249101"/>
            <a:chOff x="0" y="0"/>
            <a:chExt cx="2554516" cy="1665468"/>
          </a:xfrm>
        </p:grpSpPr>
        <p:sp>
          <p:nvSpPr>
            <p:cNvPr name="Freeform 95" id="95" descr="Your startup LOGO"/>
            <p:cNvSpPr/>
            <p:nvPr/>
          </p:nvSpPr>
          <p:spPr>
            <a:xfrm flipH="false" flipV="false" rot="0">
              <a:off x="0" y="0"/>
              <a:ext cx="2554478" cy="1665481"/>
            </a:xfrm>
            <a:custGeom>
              <a:avLst/>
              <a:gdLst/>
              <a:ahLst/>
              <a:cxnLst/>
              <a:rect r="r" b="b" t="t" l="l"/>
              <a:pathLst>
                <a:path h="1665481" w="2554478">
                  <a:moveTo>
                    <a:pt x="0" y="832740"/>
                  </a:moveTo>
                  <a:cubicBezTo>
                    <a:pt x="0" y="372873"/>
                    <a:pt x="571881" y="0"/>
                    <a:pt x="1277239" y="0"/>
                  </a:cubicBezTo>
                  <a:cubicBezTo>
                    <a:pt x="1982597" y="0"/>
                    <a:pt x="2554478" y="372873"/>
                    <a:pt x="2554478" y="832740"/>
                  </a:cubicBezTo>
                  <a:cubicBezTo>
                    <a:pt x="2554478" y="1292608"/>
                    <a:pt x="1982597" y="1665481"/>
                    <a:pt x="1277239" y="1665481"/>
                  </a:cubicBezTo>
                  <a:cubicBezTo>
                    <a:pt x="571881" y="1665481"/>
                    <a:pt x="0" y="1292608"/>
                    <a:pt x="0" y="832740"/>
                  </a:cubicBezTo>
                  <a:close/>
                </a:path>
              </a:pathLst>
            </a:custGeom>
            <a:gradFill rotWithShape="true">
              <a:gsLst>
                <a:gs pos="0">
                  <a:srgbClr val="FF66C4">
                    <a:alpha val="100000"/>
                  </a:srgbClr>
                </a:gs>
                <a:gs pos="100000">
                  <a:srgbClr val="FFDE59">
                    <a:alpha val="100000"/>
                  </a:srgbClr>
                </a:gs>
              </a:gsLst>
              <a:lin ang="0"/>
            </a:gradFill>
            <a:ln w="38100" cap="sq">
              <a:solidFill>
                <a:srgbClr val="8064A2"/>
              </a:solidFill>
              <a:prstDash val="solid"/>
              <a:miter/>
            </a:ln>
          </p:spPr>
        </p:sp>
        <p:sp>
          <p:nvSpPr>
            <p:cNvPr name="TextBox 96" id="96"/>
            <p:cNvSpPr txBox="true"/>
            <p:nvPr/>
          </p:nvSpPr>
          <p:spPr>
            <a:xfrm>
              <a:off x="0" y="-57150"/>
              <a:ext cx="2554516" cy="1722618"/>
            </a:xfrm>
            <a:prstGeom prst="rect">
              <a:avLst/>
            </a:prstGeom>
          </p:spPr>
          <p:txBody>
            <a:bodyPr anchor="ctr" rtlCol="false" tIns="50800" lIns="50800" bIns="50800" rIns="50800"/>
            <a:lstStyle/>
            <a:p>
              <a:pPr algn="ctr">
                <a:lnSpc>
                  <a:spcPts val="3240"/>
                </a:lnSpc>
              </a:pPr>
              <a:r>
                <a:rPr lang="en-US" sz="2700" b="true">
                  <a:solidFill>
                    <a:srgbClr val="000000"/>
                  </a:solidFill>
                  <a:latin typeface="Calibri (MS) Bold"/>
                  <a:ea typeface="Calibri (MS) Bold"/>
                  <a:cs typeface="Calibri (MS) Bold"/>
                  <a:sym typeface="Calibri (MS) Bold"/>
                </a:rPr>
                <a:t>Deadlock</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DAHU0KIV6jU</dc:identifier>
  <dcterms:modified xsi:type="dcterms:W3CDTF">2011-08-01T06:04:30Z</dcterms:modified>
  <cp:revision>1</cp:revision>
  <dc:title>SIH2026-IDEA-Presentation-Format.pptx</dc:title>
</cp:coreProperties>
</file>